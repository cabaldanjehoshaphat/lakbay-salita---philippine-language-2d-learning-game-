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1d2ba55-e612-df50-51c8-a5e40c3d0d4c}">
          <p14:sldIdLst>
            <p14:sldId id="256"/>
          </p14:sldIdLst>
        </p14:section>
        <p14:section name="The problem" id="{4ea81a6c-f994-5f88-f216-1e6a16f20fe1}">
          <p14:sldIdLst>
            <p14:sldId id="257"/>
            <p14:sldId id="258"/>
          </p14:sldIdLst>
        </p14:section>
        <p14:section name="My idea" id="{bc885a61-d170-af0f-ffa9-5421b9b17f29}">
          <p14:sldIdLst>
            <p14:sldId id="259"/>
            <p14:sldId id="260"/>
          </p14:sldIdLst>
        </p14:section>
        <p14:section name="Ideas" id="{a7f813e9-44b4-987a-5241-f4fe667f38d4}">
          <p14:sldIdLst>
            <p14:sldId id="261"/>
            <p14:sldId id="262"/>
            <p14:sldId id="263"/>
            <p14:sldId id="264"/>
          </p14:sldIdLst>
        </p14:section>
        <p14:section name="Plan" id="{1b41b8bc-a635-d054-dcc8-ec9301502217}">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our players do not know the languages. A shooter teaches itself ('shoot the enemy'); our game cannot. This deck gives my opinion on how to make players actually learn, and a step-by-step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an FPS: the controls teach themselves. For a language game the knowledge itself is the thing to learn, so we need to teach it, not only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the game is not empty. The Library, the clues, the learned-words card and the shared word list are a good base. What is missing is the step BEFORE playing, the sound, and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works: people remember a word better when they see it, hear it, use it and meet it again later. The three loops map to that. The word list is shared by all games now (we unified it), which makes the Learn step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ratings are my judgement, not measured data. Videos and slides are fine as a bonus (for example a 1-minute pronunciation intro), but they should not carry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screen only; the sentence line is a placeholder because the sentences must be written or checked by native speakers. BAKI is the Cebuano word for frog (the word we just made consistent across all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start on Easy and move up as they learn. Word Search already has a Meaning mode in the code (switched off), so that part is partly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spacing numbers (1, 3, 7 days) are a common starting point for spaced repetition, not something measured on our players. We can tune them after testing. The 27 and 12 are example numbers for the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Sound is the biggest step for real learning, and also the one that needs other people. Computer-generated voices may not support Cebuano or Ilonggo well, so recordings from native speakers are the realistic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labels are rough estimates relative to each other. Phase 1 gives the biggest gain for the least work because the words, meanings and categories already exist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decisions. My recommendation: yes to Phase 1, optional cards, and start finding native speakers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tile B"/>
          <p:cNvSpPr/>
          <p:nvPr/>
        </p:nvSpPr>
        <p:spPr>
          <a:xfrm>
            <a:off x="7863840" y="1554480"/>
            <a:ext cx="914400" cy="914400"/>
          </a:xfrm>
          <a:prstGeom prst="roundRect">
            <a:avLst>
              <a:gd name="adj" fmla="val 12000"/>
            </a:avLst>
          </a:prstGeom>
          <a:solidFill>
            <a:schemeClr val="accent2"/>
          </a:solidFill>
          <a:ln w="12700">
            <a:solidFill>
              <a:schemeClr val="accent2"/>
            </a:solidFill>
            <a:prstDash val="solid"/>
          </a:ln>
        </p:spPr>
      </p:sp>
      <p:sp>
        <p:nvSpPr>
          <p:cNvPr id="3" name="Title tile B letter"/>
          <p:cNvSpPr txBox="1"/>
          <p:nvPr/>
        </p:nvSpPr>
        <p:spPr>
          <a:xfrm>
            <a:off x="7863840" y="15544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B</a:t>
            </a:r>
            <a:endParaRPr lang="en-US" sz="4600" dirty="0"/>
          </a:p>
        </p:txBody>
      </p:sp>
      <p:sp>
        <p:nvSpPr>
          <p:cNvPr id="4" name="Title tile A"/>
          <p:cNvSpPr/>
          <p:nvPr/>
        </p:nvSpPr>
        <p:spPr>
          <a:xfrm>
            <a:off x="8887968" y="1554480"/>
            <a:ext cx="914400" cy="914400"/>
          </a:xfrm>
          <a:prstGeom prst="roundRect">
            <a:avLst>
              <a:gd name="adj" fmla="val 12000"/>
            </a:avLst>
          </a:prstGeom>
          <a:solidFill>
            <a:schemeClr val="accent1"/>
          </a:solidFill>
          <a:ln w="12700">
            <a:solidFill>
              <a:schemeClr val="accent1"/>
            </a:solidFill>
            <a:prstDash val="solid"/>
          </a:ln>
        </p:spPr>
      </p:sp>
      <p:sp>
        <p:nvSpPr>
          <p:cNvPr id="5" name="Title tile A letter"/>
          <p:cNvSpPr txBox="1"/>
          <p:nvPr/>
        </p:nvSpPr>
        <p:spPr>
          <a:xfrm>
            <a:off x="8887968" y="1554480"/>
            <a:ext cx="914400" cy="914400"/>
          </a:xfrm>
          <a:prstGeom prst="rect">
            <a:avLst/>
          </a:prstGeom>
          <a:noFill/>
          <a:ln/>
        </p:spPr>
        <p:txBody>
          <a:bodyPr wrap="square" lIns="0" tIns="0" rIns="0" bIns="0" rtlCol="0" anchor="ctr"/>
          <a:lstStyle/>
          <a:p>
            <a:pPr algn="ctr" indent="0" marL="0">
              <a:buNone/>
            </a:pPr>
            <a:r>
              <a:rPr lang="en-US" sz="4600" b="1" dirty="0">
                <a:solidFill>
                  <a:schemeClr val="tx2"/>
                </a:solidFill>
              </a:rPr>
              <a:t>A</a:t>
            </a:r>
            <a:endParaRPr lang="en-US" sz="4600" dirty="0"/>
          </a:p>
        </p:txBody>
      </p:sp>
      <p:sp>
        <p:nvSpPr>
          <p:cNvPr id="6" name="Title tile K"/>
          <p:cNvSpPr/>
          <p:nvPr/>
        </p:nvSpPr>
        <p:spPr>
          <a:xfrm>
            <a:off x="9912096" y="1554480"/>
            <a:ext cx="914400" cy="914400"/>
          </a:xfrm>
          <a:prstGeom prst="roundRect">
            <a:avLst>
              <a:gd name="adj" fmla="val 12000"/>
            </a:avLst>
          </a:prstGeom>
          <a:solidFill>
            <a:schemeClr val="accent2"/>
          </a:solidFill>
          <a:ln w="12700">
            <a:solidFill>
              <a:schemeClr val="accent2"/>
            </a:solidFill>
            <a:prstDash val="solid"/>
          </a:ln>
        </p:spPr>
      </p:sp>
      <p:sp>
        <p:nvSpPr>
          <p:cNvPr id="7" name="Title tile K letter"/>
          <p:cNvSpPr txBox="1"/>
          <p:nvPr/>
        </p:nvSpPr>
        <p:spPr>
          <a:xfrm>
            <a:off x="9912096" y="15544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K</a:t>
            </a:r>
            <a:endParaRPr lang="en-US" sz="4600" dirty="0"/>
          </a:p>
        </p:txBody>
      </p:sp>
      <p:sp>
        <p:nvSpPr>
          <p:cNvPr id="8" name="Title tile I"/>
          <p:cNvSpPr/>
          <p:nvPr/>
        </p:nvSpPr>
        <p:spPr>
          <a:xfrm>
            <a:off x="10936224" y="1554480"/>
            <a:ext cx="914400" cy="914400"/>
          </a:xfrm>
          <a:prstGeom prst="roundRect">
            <a:avLst>
              <a:gd name="adj" fmla="val 12000"/>
            </a:avLst>
          </a:prstGeom>
          <a:solidFill>
            <a:schemeClr val="accent2"/>
          </a:solidFill>
          <a:ln w="12700">
            <a:solidFill>
              <a:schemeClr val="accent2"/>
            </a:solidFill>
            <a:prstDash val="solid"/>
          </a:ln>
        </p:spPr>
      </p:sp>
      <p:sp>
        <p:nvSpPr>
          <p:cNvPr id="9" name="Title tile I letter"/>
          <p:cNvSpPr txBox="1"/>
          <p:nvPr/>
        </p:nvSpPr>
        <p:spPr>
          <a:xfrm>
            <a:off x="10936224" y="15544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I</a:t>
            </a:r>
            <a:endParaRPr lang="en-US" sz="4600" dirty="0"/>
          </a:p>
        </p:txBody>
      </p:sp>
      <p:sp>
        <p:nvSpPr>
          <p:cNvPr id="10" name="Title tile caption"/>
          <p:cNvSpPr txBox="1"/>
          <p:nvPr/>
        </p:nvSpPr>
        <p:spPr>
          <a:xfrm>
            <a:off x="7863840" y="2606040"/>
            <a:ext cx="4023360" cy="457200"/>
          </a:xfrm>
          <a:prstGeom prst="rect">
            <a:avLst/>
          </a:prstGeom>
          <a:noFill/>
          <a:ln/>
        </p:spPr>
        <p:txBody>
          <a:bodyPr wrap="square" lIns="0" tIns="0" rIns="0" bIns="0" rtlCol="0" anchor="ctr"/>
          <a:lstStyle/>
          <a:p>
            <a:pPr indent="0" marL="0">
              <a:buNone/>
            </a:pPr>
            <a:r>
              <a:rPr lang="en-US" sz="2000" i="1" dirty="0">
                <a:solidFill>
                  <a:schemeClr val="bg2"/>
                </a:solidFill>
              </a:rPr>
              <a:t>frog</a:t>
            </a:r>
            <a:endParaRPr lang="en-US" sz="2000" dirty="0"/>
          </a:p>
        </p:txBody>
      </p:sp>
      <p:sp>
        <p:nvSpPr>
          <p:cNvPr id="11" name="Deck title"/>
          <p:cNvSpPr txBox="1"/>
          <p:nvPr/>
        </p:nvSpPr>
        <p:spPr>
          <a:xfrm>
            <a:off x="640080" y="1371600"/>
            <a:ext cx="6858000" cy="21945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Teach the language, not just test it</a:t>
            </a:r>
            <a:endParaRPr lang="en-US" sz="4400" dirty="0"/>
          </a:p>
        </p:txBody>
      </p:sp>
      <p:sp>
        <p:nvSpPr>
          <p:cNvPr id="12" name="Deck subtitle"/>
          <p:cNvSpPr txBox="1"/>
          <p:nvPr/>
        </p:nvSpPr>
        <p:spPr>
          <a:xfrm>
            <a:off x="640080" y="3383280"/>
            <a:ext cx="6675120" cy="1097280"/>
          </a:xfrm>
          <a:prstGeom prst="rect">
            <a:avLst/>
          </a:prstGeom>
          <a:noFill/>
          <a:ln/>
        </p:spPr>
        <p:txBody>
          <a:bodyPr wrap="square" lIns="0" tIns="0" rIns="0" bIns="0" rtlCol="0" anchor="t"/>
          <a:lstStyle/>
          <a:p>
            <a:pPr indent="0" marL="0">
              <a:buNone/>
            </a:pPr>
            <a:r>
              <a:rPr lang="en-US" sz="2000" dirty="0">
                <a:solidFill>
                  <a:schemeClr val="bg2"/>
                </a:solidFill>
              </a:rPr>
              <a:t>How Lakbay Salita can teach players Cebuano, Ilonggo and Tagalog, even if they start with no knowledge of the language</a:t>
            </a:r>
            <a:endParaRPr lang="en-US" sz="2000" dirty="0"/>
          </a:p>
        </p:txBody>
      </p:sp>
      <p:sp>
        <p:nvSpPr>
          <p:cNvPr id="13" name="Deck footer"/>
          <p:cNvSpPr txBox="1"/>
          <p:nvPr/>
        </p:nvSpPr>
        <p:spPr>
          <a:xfrm>
            <a:off x="640080" y="6035040"/>
            <a:ext cx="7315200" cy="365760"/>
          </a:xfrm>
          <a:prstGeom prst="rect">
            <a:avLst/>
          </a:prstGeom>
          <a:noFill/>
          <a:ln/>
        </p:spPr>
        <p:txBody>
          <a:bodyPr wrap="square" lIns="0" tIns="0" rIns="0" bIns="0" rtlCol="0" anchor="ctr"/>
          <a:lstStyle/>
          <a:p>
            <a:pPr indent="0" marL="0">
              <a:buNone/>
            </a:pPr>
            <a:r>
              <a:rPr lang="en-US" sz="1400" dirty="0">
                <a:solidFill>
                  <a:schemeClr val="accent1"/>
                </a:solidFill>
              </a:rPr>
              <a:t>Idea and recommendation for the group  ·  October 2026</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A new player does not know what the words mean</a:t>
            </a:r>
            <a:endParaRPr lang="en-US" sz="3400" dirty="0"/>
          </a:p>
        </p:txBody>
      </p:sp>
      <p:sp>
        <p:nvSpPr>
          <p:cNvPr id="3" name="Shooter card"/>
          <p:cNvSpPr/>
          <p:nvPr/>
        </p:nvSpPr>
        <p:spPr>
          <a:xfrm>
            <a:off x="548640" y="1463040"/>
            <a:ext cx="5486400" cy="1783080"/>
          </a:xfrm>
          <a:prstGeom prst="roundRect">
            <a:avLst>
              <a:gd name="adj" fmla="val 7692"/>
            </a:avLst>
          </a:prstGeom>
          <a:solidFill>
            <a:schemeClr val="bg2"/>
          </a:solidFill>
          <a:ln w="12700">
            <a:solidFill>
              <a:schemeClr val="bg2"/>
            </a:solidFill>
            <a:prstDash val="solid"/>
          </a:ln>
        </p:spPr>
      </p:sp>
      <p:sp>
        <p:nvSpPr>
          <p:cNvPr id="4" name="Shooter circle"/>
          <p:cNvSpPr/>
          <p:nvPr/>
        </p:nvSpPr>
        <p:spPr>
          <a:xfrm>
            <a:off x="822960" y="1737360"/>
            <a:ext cx="822960" cy="822960"/>
          </a:xfrm>
          <a:prstGeom prst="ellipse">
            <a:avLst/>
          </a:prstGeom>
          <a:solidFill>
            <a:schemeClr val="accent4"/>
          </a:solidFill>
          <a:ln w="12700">
            <a:solidFill>
              <a:schemeClr val="accent4"/>
            </a:solidFill>
            <a:prstDash val="solid"/>
          </a:ln>
        </p:spPr>
      </p:sp>
      <p:pic>
        <p:nvPicPr>
          <p:cNvPr id="5" name="Shooter icon" descr="Shooter">    </p:cNvPr>
          <p:cNvPicPr>
            <a:picLocks noChangeAspect="1"/>
          </p:cNvPicPr>
          <p:nvPr/>
        </p:nvPicPr>
        <p:blipFill>
          <a:blip r:embed="rId1"/>
          <a:stretch>
            <a:fillRect/>
          </a:stretch>
        </p:blipFill>
        <p:spPr>
          <a:xfrm>
            <a:off x="1045159" y="1959559"/>
            <a:ext cx="378562" cy="378562"/>
          </a:xfrm>
          <a:prstGeom prst="rect">
            <a:avLst/>
          </a:prstGeom>
        </p:spPr>
      </p:pic>
      <p:sp>
        <p:nvSpPr>
          <p:cNvPr id="6" name="Shooter title"/>
          <p:cNvSpPr txBox="1"/>
          <p:nvPr/>
        </p:nvSpPr>
        <p:spPr>
          <a:xfrm>
            <a:off x="1874520" y="1645920"/>
            <a:ext cx="4023360" cy="457200"/>
          </a:xfrm>
          <a:prstGeom prst="rect">
            <a:avLst/>
          </a:prstGeom>
          <a:noFill/>
          <a:ln/>
        </p:spPr>
        <p:txBody>
          <a:bodyPr wrap="square" lIns="0" tIns="0" rIns="0" bIns="0" rtlCol="0" anchor="ctr"/>
          <a:lstStyle/>
          <a:p>
            <a:pPr indent="0" marL="0">
              <a:buNone/>
            </a:pPr>
            <a:r>
              <a:rPr lang="en-US" sz="2200" b="1" dirty="0">
                <a:solidFill>
                  <a:schemeClr val="tx1"/>
                </a:solidFill>
              </a:rPr>
              <a:t>A shooter game</a:t>
            </a:r>
            <a:endParaRPr lang="en-US" sz="2200" dirty="0"/>
          </a:p>
        </p:txBody>
      </p:sp>
      <p:sp>
        <p:nvSpPr>
          <p:cNvPr id="7" name="Shooter text"/>
          <p:cNvSpPr txBox="1"/>
          <p:nvPr/>
        </p:nvSpPr>
        <p:spPr>
          <a:xfrm>
            <a:off x="1874520" y="2103120"/>
            <a:ext cx="4023360" cy="1005840"/>
          </a:xfrm>
          <a:prstGeom prst="rect">
            <a:avLst/>
          </a:prstGeom>
          <a:noFill/>
          <a:ln/>
        </p:spPr>
        <p:txBody>
          <a:bodyPr wrap="square" lIns="0" tIns="0" rIns="0" bIns="0" rtlCol="0" anchor="t"/>
          <a:lstStyle/>
          <a:p>
            <a:pPr indent="0" marL="0">
              <a:buNone/>
            </a:pPr>
            <a:r>
              <a:rPr lang="en-US" sz="1600" dirty="0">
                <a:solidFill>
                  <a:schemeClr val="tx1"/>
                </a:solidFill>
              </a:rPr>
              <a:t>You see an enemy and press a button. The rule teaches itself in five seconds.</a:t>
            </a:r>
            <a:endParaRPr lang="en-US" sz="1600" dirty="0"/>
          </a:p>
        </p:txBody>
      </p:sp>
      <p:sp>
        <p:nvSpPr>
          <p:cNvPr id="8" name="Today card"/>
          <p:cNvSpPr/>
          <p:nvPr/>
        </p:nvSpPr>
        <p:spPr>
          <a:xfrm>
            <a:off x="548640" y="3429000"/>
            <a:ext cx="5486400" cy="1874520"/>
          </a:xfrm>
          <a:prstGeom prst="roundRect">
            <a:avLst>
              <a:gd name="adj" fmla="val 7317"/>
            </a:avLst>
          </a:prstGeom>
          <a:solidFill>
            <a:schemeClr val="bg2"/>
          </a:solidFill>
          <a:ln w="12700">
            <a:solidFill>
              <a:schemeClr val="bg2"/>
            </a:solidFill>
            <a:prstDash val="solid"/>
          </a:ln>
        </p:spPr>
      </p:sp>
      <p:sp>
        <p:nvSpPr>
          <p:cNvPr id="9" name="Today circle"/>
          <p:cNvSpPr/>
          <p:nvPr/>
        </p:nvSpPr>
        <p:spPr>
          <a:xfrm>
            <a:off x="822960" y="3749040"/>
            <a:ext cx="822960" cy="822960"/>
          </a:xfrm>
          <a:prstGeom prst="ellipse">
            <a:avLst/>
          </a:prstGeom>
          <a:solidFill>
            <a:schemeClr val="accent1"/>
          </a:solidFill>
          <a:ln w="12700">
            <a:solidFill>
              <a:schemeClr val="accent1"/>
            </a:solidFill>
            <a:prstDash val="solid"/>
          </a:ln>
        </p:spPr>
      </p:sp>
      <p:pic>
        <p:nvPicPr>
          <p:cNvPr id="10" name="Today icon" descr="Today">    </p:cNvPr>
          <p:cNvPicPr>
            <a:picLocks noChangeAspect="1"/>
          </p:cNvPicPr>
          <p:nvPr/>
        </p:nvPicPr>
        <p:blipFill>
          <a:blip r:embed="rId2"/>
          <a:stretch>
            <a:fillRect/>
          </a:stretch>
        </p:blipFill>
        <p:spPr>
          <a:xfrm>
            <a:off x="1045159" y="3971239"/>
            <a:ext cx="378562" cy="378562"/>
          </a:xfrm>
          <a:prstGeom prst="rect">
            <a:avLst/>
          </a:prstGeom>
        </p:spPr>
      </p:pic>
      <p:sp>
        <p:nvSpPr>
          <p:cNvPr id="11" name="Today title"/>
          <p:cNvSpPr txBox="1"/>
          <p:nvPr/>
        </p:nvSpPr>
        <p:spPr>
          <a:xfrm>
            <a:off x="1874520" y="3611880"/>
            <a:ext cx="4023360" cy="457200"/>
          </a:xfrm>
          <a:prstGeom prst="rect">
            <a:avLst/>
          </a:prstGeom>
          <a:noFill/>
          <a:ln/>
        </p:spPr>
        <p:txBody>
          <a:bodyPr wrap="square" lIns="0" tIns="0" rIns="0" bIns="0" rtlCol="0" anchor="ctr"/>
          <a:lstStyle/>
          <a:p>
            <a:pPr indent="0" marL="0">
              <a:buNone/>
            </a:pPr>
            <a:r>
              <a:rPr lang="en-US" sz="2200" b="1" dirty="0">
                <a:solidFill>
                  <a:schemeClr val="tx1"/>
                </a:solidFill>
              </a:rPr>
              <a:t>Lakbay Salita today</a:t>
            </a:r>
            <a:endParaRPr lang="en-US" sz="2200" dirty="0"/>
          </a:p>
        </p:txBody>
      </p:sp>
      <p:sp>
        <p:nvSpPr>
          <p:cNvPr id="12" name="Today text"/>
          <p:cNvSpPr txBox="1"/>
          <p:nvPr/>
        </p:nvSpPr>
        <p:spPr>
          <a:xfrm>
            <a:off x="1874520" y="4069080"/>
            <a:ext cx="4023360" cy="1097280"/>
          </a:xfrm>
          <a:prstGeom prst="rect">
            <a:avLst/>
          </a:prstGeom>
          <a:noFill/>
          <a:ln/>
        </p:spPr>
        <p:txBody>
          <a:bodyPr wrap="square" lIns="0" tIns="0" rIns="0" bIns="0" rtlCol="0" anchor="t"/>
          <a:lstStyle/>
          <a:p>
            <a:pPr indent="0" marL="0">
              <a:buNone/>
            </a:pPr>
            <a:r>
              <a:rPr lang="en-US" sz="1600" dirty="0">
                <a:solidFill>
                  <a:schemeClr val="tx1"/>
                </a:solidFill>
              </a:rPr>
              <a:t>The clue says 'Frog'. The player must type 4 letters of a word in a language they have never heard.</a:t>
            </a:r>
            <a:endParaRPr lang="en-US" sz="1600" dirty="0"/>
          </a:p>
        </p:txBody>
      </p:sp>
      <p:sp>
        <p:nvSpPr>
          <p:cNvPr id="13" name="Mock panel"/>
          <p:cNvSpPr/>
          <p:nvPr/>
        </p:nvSpPr>
        <p:spPr>
          <a:xfrm>
            <a:off x="6583680" y="1463040"/>
            <a:ext cx="5029200" cy="3840480"/>
          </a:xfrm>
          <a:prstGeom prst="roundRect">
            <a:avLst>
              <a:gd name="adj" fmla="val 3571"/>
            </a:avLst>
          </a:prstGeom>
          <a:solidFill>
            <a:schemeClr val="bg2"/>
          </a:solidFill>
          <a:ln w="12700">
            <a:solidFill>
              <a:schemeClr val="bg2"/>
            </a:solidFill>
            <a:prstDash val="solid"/>
          </a:ln>
        </p:spPr>
      </p:sp>
      <p:sp>
        <p:nvSpPr>
          <p:cNvPr id="14" name="Mock caption"/>
          <p:cNvSpPr txBox="1"/>
          <p:nvPr/>
        </p:nvSpPr>
        <p:spPr>
          <a:xfrm>
            <a:off x="6858000" y="1600200"/>
            <a:ext cx="4572000" cy="365760"/>
          </a:xfrm>
          <a:prstGeom prst="rect">
            <a:avLst/>
          </a:prstGeom>
          <a:noFill/>
          <a:ln/>
        </p:spPr>
        <p:txBody>
          <a:bodyPr wrap="square" lIns="0" tIns="0" rIns="0" bIns="0" rtlCol="0" anchor="ctr"/>
          <a:lstStyle/>
          <a:p>
            <a:pPr indent="0" marL="0">
              <a:buNone/>
            </a:pPr>
            <a:r>
              <a:rPr lang="en-US" sz="1400" b="1" dirty="0">
                <a:solidFill>
                  <a:schemeClr val="tx1"/>
                </a:solidFill>
              </a:rPr>
              <a:t>What a new player sees</a:t>
            </a:r>
            <a:endParaRPr lang="en-US" sz="1400" dirty="0"/>
          </a:p>
        </p:txBody>
      </p:sp>
      <p:sp>
        <p:nvSpPr>
          <p:cNvPr id="15" name="Mock clue"/>
          <p:cNvSpPr/>
          <p:nvPr/>
        </p:nvSpPr>
        <p:spPr>
          <a:xfrm>
            <a:off x="6858000" y="2103120"/>
            <a:ext cx="4480560" cy="822960"/>
          </a:xfrm>
          <a:prstGeom prst="roundRect">
            <a:avLst>
              <a:gd name="adj" fmla="val 16667"/>
            </a:avLst>
          </a:prstGeom>
          <a:solidFill>
            <a:schemeClr val="bg1"/>
          </a:solidFill>
          <a:ln w="12700">
            <a:solidFill>
              <a:schemeClr val="bg1"/>
            </a:solidFill>
            <a:prstDash val="solid"/>
          </a:ln>
        </p:spPr>
      </p:sp>
      <p:sp>
        <p:nvSpPr>
          <p:cNvPr id="16" name="Mock clue text"/>
          <p:cNvSpPr txBox="1"/>
          <p:nvPr/>
        </p:nvSpPr>
        <p:spPr>
          <a:xfrm>
            <a:off x="7040880" y="2103120"/>
            <a:ext cx="4114800" cy="822960"/>
          </a:xfrm>
          <a:prstGeom prst="rect">
            <a:avLst/>
          </a:prstGeom>
          <a:noFill/>
          <a:ln/>
        </p:spPr>
        <p:txBody>
          <a:bodyPr wrap="square" lIns="0" tIns="0" rIns="0" bIns="0" rtlCol="0" anchor="ctr"/>
          <a:lstStyle/>
          <a:p>
            <a:pPr indent="0" marL="0">
              <a:buNone/>
            </a:pPr>
            <a:r>
              <a:rPr lang="en-US" sz="1400" dirty="0">
                <a:solidFill>
                  <a:schemeClr val="accent6"/>
                </a:solidFill>
              </a:rPr>
              <a:t>Clue  </a:t>
            </a:r>
            <a:pPr indent="0" marL="0">
              <a:buNone/>
            </a:pPr>
            <a:r>
              <a:rPr lang="en-US" sz="2200" b="1" dirty="0">
                <a:solidFill>
                  <a:schemeClr val="tx1"/>
                </a:solidFill>
              </a:rPr>
              <a:t>Frog.</a:t>
            </a:r>
            <a:endParaRPr lang="en-US" sz="1400" dirty="0"/>
          </a:p>
        </p:txBody>
      </p:sp>
      <p:sp>
        <p:nvSpPr>
          <p:cNvPr id="17" name="Mock tile 1"/>
          <p:cNvSpPr/>
          <p:nvPr/>
        </p:nvSpPr>
        <p:spPr>
          <a:xfrm>
            <a:off x="7223760" y="3246120"/>
            <a:ext cx="914400" cy="914400"/>
          </a:xfrm>
          <a:prstGeom prst="roundRect">
            <a:avLst>
              <a:gd name="adj" fmla="val 10000"/>
            </a:avLst>
          </a:prstGeom>
          <a:solidFill>
            <a:schemeClr val="bg1"/>
          </a:solidFill>
          <a:ln w="19050">
            <a:solidFill>
              <a:schemeClr val="accent6"/>
            </a:solidFill>
            <a:prstDash val="solid"/>
          </a:ln>
        </p:spPr>
      </p:sp>
      <p:sp>
        <p:nvSpPr>
          <p:cNvPr id="18" name="Mock tile text 1"/>
          <p:cNvSpPr txBox="1"/>
          <p:nvPr/>
        </p:nvSpPr>
        <p:spPr>
          <a:xfrm>
            <a:off x="7223760" y="3246120"/>
            <a:ext cx="914400" cy="914400"/>
          </a:xfrm>
          <a:prstGeom prst="rect">
            <a:avLst/>
          </a:prstGeom>
          <a:noFill/>
          <a:ln/>
        </p:spPr>
        <p:txBody>
          <a:bodyPr wrap="square" lIns="0" tIns="0" rIns="0" bIns="0" rtlCol="0" anchor="ctr"/>
          <a:lstStyle/>
          <a:p>
            <a:pPr algn="ctr" indent="0" marL="0">
              <a:buNone/>
            </a:pPr>
            <a:r>
              <a:rPr lang="en-US" sz="3600" b="1" dirty="0">
                <a:solidFill>
                  <a:schemeClr val="accent6"/>
                </a:solidFill>
              </a:rPr>
              <a:t>?</a:t>
            </a:r>
            <a:endParaRPr lang="en-US" sz="3600" dirty="0"/>
          </a:p>
        </p:txBody>
      </p:sp>
      <p:sp>
        <p:nvSpPr>
          <p:cNvPr id="19" name="Mock tile 2"/>
          <p:cNvSpPr/>
          <p:nvPr/>
        </p:nvSpPr>
        <p:spPr>
          <a:xfrm>
            <a:off x="8275320" y="3246120"/>
            <a:ext cx="914400" cy="914400"/>
          </a:xfrm>
          <a:prstGeom prst="roundRect">
            <a:avLst>
              <a:gd name="adj" fmla="val 10000"/>
            </a:avLst>
          </a:prstGeom>
          <a:solidFill>
            <a:schemeClr val="bg1"/>
          </a:solidFill>
          <a:ln w="19050">
            <a:solidFill>
              <a:schemeClr val="accent6"/>
            </a:solidFill>
            <a:prstDash val="solid"/>
          </a:ln>
        </p:spPr>
      </p:sp>
      <p:sp>
        <p:nvSpPr>
          <p:cNvPr id="20" name="Mock tile text 2"/>
          <p:cNvSpPr txBox="1"/>
          <p:nvPr/>
        </p:nvSpPr>
        <p:spPr>
          <a:xfrm>
            <a:off x="8275320" y="3246120"/>
            <a:ext cx="914400" cy="914400"/>
          </a:xfrm>
          <a:prstGeom prst="rect">
            <a:avLst/>
          </a:prstGeom>
          <a:noFill/>
          <a:ln/>
        </p:spPr>
        <p:txBody>
          <a:bodyPr wrap="square" lIns="0" tIns="0" rIns="0" bIns="0" rtlCol="0" anchor="ctr"/>
          <a:lstStyle/>
          <a:p>
            <a:pPr algn="ctr" indent="0" marL="0">
              <a:buNone/>
            </a:pPr>
            <a:r>
              <a:rPr lang="en-US" sz="3600" b="1" dirty="0">
                <a:solidFill>
                  <a:schemeClr val="accent6"/>
                </a:solidFill>
              </a:rPr>
              <a:t>?</a:t>
            </a:r>
            <a:endParaRPr lang="en-US" sz="3600" dirty="0"/>
          </a:p>
        </p:txBody>
      </p:sp>
      <p:sp>
        <p:nvSpPr>
          <p:cNvPr id="21" name="Mock tile 3"/>
          <p:cNvSpPr/>
          <p:nvPr/>
        </p:nvSpPr>
        <p:spPr>
          <a:xfrm>
            <a:off x="9326880" y="3246120"/>
            <a:ext cx="914400" cy="914400"/>
          </a:xfrm>
          <a:prstGeom prst="roundRect">
            <a:avLst>
              <a:gd name="adj" fmla="val 10000"/>
            </a:avLst>
          </a:prstGeom>
          <a:solidFill>
            <a:schemeClr val="bg1"/>
          </a:solidFill>
          <a:ln w="19050">
            <a:solidFill>
              <a:schemeClr val="accent6"/>
            </a:solidFill>
            <a:prstDash val="solid"/>
          </a:ln>
        </p:spPr>
      </p:sp>
      <p:sp>
        <p:nvSpPr>
          <p:cNvPr id="22" name="Mock tile text 3"/>
          <p:cNvSpPr txBox="1"/>
          <p:nvPr/>
        </p:nvSpPr>
        <p:spPr>
          <a:xfrm>
            <a:off x="9326880" y="3246120"/>
            <a:ext cx="914400" cy="914400"/>
          </a:xfrm>
          <a:prstGeom prst="rect">
            <a:avLst/>
          </a:prstGeom>
          <a:noFill/>
          <a:ln/>
        </p:spPr>
        <p:txBody>
          <a:bodyPr wrap="square" lIns="0" tIns="0" rIns="0" bIns="0" rtlCol="0" anchor="ctr"/>
          <a:lstStyle/>
          <a:p>
            <a:pPr algn="ctr" indent="0" marL="0">
              <a:buNone/>
            </a:pPr>
            <a:r>
              <a:rPr lang="en-US" sz="3600" b="1" dirty="0">
                <a:solidFill>
                  <a:schemeClr val="accent6"/>
                </a:solidFill>
              </a:rPr>
              <a:t>?</a:t>
            </a:r>
            <a:endParaRPr lang="en-US" sz="3600" dirty="0"/>
          </a:p>
        </p:txBody>
      </p:sp>
      <p:sp>
        <p:nvSpPr>
          <p:cNvPr id="23" name="Mock tile 4"/>
          <p:cNvSpPr/>
          <p:nvPr/>
        </p:nvSpPr>
        <p:spPr>
          <a:xfrm>
            <a:off x="10378440" y="3246120"/>
            <a:ext cx="914400" cy="914400"/>
          </a:xfrm>
          <a:prstGeom prst="roundRect">
            <a:avLst>
              <a:gd name="adj" fmla="val 10000"/>
            </a:avLst>
          </a:prstGeom>
          <a:solidFill>
            <a:schemeClr val="bg1"/>
          </a:solidFill>
          <a:ln w="19050">
            <a:solidFill>
              <a:schemeClr val="accent6"/>
            </a:solidFill>
            <a:prstDash val="solid"/>
          </a:ln>
        </p:spPr>
      </p:sp>
      <p:sp>
        <p:nvSpPr>
          <p:cNvPr id="24" name="Mock tile text 4"/>
          <p:cNvSpPr txBox="1"/>
          <p:nvPr/>
        </p:nvSpPr>
        <p:spPr>
          <a:xfrm>
            <a:off x="10378440" y="3246120"/>
            <a:ext cx="914400" cy="914400"/>
          </a:xfrm>
          <a:prstGeom prst="rect">
            <a:avLst/>
          </a:prstGeom>
          <a:noFill/>
          <a:ln/>
        </p:spPr>
        <p:txBody>
          <a:bodyPr wrap="square" lIns="0" tIns="0" rIns="0" bIns="0" rtlCol="0" anchor="ctr"/>
          <a:lstStyle/>
          <a:p>
            <a:pPr algn="ctr" indent="0" marL="0">
              <a:buNone/>
            </a:pPr>
            <a:r>
              <a:rPr lang="en-US" sz="3600" b="1" dirty="0">
                <a:solidFill>
                  <a:schemeClr val="accent6"/>
                </a:solidFill>
              </a:rPr>
              <a:t>?</a:t>
            </a:r>
            <a:endParaRPr lang="en-US" sz="3600" dirty="0"/>
          </a:p>
        </p:txBody>
      </p:sp>
      <p:sp>
        <p:nvSpPr>
          <p:cNvPr id="25" name="Mock note"/>
          <p:cNvSpPr txBox="1"/>
          <p:nvPr/>
        </p:nvSpPr>
        <p:spPr>
          <a:xfrm>
            <a:off x="6858000" y="4389120"/>
            <a:ext cx="4480560" cy="731520"/>
          </a:xfrm>
          <a:prstGeom prst="rect">
            <a:avLst/>
          </a:prstGeom>
          <a:noFill/>
          <a:ln/>
        </p:spPr>
        <p:txBody>
          <a:bodyPr wrap="square" lIns="0" tIns="0" rIns="0" bIns="0" rtlCol="0" anchor="t"/>
          <a:lstStyle/>
          <a:p>
            <a:pPr indent="0" marL="0">
              <a:buNone/>
            </a:pPr>
            <a:r>
              <a:rPr lang="en-US" sz="1400" i="1" dirty="0">
                <a:solidFill>
                  <a:schemeClr val="tx1"/>
                </a:solidFill>
              </a:rPr>
              <a:t>Pure guessing, then Enter. Nothing was taught first.</a:t>
            </a:r>
            <a:endParaRPr lang="en-US" sz="1400" dirty="0"/>
          </a:p>
        </p:txBody>
      </p:sp>
      <p:sp>
        <p:nvSpPr>
          <p:cNvPr id="26" name="Problem callout"/>
          <p:cNvSpPr/>
          <p:nvPr/>
        </p:nvSpPr>
        <p:spPr>
          <a:xfrm>
            <a:off x="548640" y="5577840"/>
            <a:ext cx="11064240" cy="685800"/>
          </a:xfrm>
          <a:prstGeom prst="roundRect">
            <a:avLst>
              <a:gd name="adj" fmla="val 20000"/>
            </a:avLst>
          </a:prstGeom>
          <a:solidFill>
            <a:schemeClr val="tx2"/>
          </a:solidFill>
          <a:ln w="12700">
            <a:solidFill>
              <a:schemeClr val="tx2"/>
            </a:solidFill>
            <a:prstDash val="solid"/>
          </a:ln>
        </p:spPr>
      </p:sp>
      <p:sp>
        <p:nvSpPr>
          <p:cNvPr id="27" name="Problem callout text"/>
          <p:cNvSpPr txBox="1"/>
          <p:nvPr/>
        </p:nvSpPr>
        <p:spPr>
          <a:xfrm>
            <a:off x="548640" y="5577840"/>
            <a:ext cx="11064240" cy="685800"/>
          </a:xfrm>
          <a:prstGeom prst="rect">
            <a:avLst/>
          </a:prstGeom>
          <a:noFill/>
          <a:ln/>
        </p:spPr>
        <p:txBody>
          <a:bodyPr wrap="square" lIns="0" tIns="0" rIns="0" bIns="0" rtlCol="0" anchor="ctr"/>
          <a:lstStyle/>
          <a:p>
            <a:pPr algn="ctr" indent="0" marL="0">
              <a:buNone/>
            </a:pPr>
            <a:r>
              <a:rPr lang="en-US" sz="2200" b="1" dirty="0">
                <a:solidFill>
                  <a:schemeClr val="bg1"/>
                </a:solidFill>
              </a:rPr>
              <a:t>Right now the game tests words before it teaches them</a:t>
            </a:r>
            <a:endParaRPr lang="en-US" sz="2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What the game already does, and what is missing</a:t>
            </a:r>
            <a:endParaRPr lang="en-US" sz="3400" dirty="0"/>
          </a:p>
        </p:txBody>
      </p:sp>
      <p:sp>
        <p:nvSpPr>
          <p:cNvPr id="3" name="Have card"/>
          <p:cNvSpPr/>
          <p:nvPr/>
        </p:nvSpPr>
        <p:spPr>
          <a:xfrm>
            <a:off x="548640" y="1463040"/>
            <a:ext cx="5486400" cy="4663440"/>
          </a:xfrm>
          <a:prstGeom prst="roundRect">
            <a:avLst>
              <a:gd name="adj" fmla="val 2941"/>
            </a:avLst>
          </a:prstGeom>
          <a:solidFill>
            <a:schemeClr val="bg2"/>
          </a:solidFill>
          <a:ln w="12700">
            <a:solidFill>
              <a:schemeClr val="bg2"/>
            </a:solidFill>
            <a:prstDash val="solid"/>
          </a:ln>
        </p:spPr>
      </p:sp>
      <p:sp>
        <p:nvSpPr>
          <p:cNvPr id="4" name="Have circle"/>
          <p:cNvSpPr/>
          <p:nvPr/>
        </p:nvSpPr>
        <p:spPr>
          <a:xfrm>
            <a:off x="822960" y="1691640"/>
            <a:ext cx="640080" cy="640080"/>
          </a:xfrm>
          <a:prstGeom prst="ellipse">
            <a:avLst/>
          </a:prstGeom>
          <a:solidFill>
            <a:schemeClr val="accent2"/>
          </a:solidFill>
          <a:ln w="12700">
            <a:solidFill>
              <a:schemeClr val="accent2"/>
            </a:solidFill>
            <a:prstDash val="solid"/>
          </a:ln>
        </p:spPr>
      </p:sp>
      <p:pic>
        <p:nvPicPr>
          <p:cNvPr id="5" name="Have icon" descr="Have">    </p:cNvPr>
          <p:cNvPicPr>
            <a:picLocks noChangeAspect="1"/>
          </p:cNvPicPr>
          <p:nvPr/>
        </p:nvPicPr>
        <p:blipFill>
          <a:blip r:embed="rId1"/>
          <a:stretch>
            <a:fillRect/>
          </a:stretch>
        </p:blipFill>
        <p:spPr>
          <a:xfrm>
            <a:off x="995782" y="1864462"/>
            <a:ext cx="294437" cy="294437"/>
          </a:xfrm>
          <a:prstGeom prst="rect">
            <a:avLst/>
          </a:prstGeom>
        </p:spPr>
      </p:pic>
      <p:sp>
        <p:nvSpPr>
          <p:cNvPr id="6" name="Have title"/>
          <p:cNvSpPr txBox="1"/>
          <p:nvPr/>
        </p:nvSpPr>
        <p:spPr>
          <a:xfrm>
            <a:off x="1645920" y="1691640"/>
            <a:ext cx="4206240" cy="640080"/>
          </a:xfrm>
          <a:prstGeom prst="rect">
            <a:avLst/>
          </a:prstGeom>
          <a:noFill/>
          <a:ln/>
        </p:spPr>
        <p:txBody>
          <a:bodyPr wrap="square" lIns="0" tIns="0" rIns="0" bIns="0" rtlCol="0" anchor="ctr"/>
          <a:lstStyle/>
          <a:p>
            <a:pPr indent="0" marL="0">
              <a:buNone/>
            </a:pPr>
            <a:r>
              <a:rPr lang="en-US" sz="2200" b="1" dirty="0">
                <a:solidFill>
                  <a:schemeClr val="tx1"/>
                </a:solidFill>
              </a:rPr>
              <a:t>Already in the game</a:t>
            </a:r>
            <a:endParaRPr lang="en-US" sz="2200" dirty="0"/>
          </a:p>
        </p:txBody>
      </p:sp>
      <p:sp>
        <p:nvSpPr>
          <p:cNvPr id="7" name="Have list"/>
          <p:cNvSpPr txBox="1"/>
          <p:nvPr/>
        </p:nvSpPr>
        <p:spPr>
          <a:xfrm>
            <a:off x="868680" y="251460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An English clue on every puzzle</a:t>
            </a:r>
            <a:endParaRPr lang="en-US" sz="1600" dirty="0"/>
          </a:p>
          <a:p>
            <a:pPr marL="342900" indent="-342900">
              <a:spcAft>
                <a:spcPts val="800"/>
              </a:spcAft>
              <a:buSzPct val="100000"/>
              <a:buChar char="•"/>
            </a:pPr>
            <a:r>
              <a:rPr lang="en-US" sz="1600" dirty="0">
                <a:solidFill>
                  <a:schemeClr val="tx1"/>
                </a:solidFill>
              </a:rPr>
              <a:t>Letter hints (for example: Letter S is in column 2)</a:t>
            </a:r>
            <a:endParaRPr lang="en-US" sz="1600" dirty="0"/>
          </a:p>
          <a:p>
            <a:pPr marL="342900" indent="-342900">
              <a:spcAft>
                <a:spcPts val="800"/>
              </a:spcAft>
              <a:buSzPct val="100000"/>
              <a:buChar char="•"/>
            </a:pPr>
            <a:r>
              <a:rPr lang="en-US" sz="1600" dirty="0">
                <a:solidFill>
                  <a:schemeClr val="tx1"/>
                </a:solidFill>
              </a:rPr>
              <a:t>A 'Words you learned' card after each puzzle, with a star to save favorites</a:t>
            </a:r>
            <a:endParaRPr lang="en-US" sz="1600" dirty="0"/>
          </a:p>
          <a:p>
            <a:pPr marL="342900" indent="-342900">
              <a:spcAft>
                <a:spcPts val="800"/>
              </a:spcAft>
              <a:buSzPct val="100000"/>
              <a:buChar char="•"/>
            </a:pPr>
            <a:r>
              <a:rPr lang="en-US" sz="1600" dirty="0">
                <a:solidFill>
                  <a:schemeClr val="tx1"/>
                </a:solidFill>
              </a:rPr>
              <a:t>A Library dictionary with 63,540 words and a word of the day</a:t>
            </a:r>
            <a:endParaRPr lang="en-US" sz="1600" dirty="0"/>
          </a:p>
          <a:p>
            <a:pPr marL="342900" indent="-342900">
              <a:spcAft>
                <a:spcPts val="800"/>
              </a:spcAft>
              <a:buSzPct val="100000"/>
              <a:buChar char="•"/>
            </a:pPr>
            <a:r>
              <a:rPr lang="en-US" sz="1600" dirty="0">
                <a:solidFill>
                  <a:schemeClr val="tx1"/>
                </a:solidFill>
              </a:rPr>
              <a:t>The same 133 words per language in Wordle, Crossword and Word Search</a:t>
            </a:r>
            <a:endParaRPr lang="en-US" sz="1600" dirty="0"/>
          </a:p>
          <a:p>
            <a:pPr marL="342900" indent="-342900">
              <a:spcAft>
                <a:spcPts val="800"/>
              </a:spcAft>
              <a:buSzPct val="100000"/>
              <a:buChar char="•"/>
            </a:pPr>
            <a:r>
              <a:rPr lang="en-US" sz="1600" dirty="0">
                <a:solidFill>
                  <a:schemeClr val="tx1"/>
                </a:solidFill>
              </a:rPr>
              <a:t>Profile with words learned, progress per language and a day streak</a:t>
            </a:r>
            <a:endParaRPr lang="en-US" sz="1600" dirty="0"/>
          </a:p>
        </p:txBody>
      </p:sp>
      <p:sp>
        <p:nvSpPr>
          <p:cNvPr id="8" name="Missing card"/>
          <p:cNvSpPr/>
          <p:nvPr/>
        </p:nvSpPr>
        <p:spPr>
          <a:xfrm>
            <a:off x="6309360" y="1463040"/>
            <a:ext cx="5303520" cy="4663440"/>
          </a:xfrm>
          <a:prstGeom prst="roundRect">
            <a:avLst>
              <a:gd name="adj" fmla="val 2941"/>
            </a:avLst>
          </a:prstGeom>
          <a:solidFill>
            <a:schemeClr val="bg2"/>
          </a:solidFill>
          <a:ln w="12700">
            <a:solidFill>
              <a:schemeClr val="bg2"/>
            </a:solidFill>
            <a:prstDash val="solid"/>
          </a:ln>
        </p:spPr>
      </p:sp>
      <p:sp>
        <p:nvSpPr>
          <p:cNvPr id="9" name="Missing circle"/>
          <p:cNvSpPr/>
          <p:nvPr/>
        </p:nvSpPr>
        <p:spPr>
          <a:xfrm>
            <a:off x="6583680" y="1691640"/>
            <a:ext cx="640080" cy="640080"/>
          </a:xfrm>
          <a:prstGeom prst="ellipse">
            <a:avLst/>
          </a:prstGeom>
          <a:solidFill>
            <a:schemeClr val="accent4"/>
          </a:solidFill>
          <a:ln w="12700">
            <a:solidFill>
              <a:schemeClr val="accent4"/>
            </a:solidFill>
            <a:prstDash val="solid"/>
          </a:ln>
        </p:spPr>
      </p:sp>
      <p:pic>
        <p:nvPicPr>
          <p:cNvPr id="10" name="Missing icon" descr="Missing">    </p:cNvPr>
          <p:cNvPicPr>
            <a:picLocks noChangeAspect="1"/>
          </p:cNvPicPr>
          <p:nvPr/>
        </p:nvPicPr>
        <p:blipFill>
          <a:blip r:embed="rId2"/>
          <a:stretch>
            <a:fillRect/>
          </a:stretch>
        </p:blipFill>
        <p:spPr>
          <a:xfrm>
            <a:off x="6756502" y="1864462"/>
            <a:ext cx="294437" cy="294437"/>
          </a:xfrm>
          <a:prstGeom prst="rect">
            <a:avLst/>
          </a:prstGeom>
        </p:spPr>
      </p:pic>
      <p:sp>
        <p:nvSpPr>
          <p:cNvPr id="11" name="Missing title"/>
          <p:cNvSpPr txBox="1"/>
          <p:nvPr/>
        </p:nvSpPr>
        <p:spPr>
          <a:xfrm>
            <a:off x="7406640" y="1691640"/>
            <a:ext cx="4023360" cy="640080"/>
          </a:xfrm>
          <a:prstGeom prst="rect">
            <a:avLst/>
          </a:prstGeom>
          <a:noFill/>
          <a:ln/>
        </p:spPr>
        <p:txBody>
          <a:bodyPr wrap="square" lIns="0" tIns="0" rIns="0" bIns="0" rtlCol="0" anchor="ctr"/>
          <a:lstStyle/>
          <a:p>
            <a:pPr indent="0" marL="0">
              <a:buNone/>
            </a:pPr>
            <a:r>
              <a:rPr lang="en-US" sz="2200" b="1" dirty="0">
                <a:solidFill>
                  <a:schemeClr val="tx1"/>
                </a:solidFill>
              </a:rPr>
              <a:t>Still missing</a:t>
            </a:r>
            <a:endParaRPr lang="en-US" sz="2200" dirty="0"/>
          </a:p>
        </p:txBody>
      </p:sp>
      <p:sp>
        <p:nvSpPr>
          <p:cNvPr id="12" name="Missing list"/>
          <p:cNvSpPr txBox="1"/>
          <p:nvPr/>
        </p:nvSpPr>
        <p:spPr>
          <a:xfrm>
            <a:off x="6629400" y="2514600"/>
            <a:ext cx="475488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No teaching before the first puzzle</a:t>
            </a:r>
            <a:endParaRPr lang="en-US" sz="1600" dirty="0"/>
          </a:p>
          <a:p>
            <a:pPr marL="342900" indent="-342900">
              <a:spcAft>
                <a:spcPts val="800"/>
              </a:spcAft>
              <a:buSzPct val="100000"/>
              <a:buChar char="•"/>
            </a:pPr>
            <a:r>
              <a:rPr lang="en-US" sz="1600" dirty="0">
                <a:solidFill>
                  <a:schemeClr val="tx1"/>
                </a:solidFill>
              </a:rPr>
              <a:t>No sound: a player cannot hear a word</a:t>
            </a:r>
            <a:endParaRPr lang="en-US" sz="1600" dirty="0"/>
          </a:p>
          <a:p>
            <a:pPr marL="342900" indent="-342900">
              <a:spcAft>
                <a:spcPts val="800"/>
              </a:spcAft>
              <a:buSzPct val="100000"/>
              <a:buChar char="•"/>
            </a:pPr>
            <a:r>
              <a:rPr lang="en-US" sz="1600" dirty="0">
                <a:solidFill>
                  <a:schemeClr val="tx1"/>
                </a:solidFill>
              </a:rPr>
              <a:t>Mistakes are not remembered or practised again</a:t>
            </a:r>
            <a:endParaRPr lang="en-US" sz="1600" dirty="0"/>
          </a:p>
          <a:p>
            <a:pPr marL="342900" indent="-342900">
              <a:spcAft>
                <a:spcPts val="800"/>
              </a:spcAft>
              <a:buSzPct val="100000"/>
              <a:buChar char="•"/>
            </a:pPr>
            <a:r>
              <a:rPr lang="en-US" sz="1600" dirty="0">
                <a:solidFill>
                  <a:schemeClr val="tx1"/>
                </a:solidFill>
              </a:rPr>
              <a:t>No sentences, so words are never seen in use</a:t>
            </a:r>
            <a:endParaRPr lang="en-US" sz="1600" dirty="0"/>
          </a:p>
        </p:txBody>
      </p:sp>
      <p:sp>
        <p:nvSpPr>
          <p:cNvPr id="13" name="Fix callout"/>
          <p:cNvSpPr/>
          <p:nvPr/>
        </p:nvSpPr>
        <p:spPr>
          <a:xfrm>
            <a:off x="6583680" y="4480560"/>
            <a:ext cx="4754880" cy="1371600"/>
          </a:xfrm>
          <a:prstGeom prst="roundRect">
            <a:avLst>
              <a:gd name="adj" fmla="val 10000"/>
            </a:avLst>
          </a:prstGeom>
          <a:solidFill>
            <a:schemeClr val="tx2"/>
          </a:solidFill>
          <a:ln w="12700">
            <a:solidFill>
              <a:schemeClr val="tx2"/>
            </a:solidFill>
            <a:prstDash val="solid"/>
          </a:ln>
        </p:spPr>
      </p:sp>
      <p:sp>
        <p:nvSpPr>
          <p:cNvPr id="14" name="Fix callout text"/>
          <p:cNvSpPr txBox="1"/>
          <p:nvPr/>
        </p:nvSpPr>
        <p:spPr>
          <a:xfrm>
            <a:off x="6812280" y="4480560"/>
            <a:ext cx="4297680" cy="1371600"/>
          </a:xfrm>
          <a:prstGeom prst="rect">
            <a:avLst/>
          </a:prstGeom>
          <a:noFill/>
          <a:ln/>
        </p:spPr>
        <p:txBody>
          <a:bodyPr wrap="square" lIns="0" tIns="0" rIns="0" bIns="0" rtlCol="0" anchor="ctr"/>
          <a:lstStyle/>
          <a:p>
            <a:pPr indent="0" marL="0">
              <a:buNone/>
            </a:pPr>
            <a:r>
              <a:rPr lang="en-US" sz="1700" b="1" dirty="0">
                <a:solidFill>
                  <a:schemeClr val="bg1"/>
                </a:solidFill>
              </a:rPr>
              <a:t>Each gap has a fix on the next slides: learn cards, sound, review and sentences</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The big idea: Learn, Play, Review</a:t>
            </a:r>
            <a:endParaRPr lang="en-US" sz="3400" dirty="0"/>
          </a:p>
        </p:txBody>
      </p:sp>
      <p:sp>
        <p:nvSpPr>
          <p:cNvPr id="3" name="Step card 1"/>
          <p:cNvSpPr/>
          <p:nvPr/>
        </p:nvSpPr>
        <p:spPr>
          <a:xfrm>
            <a:off x="548640" y="1463040"/>
            <a:ext cx="3383280" cy="3200400"/>
          </a:xfrm>
          <a:prstGeom prst="roundRect">
            <a:avLst>
              <a:gd name="adj" fmla="val 4286"/>
            </a:avLst>
          </a:prstGeom>
          <a:solidFill>
            <a:schemeClr val="bg2"/>
          </a:solidFill>
          <a:ln w="12700">
            <a:solidFill>
              <a:schemeClr val="bg2"/>
            </a:solidFill>
            <a:prstDash val="solid"/>
          </a:ln>
        </p:spPr>
      </p:sp>
      <p:sp>
        <p:nvSpPr>
          <p:cNvPr id="4" name="Step 1 circle"/>
          <p:cNvSpPr/>
          <p:nvPr/>
        </p:nvSpPr>
        <p:spPr>
          <a:xfrm>
            <a:off x="868680" y="1737360"/>
            <a:ext cx="914400" cy="914400"/>
          </a:xfrm>
          <a:prstGeom prst="ellipse">
            <a:avLst/>
          </a:prstGeom>
          <a:solidFill>
            <a:schemeClr val="accent2"/>
          </a:solidFill>
          <a:ln w="12700">
            <a:solidFill>
              <a:schemeClr val="accent2"/>
            </a:solidFill>
            <a:prstDash val="solid"/>
          </a:ln>
        </p:spPr>
      </p:sp>
      <p:pic>
        <p:nvPicPr>
          <p:cNvPr id="5" name="Step 1 icon" descr="Step 1">    </p:cNvPr>
          <p:cNvPicPr>
            <a:picLocks noChangeAspect="1"/>
          </p:cNvPicPr>
          <p:nvPr/>
        </p:nvPicPr>
        <p:blipFill>
          <a:blip r:embed="rId1"/>
          <a:stretch>
            <a:fillRect/>
          </a:stretch>
        </p:blipFill>
        <p:spPr>
          <a:xfrm>
            <a:off x="1115568" y="1984248"/>
            <a:ext cx="420624" cy="420624"/>
          </a:xfrm>
          <a:prstGeom prst="rect">
            <a:avLst/>
          </a:prstGeom>
        </p:spPr>
      </p:pic>
      <p:sp>
        <p:nvSpPr>
          <p:cNvPr id="6" name="Step title 1"/>
          <p:cNvSpPr txBox="1"/>
          <p:nvPr/>
        </p:nvSpPr>
        <p:spPr>
          <a:xfrm>
            <a:off x="1965960" y="1737360"/>
            <a:ext cx="1828800" cy="914400"/>
          </a:xfrm>
          <a:prstGeom prst="rect">
            <a:avLst/>
          </a:prstGeom>
          <a:noFill/>
          <a:ln/>
        </p:spPr>
        <p:txBody>
          <a:bodyPr wrap="square" lIns="0" tIns="0" rIns="0" bIns="0" rtlCol="0" anchor="ctr"/>
          <a:lstStyle/>
          <a:p>
            <a:pPr indent="0" marL="0">
              <a:buNone/>
            </a:pPr>
            <a:r>
              <a:rPr lang="en-US" sz="2800" b="1" dirty="0">
                <a:solidFill>
                  <a:schemeClr val="tx1"/>
                </a:solidFill>
              </a:rPr>
              <a:t>LEARN</a:t>
            </a:r>
            <a:endParaRPr lang="en-US" sz="2800" dirty="0"/>
          </a:p>
        </p:txBody>
      </p:sp>
      <p:sp>
        <p:nvSpPr>
          <p:cNvPr id="7" name="Step text 1"/>
          <p:cNvSpPr txBox="1"/>
          <p:nvPr/>
        </p:nvSpPr>
        <p:spPr>
          <a:xfrm>
            <a:off x="868680" y="2926080"/>
            <a:ext cx="2743200" cy="1645920"/>
          </a:xfrm>
          <a:prstGeom prst="rect">
            <a:avLst/>
          </a:prstGeom>
          <a:noFill/>
          <a:ln/>
        </p:spPr>
        <p:txBody>
          <a:bodyPr wrap="square" lIns="0" tIns="0" rIns="0" bIns="0" rtlCol="0" anchor="t"/>
          <a:lstStyle/>
          <a:p>
            <a:pPr indent="0" marL="0">
              <a:buNone/>
            </a:pPr>
            <a:r>
              <a:rPr lang="en-US" sz="1800" dirty="0">
                <a:solidFill>
                  <a:schemeClr val="tx1"/>
                </a:solidFill>
              </a:rPr>
              <a:t>Meet 6 to 7 words at a time: the word, its meaning and its sound. Short and optional.</a:t>
            </a:r>
            <a:endParaRPr lang="en-US" sz="1800" dirty="0"/>
          </a:p>
        </p:txBody>
      </p:sp>
      <p:pic>
        <p:nvPicPr>
          <p:cNvPr id="8" name="Arrow 1" descr="then">    </p:cNvPr>
          <p:cNvPicPr>
            <a:picLocks noChangeAspect="1"/>
          </p:cNvPicPr>
          <p:nvPr/>
        </p:nvPicPr>
        <p:blipFill>
          <a:blip r:embed="rId2"/>
          <a:stretch>
            <a:fillRect/>
          </a:stretch>
        </p:blipFill>
        <p:spPr>
          <a:xfrm>
            <a:off x="4005072" y="3017520"/>
            <a:ext cx="310896" cy="310896"/>
          </a:xfrm>
          <a:prstGeom prst="rect">
            <a:avLst/>
          </a:prstGeom>
        </p:spPr>
      </p:pic>
      <p:sp>
        <p:nvSpPr>
          <p:cNvPr id="9" name="Step card 2"/>
          <p:cNvSpPr/>
          <p:nvPr/>
        </p:nvSpPr>
        <p:spPr>
          <a:xfrm>
            <a:off x="4389120" y="1463040"/>
            <a:ext cx="3383280" cy="3200400"/>
          </a:xfrm>
          <a:prstGeom prst="roundRect">
            <a:avLst>
              <a:gd name="adj" fmla="val 4286"/>
            </a:avLst>
          </a:prstGeom>
          <a:solidFill>
            <a:schemeClr val="bg2"/>
          </a:solidFill>
          <a:ln w="12700">
            <a:solidFill>
              <a:schemeClr val="bg2"/>
            </a:solidFill>
            <a:prstDash val="solid"/>
          </a:ln>
        </p:spPr>
      </p:sp>
      <p:sp>
        <p:nvSpPr>
          <p:cNvPr id="10" name="Step 2 circle"/>
          <p:cNvSpPr/>
          <p:nvPr/>
        </p:nvSpPr>
        <p:spPr>
          <a:xfrm>
            <a:off x="4709160" y="1737360"/>
            <a:ext cx="914400" cy="914400"/>
          </a:xfrm>
          <a:prstGeom prst="ellipse">
            <a:avLst/>
          </a:prstGeom>
          <a:solidFill>
            <a:schemeClr val="accent3"/>
          </a:solidFill>
          <a:ln w="12700">
            <a:solidFill>
              <a:schemeClr val="accent3"/>
            </a:solidFill>
            <a:prstDash val="solid"/>
          </a:ln>
        </p:spPr>
      </p:sp>
      <p:pic>
        <p:nvPicPr>
          <p:cNvPr id="11" name="Step 2 icon" descr="Step 2">    </p:cNvPr>
          <p:cNvPicPr>
            <a:picLocks noChangeAspect="1"/>
          </p:cNvPicPr>
          <p:nvPr/>
        </p:nvPicPr>
        <p:blipFill>
          <a:blip r:embed="rId3"/>
          <a:stretch>
            <a:fillRect/>
          </a:stretch>
        </p:blipFill>
        <p:spPr>
          <a:xfrm>
            <a:off x="4956048" y="1984248"/>
            <a:ext cx="420624" cy="420624"/>
          </a:xfrm>
          <a:prstGeom prst="rect">
            <a:avLst/>
          </a:prstGeom>
        </p:spPr>
      </p:pic>
      <p:sp>
        <p:nvSpPr>
          <p:cNvPr id="12" name="Step title 2"/>
          <p:cNvSpPr txBox="1"/>
          <p:nvPr/>
        </p:nvSpPr>
        <p:spPr>
          <a:xfrm>
            <a:off x="5806440" y="1737360"/>
            <a:ext cx="1828800" cy="914400"/>
          </a:xfrm>
          <a:prstGeom prst="rect">
            <a:avLst/>
          </a:prstGeom>
          <a:noFill/>
          <a:ln/>
        </p:spPr>
        <p:txBody>
          <a:bodyPr wrap="square" lIns="0" tIns="0" rIns="0" bIns="0" rtlCol="0" anchor="ctr"/>
          <a:lstStyle/>
          <a:p>
            <a:pPr indent="0" marL="0">
              <a:buNone/>
            </a:pPr>
            <a:r>
              <a:rPr lang="en-US" sz="2800" b="1" dirty="0">
                <a:solidFill>
                  <a:schemeClr val="tx1"/>
                </a:solidFill>
              </a:rPr>
              <a:t>PLAY</a:t>
            </a:r>
            <a:endParaRPr lang="en-US" sz="2800" dirty="0"/>
          </a:p>
        </p:txBody>
      </p:sp>
      <p:sp>
        <p:nvSpPr>
          <p:cNvPr id="13" name="Step text 2"/>
          <p:cNvSpPr txBox="1"/>
          <p:nvPr/>
        </p:nvSpPr>
        <p:spPr>
          <a:xfrm>
            <a:off x="4709160" y="2926080"/>
            <a:ext cx="2743200" cy="1645920"/>
          </a:xfrm>
          <a:prstGeom prst="rect">
            <a:avLst/>
          </a:prstGeom>
          <a:noFill/>
          <a:ln/>
        </p:spPr>
        <p:txBody>
          <a:bodyPr wrap="square" lIns="0" tIns="0" rIns="0" bIns="0" rtlCol="0" anchor="t"/>
          <a:lstStyle/>
          <a:p>
            <a:pPr indent="0" marL="0">
              <a:buNone/>
            </a:pPr>
            <a:r>
              <a:rPr lang="en-US" sz="1800" dirty="0">
                <a:solidFill>
                  <a:schemeClr val="tx1"/>
                </a:solidFill>
              </a:rPr>
              <a:t>Wordle, Crossword and Word Search use exactly those words, so playing is practice.</a:t>
            </a:r>
            <a:endParaRPr lang="en-US" sz="1800" dirty="0"/>
          </a:p>
        </p:txBody>
      </p:sp>
      <p:pic>
        <p:nvPicPr>
          <p:cNvPr id="14" name="Arrow 2" descr="then">    </p:cNvPr>
          <p:cNvPicPr>
            <a:picLocks noChangeAspect="1"/>
          </p:cNvPicPr>
          <p:nvPr/>
        </p:nvPicPr>
        <p:blipFill>
          <a:blip r:embed="rId4"/>
          <a:stretch>
            <a:fillRect/>
          </a:stretch>
        </p:blipFill>
        <p:spPr>
          <a:xfrm>
            <a:off x="7845552" y="3017520"/>
            <a:ext cx="310896" cy="310896"/>
          </a:xfrm>
          <a:prstGeom prst="rect">
            <a:avLst/>
          </a:prstGeom>
        </p:spPr>
      </p:pic>
      <p:sp>
        <p:nvSpPr>
          <p:cNvPr id="15" name="Step card 3"/>
          <p:cNvSpPr/>
          <p:nvPr/>
        </p:nvSpPr>
        <p:spPr>
          <a:xfrm>
            <a:off x="8229600" y="1463040"/>
            <a:ext cx="3383280" cy="3200400"/>
          </a:xfrm>
          <a:prstGeom prst="roundRect">
            <a:avLst>
              <a:gd name="adj" fmla="val 4286"/>
            </a:avLst>
          </a:prstGeom>
          <a:solidFill>
            <a:schemeClr val="bg2"/>
          </a:solidFill>
          <a:ln w="12700">
            <a:solidFill>
              <a:schemeClr val="bg2"/>
            </a:solidFill>
            <a:prstDash val="solid"/>
          </a:ln>
        </p:spPr>
      </p:sp>
      <p:sp>
        <p:nvSpPr>
          <p:cNvPr id="16" name="Step 3 circle"/>
          <p:cNvSpPr/>
          <p:nvPr/>
        </p:nvSpPr>
        <p:spPr>
          <a:xfrm>
            <a:off x="8549640" y="1737360"/>
            <a:ext cx="914400" cy="914400"/>
          </a:xfrm>
          <a:prstGeom prst="ellipse">
            <a:avLst/>
          </a:prstGeom>
          <a:solidFill>
            <a:schemeClr val="accent4"/>
          </a:solidFill>
          <a:ln w="12700">
            <a:solidFill>
              <a:schemeClr val="accent4"/>
            </a:solidFill>
            <a:prstDash val="solid"/>
          </a:ln>
        </p:spPr>
      </p:sp>
      <p:pic>
        <p:nvPicPr>
          <p:cNvPr id="17" name="Step 3 icon" descr="Step 3">    </p:cNvPr>
          <p:cNvPicPr>
            <a:picLocks noChangeAspect="1"/>
          </p:cNvPicPr>
          <p:nvPr/>
        </p:nvPicPr>
        <p:blipFill>
          <a:blip r:embed="rId5"/>
          <a:stretch>
            <a:fillRect/>
          </a:stretch>
        </p:blipFill>
        <p:spPr>
          <a:xfrm>
            <a:off x="8796528" y="1984248"/>
            <a:ext cx="420624" cy="420624"/>
          </a:xfrm>
          <a:prstGeom prst="rect">
            <a:avLst/>
          </a:prstGeom>
        </p:spPr>
      </p:pic>
      <p:sp>
        <p:nvSpPr>
          <p:cNvPr id="18" name="Step title 3"/>
          <p:cNvSpPr txBox="1"/>
          <p:nvPr/>
        </p:nvSpPr>
        <p:spPr>
          <a:xfrm>
            <a:off x="9646920" y="1737360"/>
            <a:ext cx="1828800" cy="914400"/>
          </a:xfrm>
          <a:prstGeom prst="rect">
            <a:avLst/>
          </a:prstGeom>
          <a:noFill/>
          <a:ln/>
        </p:spPr>
        <p:txBody>
          <a:bodyPr wrap="square" lIns="0" tIns="0" rIns="0" bIns="0" rtlCol="0" anchor="ctr"/>
          <a:lstStyle/>
          <a:p>
            <a:pPr indent="0" marL="0">
              <a:buNone/>
            </a:pPr>
            <a:r>
              <a:rPr lang="en-US" sz="2800" b="1" dirty="0">
                <a:solidFill>
                  <a:schemeClr val="tx1"/>
                </a:solidFill>
              </a:rPr>
              <a:t>REVIEW</a:t>
            </a:r>
            <a:endParaRPr lang="en-US" sz="2800" dirty="0"/>
          </a:p>
        </p:txBody>
      </p:sp>
      <p:sp>
        <p:nvSpPr>
          <p:cNvPr id="19" name="Step text 3"/>
          <p:cNvSpPr txBox="1"/>
          <p:nvPr/>
        </p:nvSpPr>
        <p:spPr>
          <a:xfrm>
            <a:off x="8549640" y="2926080"/>
            <a:ext cx="2743200" cy="1645920"/>
          </a:xfrm>
          <a:prstGeom prst="rect">
            <a:avLst/>
          </a:prstGeom>
          <a:noFill/>
          <a:ln/>
        </p:spPr>
        <p:txBody>
          <a:bodyPr wrap="square" lIns="0" tIns="0" rIns="0" bIns="0" rtlCol="0" anchor="t"/>
          <a:lstStyle/>
          <a:p>
            <a:pPr indent="0" marL="0">
              <a:buNone/>
            </a:pPr>
            <a:r>
              <a:rPr lang="en-US" sz="1800" dirty="0">
                <a:solidFill>
                  <a:schemeClr val="tx1"/>
                </a:solidFill>
              </a:rPr>
              <a:t>Words the player missed or needed a hint for come back later until they are known.</a:t>
            </a:r>
            <a:endParaRPr lang="en-US" sz="1800" dirty="0"/>
          </a:p>
        </p:txBody>
      </p:sp>
      <p:sp>
        <p:nvSpPr>
          <p:cNvPr id="20" name="Word list band"/>
          <p:cNvSpPr/>
          <p:nvPr/>
        </p:nvSpPr>
        <p:spPr>
          <a:xfrm>
            <a:off x="548640" y="4983480"/>
            <a:ext cx="11064240" cy="1188720"/>
          </a:xfrm>
          <a:prstGeom prst="roundRect">
            <a:avLst>
              <a:gd name="adj" fmla="val 11538"/>
            </a:avLst>
          </a:prstGeom>
          <a:solidFill>
            <a:schemeClr val="tx2"/>
          </a:solidFill>
          <a:ln w="12700">
            <a:solidFill>
              <a:schemeClr val="tx2"/>
            </a:solidFill>
            <a:prstDash val="solid"/>
          </a:ln>
        </p:spPr>
      </p:sp>
      <p:sp>
        <p:nvSpPr>
          <p:cNvPr id="21" name="Word count stat"/>
          <p:cNvSpPr txBox="1"/>
          <p:nvPr/>
        </p:nvSpPr>
        <p:spPr>
          <a:xfrm>
            <a:off x="822960" y="4983480"/>
            <a:ext cx="1554480" cy="1188720"/>
          </a:xfrm>
          <a:prstGeom prst="rect">
            <a:avLst/>
          </a:prstGeom>
          <a:noFill/>
          <a:ln/>
        </p:spPr>
        <p:txBody>
          <a:bodyPr wrap="square" lIns="0" tIns="0" rIns="0" bIns="0" rtlCol="0" anchor="ctr"/>
          <a:lstStyle/>
          <a:p>
            <a:pPr indent="0" marL="0">
              <a:buNone/>
            </a:pPr>
            <a:r>
              <a:rPr lang="en-US" sz="4800" b="1" dirty="0">
                <a:solidFill>
                  <a:schemeClr val="accent1"/>
                </a:solidFill>
              </a:rPr>
              <a:t>133</a:t>
            </a:r>
            <a:endParaRPr lang="en-US" sz="4800" dirty="0"/>
          </a:p>
        </p:txBody>
      </p:sp>
      <p:sp>
        <p:nvSpPr>
          <p:cNvPr id="22" name="Word count text"/>
          <p:cNvSpPr txBox="1"/>
          <p:nvPr/>
        </p:nvSpPr>
        <p:spPr>
          <a:xfrm>
            <a:off x="2468880" y="4983480"/>
            <a:ext cx="8869680" cy="1188720"/>
          </a:xfrm>
          <a:prstGeom prst="rect">
            <a:avLst/>
          </a:prstGeom>
          <a:noFill/>
          <a:ln/>
        </p:spPr>
        <p:txBody>
          <a:bodyPr wrap="square" lIns="0" tIns="0" rIns="0" bIns="0" rtlCol="0" anchor="ctr"/>
          <a:lstStyle/>
          <a:p>
            <a:pPr indent="0" marL="0">
              <a:buNone/>
            </a:pPr>
            <a:r>
              <a:rPr lang="en-US" sz="2000" dirty="0">
                <a:solidFill>
                  <a:schemeClr val="bg1"/>
                </a:solidFill>
              </a:rPr>
              <a:t>words per language, the same in all three games. Every lesson helps every game, and every game repeats the lesson.</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Videos, slides or lessons? My opinion</a:t>
            </a:r>
            <a:endParaRPr lang="en-US" sz="3400" dirty="0"/>
          </a:p>
        </p:txBody>
      </p:sp>
      <p:graphicFrame>
        <p:nvGraphicFramePr>
          <p:cNvPr id="6" name="Option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651760"/>
                <a:gridCol w="1737360"/>
                <a:gridCol w="2103120"/>
                <a:gridCol w="2286000"/>
                <a:gridCol w="2286000"/>
              </a:tblGrid>
              <a:tr h="502920">
                <a:tc>
                  <a:txBody>
                    <a:bodyPr/>
                    <a:lstStyle/>
                    <a:p>
                      <a:pPr algn="l" indent="0" marL="0">
                        <a:buNone/>
                      </a:pPr>
                      <a:r>
                        <a:rPr lang="en-US" sz="1400" b="1" dirty="0">
                          <a:solidFill>
                            <a:schemeClr val="bg1"/>
                          </a:solidFill>
                        </a:rPr>
                        <a:t>Option</a:t>
                      </a:r>
                      <a:endParaRPr lang="en-US" sz="14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Real learning</a:t>
                      </a:r>
                      <a:endParaRPr lang="en-US" sz="14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Work to make (3 languages)</a:t>
                      </a:r>
                      <a:endParaRPr lang="en-US" sz="14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Fits a puzzle game</a:t>
                      </a:r>
                      <a:endParaRPr lang="en-US" sz="14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My verdict</a:t>
                      </a:r>
                      <a:endParaRPr lang="en-US" sz="14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tx2"/>
                    </a:solidFill>
                  </a:tcPr>
                </a:tc>
              </a:tr>
              <a:tr h="777240">
                <a:tc>
                  <a:txBody>
                    <a:bodyPr/>
                    <a:lstStyle/>
                    <a:p>
                      <a:pPr indent="0" marL="0">
                        <a:buNone/>
                      </a:pPr>
                      <a:r>
                        <a:rPr lang="en-US" sz="1500" b="1" dirty="0">
                          <a:solidFill>
                            <a:schemeClr val="tx1"/>
                          </a:solidFill>
                        </a:rPr>
                        <a:t>Videos</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Medium</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High</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Poor: leaves the game</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Not the core. Maybe a 1-minute intro later</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2"/>
                    </a:solidFill>
                  </a:tcPr>
                </a:tc>
              </a:tr>
              <a:tr h="685800">
                <a:tc>
                  <a:txBody>
                    <a:bodyPr/>
                    <a:lstStyle/>
                    <a:p>
                      <a:pPr indent="0" marL="0">
                        <a:buNone/>
                      </a:pPr>
                      <a:r>
                        <a:rPr lang="en-US" sz="1500" b="1" dirty="0">
                          <a:solidFill>
                            <a:schemeClr val="tx1"/>
                          </a:solidFill>
                        </a:rPr>
                        <a:t>Slides</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Low (passive)</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Medium</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Poor: players skip them</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Not the core</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1"/>
                          </a:solidFill>
                        </a:rPr>
                        <a:t>A full lesson course</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High</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Very high</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OK, but a different game</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Too big for now</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2"/>
                    </a:solidFill>
                  </a:tcPr>
                </a:tc>
              </a:tr>
              <a:tr h="777240">
                <a:tc>
                  <a:txBody>
                    <a:bodyPr/>
                    <a:lstStyle/>
                    <a:p>
                      <a:pPr indent="0" marL="0">
                        <a:buNone/>
                      </a:pPr>
                      <a:r>
                        <a:rPr lang="en-US" sz="1500" b="1" dirty="0">
                          <a:solidFill>
                            <a:schemeClr val="tx1"/>
                          </a:solidFill>
                        </a:rPr>
                        <a:t>Learn cards inside the game</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High</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Medium</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Great</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b="1" dirty="0">
                          <a:solidFill>
                            <a:schemeClr val="bg1"/>
                          </a:solidFill>
                        </a:rPr>
                        <a:t>Recommended</a:t>
                      </a:r>
                      <a:endParaRPr lang="en-US" sz="1500" dirty="0"/>
                    </a:p>
                  </a:txBody>
                  <a:tcPr marL="109728" marR="109728" marT="45720" marB="45720" anchor="ctr">
                    <a:lnL w="12700" cap="flat" cmpd="sng" algn="ctr">
                      <a:solidFill>
                        <a:srgbClr val="D5DEEA"/>
                      </a:solidFill>
                      <a:prstDash val="solid"/>
                      <a:round/>
                      <a:headEnd type="none" w="med" len="med"/>
                      <a:tailEnd type="none" w="med" len="med"/>
                    </a:lnL>
                    <a:lnR w="12700" cap="flat" cmpd="sng" algn="ctr">
                      <a:solidFill>
                        <a:srgbClr val="D5DEEA"/>
                      </a:solidFill>
                      <a:prstDash val="solid"/>
                      <a:round/>
                      <a:headEnd type="none" w="med" len="med"/>
                      <a:tailEnd type="none" w="med" len="med"/>
                    </a:lnR>
                    <a:lnT w="12700" cap="flat" cmpd="sng" algn="ctr">
                      <a:solidFill>
                        <a:srgbClr val="D5DEEA"/>
                      </a:solidFill>
                      <a:prstDash val="solid"/>
                      <a:round/>
                      <a:headEnd type="none" w="med" len="med"/>
                      <a:tailEnd type="none" w="med" len="med"/>
                    </a:lnT>
                    <a:lnB w="12700" cap="flat" cmpd="sng" algn="ctr">
                      <a:solidFill>
                        <a:srgbClr val="D5DEEA"/>
                      </a:solidFill>
                      <a:prstDash val="solid"/>
                      <a:round/>
                      <a:headEnd type="none" w="med" len="med"/>
                      <a:tailEnd type="none" w="med" len="med"/>
                    </a:lnB>
                    <a:solidFill>
                      <a:schemeClr val="accent2"/>
                    </a:solidFill>
                  </a:tcPr>
                </a:tc>
              </a:tr>
            </a:tbl>
          </a:graphicData>
        </a:graphic>
      </p:graphicFrame>
      <p:sp>
        <p:nvSpPr>
          <p:cNvPr id="4" name="Opinion band"/>
          <p:cNvSpPr/>
          <p:nvPr/>
        </p:nvSpPr>
        <p:spPr>
          <a:xfrm>
            <a:off x="548640" y="5394960"/>
            <a:ext cx="11064240" cy="868680"/>
          </a:xfrm>
          <a:prstGeom prst="roundRect">
            <a:avLst>
              <a:gd name="adj" fmla="val 15789"/>
            </a:avLst>
          </a:prstGeom>
          <a:solidFill>
            <a:schemeClr val="bg2"/>
          </a:solidFill>
          <a:ln w="12700">
            <a:solidFill>
              <a:schemeClr val="bg2"/>
            </a:solidFill>
            <a:prstDash val="solid"/>
          </a:ln>
        </p:spPr>
      </p:sp>
      <p:sp>
        <p:nvSpPr>
          <p:cNvPr id="5" name="Opinion text"/>
          <p:cNvSpPr txBox="1"/>
          <p:nvPr/>
        </p:nvSpPr>
        <p:spPr>
          <a:xfrm>
            <a:off x="822960" y="5394960"/>
            <a:ext cx="10515600" cy="868680"/>
          </a:xfrm>
          <a:prstGeom prst="rect">
            <a:avLst/>
          </a:prstGeom>
          <a:noFill/>
          <a:ln/>
        </p:spPr>
        <p:txBody>
          <a:bodyPr wrap="square" lIns="0" tIns="0" rIns="0" bIns="0" rtlCol="0" anchor="ctr"/>
          <a:lstStyle/>
          <a:p>
            <a:pPr indent="0" marL="0">
              <a:buNone/>
            </a:pPr>
            <a:r>
              <a:rPr lang="en-US" sz="1700" b="1" dirty="0">
                <a:solidFill>
                  <a:schemeClr val="tx1"/>
                </a:solidFill>
              </a:rPr>
              <a:t>My opinion: </a:t>
            </a:r>
            <a:pPr indent="0" marL="0">
              <a:buNone/>
            </a:pPr>
            <a:r>
              <a:rPr lang="en-US" sz="1700" dirty="0">
                <a:solidFill>
                  <a:schemeClr val="tx1"/>
                </a:solidFill>
              </a:rPr>
              <a:t>teach inside the game, in small pieces. Videos and slides are passive, cost the most to produce in three languages, and players tend to skip them.</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Idea 1: Learn cards before each topic</a:t>
            </a:r>
            <a:endParaRPr lang="en-US" sz="3400" dirty="0"/>
          </a:p>
        </p:txBody>
      </p:sp>
      <p:sp>
        <p:nvSpPr>
          <p:cNvPr id="3" name="Learn bullets"/>
          <p:cNvSpPr txBox="1"/>
          <p:nvPr/>
        </p:nvSpPr>
        <p:spPr>
          <a:xfrm>
            <a:off x="548640" y="1463040"/>
            <a:ext cx="512064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7 topics, each in 3 short sets of 6 to 7 words, the same sets as the Word Search puzzles</a:t>
            </a:r>
            <a:endParaRPr lang="en-US" sz="1700" dirty="0"/>
          </a:p>
          <a:p>
            <a:pPr marL="342900" indent="-342900">
              <a:spcAft>
                <a:spcPts val="800"/>
              </a:spcAft>
              <a:buSzPct val="100000"/>
              <a:buChar char="•"/>
            </a:pPr>
            <a:r>
              <a:rPr lang="en-US" sz="1700" dirty="0">
                <a:solidFill>
                  <a:schemeClr val="tx1"/>
                </a:solidFill>
              </a:rPr>
              <a:t>One card per word: the word, its English meaning, a sound button and one example sentence</a:t>
            </a:r>
            <a:endParaRPr lang="en-US" sz="1700" dirty="0"/>
          </a:p>
          <a:p>
            <a:pPr marL="342900" indent="-342900">
              <a:spcAft>
                <a:spcPts val="800"/>
              </a:spcAft>
              <a:buSzPct val="100000"/>
              <a:buChar char="•"/>
            </a:pPr>
            <a:r>
              <a:rPr lang="en-US" sz="1700" dirty="0">
                <a:solidFill>
                  <a:schemeClr val="tx1"/>
                </a:solidFill>
              </a:rPr>
              <a:t>Offered first ('Learn these words first?') but never forced</a:t>
            </a:r>
            <a:endParaRPr lang="en-US" sz="1700" dirty="0"/>
          </a:p>
          <a:p>
            <a:pPr marL="342900" indent="-342900">
              <a:spcAft>
                <a:spcPts val="800"/>
              </a:spcAft>
              <a:buSzPct val="100000"/>
              <a:buChar char="•"/>
            </a:pPr>
            <a:r>
              <a:rPr lang="en-US" sz="1700" dirty="0">
                <a:solidFill>
                  <a:schemeClr val="tx1"/>
                </a:solidFill>
              </a:rPr>
              <a:t>The words are already in the data, so this needs little new content</a:t>
            </a:r>
            <a:endParaRPr lang="en-US" sz="1700" dirty="0"/>
          </a:p>
        </p:txBody>
      </p:sp>
      <p:sp>
        <p:nvSpPr>
          <p:cNvPr id="4" name="Set size card"/>
          <p:cNvSpPr/>
          <p:nvPr/>
        </p:nvSpPr>
        <p:spPr>
          <a:xfrm>
            <a:off x="548640" y="4754880"/>
            <a:ext cx="5120640" cy="1463040"/>
          </a:xfrm>
          <a:prstGeom prst="roundRect">
            <a:avLst>
              <a:gd name="adj" fmla="val 9375"/>
            </a:avLst>
          </a:prstGeom>
          <a:solidFill>
            <a:schemeClr val="bg2"/>
          </a:solidFill>
          <a:ln w="12700">
            <a:solidFill>
              <a:schemeClr val="bg2"/>
            </a:solidFill>
            <a:prstDash val="solid"/>
          </a:ln>
        </p:spPr>
      </p:sp>
      <p:sp>
        <p:nvSpPr>
          <p:cNvPr id="5" name="Set size stat"/>
          <p:cNvSpPr txBox="1"/>
          <p:nvPr/>
        </p:nvSpPr>
        <p:spPr>
          <a:xfrm>
            <a:off x="822960" y="4754880"/>
            <a:ext cx="1188720" cy="1463040"/>
          </a:xfrm>
          <a:prstGeom prst="rect">
            <a:avLst/>
          </a:prstGeom>
          <a:noFill/>
          <a:ln/>
        </p:spPr>
        <p:txBody>
          <a:bodyPr wrap="square" lIns="0" tIns="0" rIns="0" bIns="0" rtlCol="0" anchor="ctr"/>
          <a:lstStyle/>
          <a:p>
            <a:pPr indent="0" marL="0">
              <a:buNone/>
            </a:pPr>
            <a:r>
              <a:rPr lang="en-US" sz="4800" b="1" dirty="0">
                <a:solidFill>
                  <a:schemeClr val="accent2"/>
                </a:solidFill>
              </a:rPr>
              <a:t>19</a:t>
            </a:r>
            <a:endParaRPr lang="en-US" sz="4800" dirty="0"/>
          </a:p>
        </p:txBody>
      </p:sp>
      <p:sp>
        <p:nvSpPr>
          <p:cNvPr id="6" name="Set size text"/>
          <p:cNvSpPr txBox="1"/>
          <p:nvPr/>
        </p:nvSpPr>
        <p:spPr>
          <a:xfrm>
            <a:off x="2103120" y="4754880"/>
            <a:ext cx="3383280" cy="1463040"/>
          </a:xfrm>
          <a:prstGeom prst="rect">
            <a:avLst/>
          </a:prstGeom>
          <a:noFill/>
          <a:ln/>
        </p:spPr>
        <p:txBody>
          <a:bodyPr wrap="square" lIns="0" tIns="0" rIns="0" bIns="0" rtlCol="0" anchor="ctr"/>
          <a:lstStyle/>
          <a:p>
            <a:pPr indent="0" marL="0">
              <a:buNone/>
            </a:pPr>
            <a:r>
              <a:rPr lang="en-US" sz="1700" dirty="0">
                <a:solidFill>
                  <a:schemeClr val="tx1"/>
                </a:solidFill>
              </a:rPr>
              <a:t>words per topic, 7 topics: the 133 words of one language</a:t>
            </a:r>
            <a:endParaRPr lang="en-US" sz="1700" dirty="0"/>
          </a:p>
        </p:txBody>
      </p:sp>
      <p:sp>
        <p:nvSpPr>
          <p:cNvPr id="7" name="Mock frame"/>
          <p:cNvSpPr/>
          <p:nvPr/>
        </p:nvSpPr>
        <p:spPr>
          <a:xfrm>
            <a:off x="6035040" y="1463040"/>
            <a:ext cx="5577840" cy="4754880"/>
          </a:xfrm>
          <a:prstGeom prst="roundRect">
            <a:avLst>
              <a:gd name="adj" fmla="val 2885"/>
            </a:avLst>
          </a:prstGeom>
          <a:solidFill>
            <a:schemeClr val="bg2"/>
          </a:solidFill>
          <a:ln w="12700">
            <a:solidFill>
              <a:schemeClr val="bg2"/>
            </a:solidFill>
            <a:prstDash val="solid"/>
          </a:ln>
        </p:spPr>
      </p:sp>
      <p:sp>
        <p:nvSpPr>
          <p:cNvPr id="8" name="Mock card"/>
          <p:cNvSpPr/>
          <p:nvPr/>
        </p:nvSpPr>
        <p:spPr>
          <a:xfrm>
            <a:off x="6355080" y="1783080"/>
            <a:ext cx="4937760" cy="4114800"/>
          </a:xfrm>
          <a:prstGeom prst="roundRect">
            <a:avLst>
              <a:gd name="adj" fmla="val 3333"/>
            </a:avLst>
          </a:prstGeom>
          <a:solidFill>
            <a:schemeClr val="bg1"/>
          </a:solidFill>
          <a:ln w="12700">
            <a:solidFill>
              <a:schemeClr val="bg1"/>
            </a:solidFill>
            <a:prstDash val="solid"/>
          </a:ln>
        </p:spPr>
      </p:sp>
      <p:sp>
        <p:nvSpPr>
          <p:cNvPr id="9" name="Mock set label"/>
          <p:cNvSpPr txBox="1"/>
          <p:nvPr/>
        </p:nvSpPr>
        <p:spPr>
          <a:xfrm>
            <a:off x="6629400" y="1965960"/>
            <a:ext cx="2743200" cy="365760"/>
          </a:xfrm>
          <a:prstGeom prst="rect">
            <a:avLst/>
          </a:prstGeom>
          <a:noFill/>
          <a:ln/>
        </p:spPr>
        <p:txBody>
          <a:bodyPr wrap="square" lIns="0" tIns="0" rIns="0" bIns="0" rtlCol="0" anchor="ctr"/>
          <a:lstStyle/>
          <a:p>
            <a:pPr indent="0" marL="0">
              <a:buNone/>
            </a:pPr>
            <a:r>
              <a:rPr lang="en-US" sz="1400" b="1" dirty="0">
                <a:solidFill>
                  <a:schemeClr val="accent6"/>
                </a:solidFill>
              </a:rPr>
              <a:t>Animals · Set A</a:t>
            </a:r>
            <a:endParaRPr lang="en-US" sz="1400" dirty="0"/>
          </a:p>
        </p:txBody>
      </p:sp>
      <p:sp>
        <p:nvSpPr>
          <p:cNvPr id="10" name="Mock counter"/>
          <p:cNvSpPr txBox="1"/>
          <p:nvPr/>
        </p:nvSpPr>
        <p:spPr>
          <a:xfrm>
            <a:off x="9601200" y="1965960"/>
            <a:ext cx="1417320" cy="365760"/>
          </a:xfrm>
          <a:prstGeom prst="rect">
            <a:avLst/>
          </a:prstGeom>
          <a:noFill/>
          <a:ln/>
        </p:spPr>
        <p:txBody>
          <a:bodyPr wrap="square" lIns="0" tIns="0" rIns="0" bIns="0" rtlCol="0" anchor="ctr"/>
          <a:lstStyle/>
          <a:p>
            <a:pPr algn="r" indent="0" marL="0">
              <a:buNone/>
            </a:pPr>
            <a:r>
              <a:rPr lang="en-US" sz="1400" dirty="0">
                <a:solidFill>
                  <a:schemeClr val="accent6"/>
                </a:solidFill>
              </a:rPr>
              <a:t>2 / 7</a:t>
            </a:r>
            <a:endParaRPr lang="en-US" sz="1400" dirty="0"/>
          </a:p>
        </p:txBody>
      </p:sp>
      <p:sp>
        <p:nvSpPr>
          <p:cNvPr id="11" name="Mock word"/>
          <p:cNvSpPr txBox="1"/>
          <p:nvPr/>
        </p:nvSpPr>
        <p:spPr>
          <a:xfrm>
            <a:off x="6629400" y="2423160"/>
            <a:ext cx="4389120" cy="868680"/>
          </a:xfrm>
          <a:prstGeom prst="rect">
            <a:avLst/>
          </a:prstGeom>
          <a:noFill/>
          <a:ln/>
        </p:spPr>
        <p:txBody>
          <a:bodyPr wrap="square" lIns="0" tIns="0" rIns="0" bIns="0" rtlCol="0" anchor="ctr"/>
          <a:lstStyle/>
          <a:p>
            <a:pPr indent="0" marL="0">
              <a:buNone/>
            </a:pPr>
            <a:r>
              <a:rPr lang="en-US" sz="5400" b="1" dirty="0">
                <a:solidFill>
                  <a:schemeClr val="tx1"/>
                </a:solidFill>
              </a:rPr>
              <a:t>BAKI</a:t>
            </a:r>
            <a:endParaRPr lang="en-US" sz="5400" dirty="0"/>
          </a:p>
        </p:txBody>
      </p:sp>
      <p:sp>
        <p:nvSpPr>
          <p:cNvPr id="12" name="Mock meaning"/>
          <p:cNvSpPr txBox="1"/>
          <p:nvPr/>
        </p:nvSpPr>
        <p:spPr>
          <a:xfrm>
            <a:off x="6629400" y="3291840"/>
            <a:ext cx="2743200" cy="457200"/>
          </a:xfrm>
          <a:prstGeom prst="rect">
            <a:avLst/>
          </a:prstGeom>
          <a:noFill/>
          <a:ln/>
        </p:spPr>
        <p:txBody>
          <a:bodyPr wrap="square" lIns="0" tIns="0" rIns="0" bIns="0" rtlCol="0" anchor="ctr"/>
          <a:lstStyle/>
          <a:p>
            <a:pPr indent="0" marL="0">
              <a:buNone/>
            </a:pPr>
            <a:r>
              <a:rPr lang="en-US" sz="2400" b="1" dirty="0">
                <a:solidFill>
                  <a:schemeClr val="accent2"/>
                </a:solidFill>
              </a:rPr>
              <a:t>frog</a:t>
            </a:r>
            <a:endParaRPr lang="en-US" sz="2400" dirty="0"/>
          </a:p>
        </p:txBody>
      </p:sp>
      <p:sp>
        <p:nvSpPr>
          <p:cNvPr id="13" name="Sound circle"/>
          <p:cNvSpPr/>
          <p:nvPr/>
        </p:nvSpPr>
        <p:spPr>
          <a:xfrm>
            <a:off x="9966960" y="2606040"/>
            <a:ext cx="685800" cy="685800"/>
          </a:xfrm>
          <a:prstGeom prst="ellipse">
            <a:avLst/>
          </a:prstGeom>
          <a:solidFill>
            <a:schemeClr val="accent3"/>
          </a:solidFill>
          <a:ln w="12700">
            <a:solidFill>
              <a:schemeClr val="accent3"/>
            </a:solidFill>
            <a:prstDash val="solid"/>
          </a:ln>
        </p:spPr>
      </p:sp>
      <p:pic>
        <p:nvPicPr>
          <p:cNvPr id="14" name="Sound icon" descr="Sound">    </p:cNvPr>
          <p:cNvPicPr>
            <a:picLocks noChangeAspect="1"/>
          </p:cNvPicPr>
          <p:nvPr/>
        </p:nvPicPr>
        <p:blipFill>
          <a:blip r:embed="rId1"/>
          <a:stretch>
            <a:fillRect/>
          </a:stretch>
        </p:blipFill>
        <p:spPr>
          <a:xfrm>
            <a:off x="10152126" y="2791206"/>
            <a:ext cx="315468" cy="315468"/>
          </a:xfrm>
          <a:prstGeom prst="rect">
            <a:avLst/>
          </a:prstGeom>
        </p:spPr>
      </p:pic>
      <p:sp>
        <p:nvSpPr>
          <p:cNvPr id="15" name="Mock sound label"/>
          <p:cNvSpPr txBox="1"/>
          <p:nvPr/>
        </p:nvSpPr>
        <p:spPr>
          <a:xfrm>
            <a:off x="9646920" y="3337560"/>
            <a:ext cx="1371600" cy="320040"/>
          </a:xfrm>
          <a:prstGeom prst="rect">
            <a:avLst/>
          </a:prstGeom>
          <a:noFill/>
          <a:ln/>
        </p:spPr>
        <p:txBody>
          <a:bodyPr wrap="square" lIns="0" tIns="0" rIns="0" bIns="0" rtlCol="0" anchor="ctr"/>
          <a:lstStyle/>
          <a:p>
            <a:pPr algn="ctr" indent="0" marL="0">
              <a:buNone/>
            </a:pPr>
            <a:r>
              <a:rPr lang="en-US" sz="1200" dirty="0">
                <a:solidFill>
                  <a:schemeClr val="accent6"/>
                </a:solidFill>
              </a:rPr>
              <a:t>Tap to hear</a:t>
            </a:r>
            <a:endParaRPr lang="en-US" sz="1200" dirty="0"/>
          </a:p>
        </p:txBody>
      </p:sp>
      <p:sp>
        <p:nvSpPr>
          <p:cNvPr id="16" name="Mock sentence"/>
          <p:cNvSpPr/>
          <p:nvPr/>
        </p:nvSpPr>
        <p:spPr>
          <a:xfrm>
            <a:off x="6629400" y="3886200"/>
            <a:ext cx="4389120" cy="868680"/>
          </a:xfrm>
          <a:prstGeom prst="roundRect">
            <a:avLst>
              <a:gd name="adj" fmla="val 15789"/>
            </a:avLst>
          </a:prstGeom>
          <a:solidFill>
            <a:schemeClr val="bg2"/>
          </a:solidFill>
          <a:ln w="12700">
            <a:solidFill>
              <a:schemeClr val="bg2"/>
            </a:solidFill>
            <a:prstDash val="solid"/>
          </a:ln>
        </p:spPr>
      </p:sp>
      <p:sp>
        <p:nvSpPr>
          <p:cNvPr id="17" name="Mock sentence text"/>
          <p:cNvSpPr txBox="1"/>
          <p:nvPr/>
        </p:nvSpPr>
        <p:spPr>
          <a:xfrm>
            <a:off x="6766560" y="3886200"/>
            <a:ext cx="4114800" cy="868680"/>
          </a:xfrm>
          <a:prstGeom prst="rect">
            <a:avLst/>
          </a:prstGeom>
          <a:noFill/>
          <a:ln/>
        </p:spPr>
        <p:txBody>
          <a:bodyPr wrap="square" lIns="0" tIns="0" rIns="0" bIns="0" rtlCol="0" anchor="ctr"/>
          <a:lstStyle/>
          <a:p>
            <a:pPr indent="0" marL="0">
              <a:buNone/>
            </a:pPr>
            <a:r>
              <a:rPr lang="en-US" sz="1400" i="1" dirty="0">
                <a:solidFill>
                  <a:schemeClr val="tx1"/>
                </a:solidFill>
              </a:rPr>
              <a:t>Example sentence, written and checked by a native speaker</a:t>
            </a:r>
            <a:endParaRPr lang="en-US" sz="1400" dirty="0"/>
          </a:p>
        </p:txBody>
      </p:sp>
      <p:sp>
        <p:nvSpPr>
          <p:cNvPr id="18" name="Mock back"/>
          <p:cNvSpPr/>
          <p:nvPr/>
        </p:nvSpPr>
        <p:spPr>
          <a:xfrm>
            <a:off x="6629400" y="4983480"/>
            <a:ext cx="1188720" cy="640080"/>
          </a:xfrm>
          <a:prstGeom prst="roundRect">
            <a:avLst>
              <a:gd name="adj" fmla="val 14286"/>
            </a:avLst>
          </a:prstGeom>
          <a:solidFill>
            <a:schemeClr val="bg2"/>
          </a:solidFill>
          <a:ln w="12700">
            <a:solidFill>
              <a:schemeClr val="bg2"/>
            </a:solidFill>
            <a:prstDash val="solid"/>
          </a:ln>
        </p:spPr>
      </p:sp>
      <p:sp>
        <p:nvSpPr>
          <p:cNvPr id="19" name="Mock back text"/>
          <p:cNvSpPr txBox="1"/>
          <p:nvPr/>
        </p:nvSpPr>
        <p:spPr>
          <a:xfrm>
            <a:off x="6629400" y="4983480"/>
            <a:ext cx="1188720" cy="640080"/>
          </a:xfrm>
          <a:prstGeom prst="rect">
            <a:avLst/>
          </a:prstGeom>
          <a:noFill/>
          <a:ln/>
        </p:spPr>
        <p:txBody>
          <a:bodyPr wrap="square" lIns="0" tIns="0" rIns="0" bIns="0" rtlCol="0" anchor="ctr"/>
          <a:lstStyle/>
          <a:p>
            <a:pPr algn="ctr" indent="0" marL="0">
              <a:buNone/>
            </a:pPr>
            <a:r>
              <a:rPr lang="en-US" sz="1600" b="1" dirty="0">
                <a:solidFill>
                  <a:schemeClr val="tx1"/>
                </a:solidFill>
              </a:rPr>
              <a:t>Back</a:t>
            </a:r>
            <a:endParaRPr lang="en-US" sz="1600" dirty="0"/>
          </a:p>
        </p:txBody>
      </p:sp>
      <p:sp>
        <p:nvSpPr>
          <p:cNvPr id="20" name="Mock next"/>
          <p:cNvSpPr/>
          <p:nvPr/>
        </p:nvSpPr>
        <p:spPr>
          <a:xfrm>
            <a:off x="7955280" y="4983480"/>
            <a:ext cx="1188720" cy="640080"/>
          </a:xfrm>
          <a:prstGeom prst="roundRect">
            <a:avLst>
              <a:gd name="adj" fmla="val 14286"/>
            </a:avLst>
          </a:prstGeom>
          <a:solidFill>
            <a:schemeClr val="accent1"/>
          </a:solidFill>
          <a:ln w="12700">
            <a:solidFill>
              <a:schemeClr val="accent1"/>
            </a:solidFill>
            <a:prstDash val="solid"/>
          </a:ln>
        </p:spPr>
      </p:sp>
      <p:sp>
        <p:nvSpPr>
          <p:cNvPr id="21" name="Mock next text"/>
          <p:cNvSpPr txBox="1"/>
          <p:nvPr/>
        </p:nvSpPr>
        <p:spPr>
          <a:xfrm>
            <a:off x="7955280" y="4983480"/>
            <a:ext cx="1188720" cy="640080"/>
          </a:xfrm>
          <a:prstGeom prst="rect">
            <a:avLst/>
          </a:prstGeom>
          <a:noFill/>
          <a:ln/>
        </p:spPr>
        <p:txBody>
          <a:bodyPr wrap="square" lIns="0" tIns="0" rIns="0" bIns="0" rtlCol="0" anchor="ctr"/>
          <a:lstStyle/>
          <a:p>
            <a:pPr algn="ctr" indent="0" marL="0">
              <a:buNone/>
            </a:pPr>
            <a:r>
              <a:rPr lang="en-US" sz="1600" b="1" dirty="0">
                <a:solidFill>
                  <a:schemeClr val="tx2"/>
                </a:solidFill>
              </a:rPr>
              <a:t>Next</a:t>
            </a:r>
            <a:endParaRPr lang="en-US" sz="1600" dirty="0"/>
          </a:p>
        </p:txBody>
      </p:sp>
      <p:sp>
        <p:nvSpPr>
          <p:cNvPr id="22" name="Mock play"/>
          <p:cNvSpPr/>
          <p:nvPr/>
        </p:nvSpPr>
        <p:spPr>
          <a:xfrm>
            <a:off x="9326880" y="4983480"/>
            <a:ext cx="1691640" cy="640080"/>
          </a:xfrm>
          <a:prstGeom prst="roundRect">
            <a:avLst>
              <a:gd name="adj" fmla="val 14286"/>
            </a:avLst>
          </a:prstGeom>
          <a:solidFill>
            <a:schemeClr val="accent2"/>
          </a:solidFill>
          <a:ln w="12700">
            <a:solidFill>
              <a:schemeClr val="accent2"/>
            </a:solidFill>
            <a:prstDash val="solid"/>
          </a:ln>
        </p:spPr>
      </p:sp>
      <p:sp>
        <p:nvSpPr>
          <p:cNvPr id="23" name="Mock play text"/>
          <p:cNvSpPr txBox="1"/>
          <p:nvPr/>
        </p:nvSpPr>
        <p:spPr>
          <a:xfrm>
            <a:off x="9326880" y="4983480"/>
            <a:ext cx="1691640" cy="640080"/>
          </a:xfrm>
          <a:prstGeom prst="rect">
            <a:avLst/>
          </a:prstGeom>
          <a:noFill/>
          <a:ln/>
        </p:spPr>
        <p:txBody>
          <a:bodyPr wrap="square" lIns="0" tIns="0" rIns="0" bIns="0" rtlCol="0" anchor="ctr"/>
          <a:lstStyle/>
          <a:p>
            <a:pPr algn="ctr" indent="0" marL="0">
              <a:buNone/>
            </a:pPr>
            <a:r>
              <a:rPr lang="en-US" sz="1600" b="1" dirty="0">
                <a:solidFill>
                  <a:schemeClr val="bg1"/>
                </a:solidFill>
              </a:rPr>
              <a:t>Start puzzle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Idea 2: Let each game teach while it is played</a:t>
            </a:r>
            <a:endParaRPr lang="en-US" sz="3400" dirty="0"/>
          </a:p>
        </p:txBody>
      </p:sp>
      <p:sp>
        <p:nvSpPr>
          <p:cNvPr id="3" name="Game card Wordle"/>
          <p:cNvSpPr/>
          <p:nvPr/>
        </p:nvSpPr>
        <p:spPr>
          <a:xfrm>
            <a:off x="548640" y="1463040"/>
            <a:ext cx="3383280" cy="2834640"/>
          </a:xfrm>
          <a:prstGeom prst="roundRect">
            <a:avLst>
              <a:gd name="adj" fmla="val 4839"/>
            </a:avLst>
          </a:prstGeom>
          <a:solidFill>
            <a:schemeClr val="bg2"/>
          </a:solidFill>
          <a:ln w="12700">
            <a:solidFill>
              <a:schemeClr val="bg2"/>
            </a:solidFill>
            <a:prstDash val="solid"/>
          </a:ln>
        </p:spPr>
      </p:sp>
      <p:sp>
        <p:nvSpPr>
          <p:cNvPr id="4" name="Wordle circle"/>
          <p:cNvSpPr/>
          <p:nvPr/>
        </p:nvSpPr>
        <p:spPr>
          <a:xfrm>
            <a:off x="822960" y="1691640"/>
            <a:ext cx="731520" cy="731520"/>
          </a:xfrm>
          <a:prstGeom prst="ellipse">
            <a:avLst/>
          </a:prstGeom>
          <a:solidFill>
            <a:schemeClr val="accent2"/>
          </a:solidFill>
          <a:ln w="12700">
            <a:solidFill>
              <a:schemeClr val="accent2"/>
            </a:solidFill>
            <a:prstDash val="solid"/>
          </a:ln>
        </p:spPr>
      </p:sp>
      <p:pic>
        <p:nvPicPr>
          <p:cNvPr id="5" name="Wordle icon" descr="Wordle">    </p:cNvPr>
          <p:cNvPicPr>
            <a:picLocks noChangeAspect="1"/>
          </p:cNvPicPr>
          <p:nvPr/>
        </p:nvPicPr>
        <p:blipFill>
          <a:blip r:embed="rId1"/>
          <a:stretch>
            <a:fillRect/>
          </a:stretch>
        </p:blipFill>
        <p:spPr>
          <a:xfrm>
            <a:off x="1020470" y="1889150"/>
            <a:ext cx="336499" cy="336499"/>
          </a:xfrm>
          <a:prstGeom prst="rect">
            <a:avLst/>
          </a:prstGeom>
        </p:spPr>
      </p:pic>
      <p:sp>
        <p:nvSpPr>
          <p:cNvPr id="6" name="Game title Wordle"/>
          <p:cNvSpPr txBox="1"/>
          <p:nvPr/>
        </p:nvSpPr>
        <p:spPr>
          <a:xfrm>
            <a:off x="1737360" y="1691640"/>
            <a:ext cx="2011680" cy="731520"/>
          </a:xfrm>
          <a:prstGeom prst="rect">
            <a:avLst/>
          </a:prstGeom>
          <a:noFill/>
          <a:ln/>
        </p:spPr>
        <p:txBody>
          <a:bodyPr wrap="square" lIns="0" tIns="0" rIns="0" bIns="0" rtlCol="0" anchor="ctr"/>
          <a:lstStyle/>
          <a:p>
            <a:pPr indent="0" marL="0">
              <a:buNone/>
            </a:pPr>
            <a:r>
              <a:rPr lang="en-US" sz="2200" b="1" dirty="0">
                <a:solidFill>
                  <a:schemeClr val="tx1"/>
                </a:solidFill>
              </a:rPr>
              <a:t>Wordle</a:t>
            </a:r>
            <a:endParaRPr lang="en-US" sz="2200" dirty="0"/>
          </a:p>
        </p:txBody>
      </p:sp>
      <p:sp>
        <p:nvSpPr>
          <p:cNvPr id="7" name="Game list Wordle"/>
          <p:cNvSpPr txBox="1"/>
          <p:nvPr/>
        </p:nvSpPr>
        <p:spPr>
          <a:xfrm>
            <a:off x="822960" y="2606040"/>
            <a:ext cx="288036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After every answer: the word, its meaning and its sound</a:t>
            </a:r>
            <a:endParaRPr lang="en-US" sz="1600" dirty="0"/>
          </a:p>
          <a:p>
            <a:pPr marL="342900" indent="-342900">
              <a:spcAft>
                <a:spcPts val="800"/>
              </a:spcAft>
              <a:buSzPct val="100000"/>
              <a:buChar char="•"/>
            </a:pPr>
            <a:r>
              <a:rPr lang="en-US" sz="1600" dirty="0">
                <a:solidFill>
                  <a:schemeClr val="tx1"/>
                </a:solidFill>
              </a:rPr>
              <a:t>Easy mode: a word bank of the topic's words</a:t>
            </a:r>
            <a:endParaRPr lang="en-US" sz="1600" dirty="0"/>
          </a:p>
        </p:txBody>
      </p:sp>
      <p:sp>
        <p:nvSpPr>
          <p:cNvPr id="8" name="Game card Crossword"/>
          <p:cNvSpPr/>
          <p:nvPr/>
        </p:nvSpPr>
        <p:spPr>
          <a:xfrm>
            <a:off x="4389120" y="1463040"/>
            <a:ext cx="3383280" cy="2834640"/>
          </a:xfrm>
          <a:prstGeom prst="roundRect">
            <a:avLst>
              <a:gd name="adj" fmla="val 4839"/>
            </a:avLst>
          </a:prstGeom>
          <a:solidFill>
            <a:schemeClr val="bg2"/>
          </a:solidFill>
          <a:ln w="12700">
            <a:solidFill>
              <a:schemeClr val="bg2"/>
            </a:solidFill>
            <a:prstDash val="solid"/>
          </a:ln>
        </p:spPr>
      </p:sp>
      <p:sp>
        <p:nvSpPr>
          <p:cNvPr id="9" name="Crossword circle"/>
          <p:cNvSpPr/>
          <p:nvPr/>
        </p:nvSpPr>
        <p:spPr>
          <a:xfrm>
            <a:off x="4663440" y="1691640"/>
            <a:ext cx="731520" cy="731520"/>
          </a:xfrm>
          <a:prstGeom prst="ellipse">
            <a:avLst/>
          </a:prstGeom>
          <a:solidFill>
            <a:schemeClr val="accent3"/>
          </a:solidFill>
          <a:ln w="12700">
            <a:solidFill>
              <a:schemeClr val="accent3"/>
            </a:solidFill>
            <a:prstDash val="solid"/>
          </a:ln>
        </p:spPr>
      </p:sp>
      <p:pic>
        <p:nvPicPr>
          <p:cNvPr id="10" name="Crossword icon" descr="Crossword">    </p:cNvPr>
          <p:cNvPicPr>
            <a:picLocks noChangeAspect="1"/>
          </p:cNvPicPr>
          <p:nvPr/>
        </p:nvPicPr>
        <p:blipFill>
          <a:blip r:embed="rId2"/>
          <a:stretch>
            <a:fillRect/>
          </a:stretch>
        </p:blipFill>
        <p:spPr>
          <a:xfrm>
            <a:off x="4860950" y="1889150"/>
            <a:ext cx="336499" cy="336499"/>
          </a:xfrm>
          <a:prstGeom prst="rect">
            <a:avLst/>
          </a:prstGeom>
        </p:spPr>
      </p:pic>
      <p:sp>
        <p:nvSpPr>
          <p:cNvPr id="11" name="Game title Crossword"/>
          <p:cNvSpPr txBox="1"/>
          <p:nvPr/>
        </p:nvSpPr>
        <p:spPr>
          <a:xfrm>
            <a:off x="5577840" y="1691640"/>
            <a:ext cx="2011680" cy="731520"/>
          </a:xfrm>
          <a:prstGeom prst="rect">
            <a:avLst/>
          </a:prstGeom>
          <a:noFill/>
          <a:ln/>
        </p:spPr>
        <p:txBody>
          <a:bodyPr wrap="square" lIns="0" tIns="0" rIns="0" bIns="0" rtlCol="0" anchor="ctr"/>
          <a:lstStyle/>
          <a:p>
            <a:pPr indent="0" marL="0">
              <a:buNone/>
            </a:pPr>
            <a:r>
              <a:rPr lang="en-US" sz="2200" b="1" dirty="0">
                <a:solidFill>
                  <a:schemeClr val="tx1"/>
                </a:solidFill>
              </a:rPr>
              <a:t>Crossword</a:t>
            </a:r>
            <a:endParaRPr lang="en-US" sz="2200" dirty="0"/>
          </a:p>
        </p:txBody>
      </p:sp>
      <p:sp>
        <p:nvSpPr>
          <p:cNvPr id="12" name="Game list Crossword"/>
          <p:cNvSpPr txBox="1"/>
          <p:nvPr/>
        </p:nvSpPr>
        <p:spPr>
          <a:xfrm>
            <a:off x="4663440" y="2606040"/>
            <a:ext cx="288036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Easy mode: a word bank to tick off</a:t>
            </a:r>
            <a:endParaRPr lang="en-US" sz="1600" dirty="0"/>
          </a:p>
          <a:p>
            <a:pPr marL="342900" indent="-342900">
              <a:spcAft>
                <a:spcPts val="800"/>
              </a:spcAft>
              <a:buSzPct val="100000"/>
              <a:buChar char="•"/>
            </a:pPr>
            <a:r>
              <a:rPr lang="en-US" sz="1600" dirty="0">
                <a:solidFill>
                  <a:schemeClr val="tx1"/>
                </a:solidFill>
              </a:rPr>
              <a:t>Tap a solved clue to hear the answer</a:t>
            </a:r>
            <a:endParaRPr lang="en-US" sz="1600" dirty="0"/>
          </a:p>
        </p:txBody>
      </p:sp>
      <p:sp>
        <p:nvSpPr>
          <p:cNvPr id="13" name="Game card Word Search"/>
          <p:cNvSpPr/>
          <p:nvPr/>
        </p:nvSpPr>
        <p:spPr>
          <a:xfrm>
            <a:off x="8229600" y="1463040"/>
            <a:ext cx="3383280" cy="2834640"/>
          </a:xfrm>
          <a:prstGeom prst="roundRect">
            <a:avLst>
              <a:gd name="adj" fmla="val 4839"/>
            </a:avLst>
          </a:prstGeom>
          <a:solidFill>
            <a:schemeClr val="bg2"/>
          </a:solidFill>
          <a:ln w="12700">
            <a:solidFill>
              <a:schemeClr val="bg2"/>
            </a:solidFill>
            <a:prstDash val="solid"/>
          </a:ln>
        </p:spPr>
      </p:sp>
      <p:sp>
        <p:nvSpPr>
          <p:cNvPr id="14" name="Word Search circle"/>
          <p:cNvSpPr/>
          <p:nvPr/>
        </p:nvSpPr>
        <p:spPr>
          <a:xfrm>
            <a:off x="8503920" y="1691640"/>
            <a:ext cx="731520" cy="731520"/>
          </a:xfrm>
          <a:prstGeom prst="ellipse">
            <a:avLst/>
          </a:prstGeom>
          <a:solidFill>
            <a:schemeClr val="accent4"/>
          </a:solidFill>
          <a:ln w="12700">
            <a:solidFill>
              <a:schemeClr val="accent4"/>
            </a:solidFill>
            <a:prstDash val="solid"/>
          </a:ln>
        </p:spPr>
      </p:sp>
      <p:pic>
        <p:nvPicPr>
          <p:cNvPr id="15" name="Word Search icon" descr="Word Search">    </p:cNvPr>
          <p:cNvPicPr>
            <a:picLocks noChangeAspect="1"/>
          </p:cNvPicPr>
          <p:nvPr/>
        </p:nvPicPr>
        <p:blipFill>
          <a:blip r:embed="rId3"/>
          <a:stretch>
            <a:fillRect/>
          </a:stretch>
        </p:blipFill>
        <p:spPr>
          <a:xfrm>
            <a:off x="8701430" y="1889150"/>
            <a:ext cx="336499" cy="336499"/>
          </a:xfrm>
          <a:prstGeom prst="rect">
            <a:avLst/>
          </a:prstGeom>
        </p:spPr>
      </p:pic>
      <p:sp>
        <p:nvSpPr>
          <p:cNvPr id="16" name="Game title Word Search"/>
          <p:cNvSpPr txBox="1"/>
          <p:nvPr/>
        </p:nvSpPr>
        <p:spPr>
          <a:xfrm>
            <a:off x="9418320" y="1691640"/>
            <a:ext cx="2011680" cy="731520"/>
          </a:xfrm>
          <a:prstGeom prst="rect">
            <a:avLst/>
          </a:prstGeom>
          <a:noFill/>
          <a:ln/>
        </p:spPr>
        <p:txBody>
          <a:bodyPr wrap="square" lIns="0" tIns="0" rIns="0" bIns="0" rtlCol="0" anchor="ctr"/>
          <a:lstStyle/>
          <a:p>
            <a:pPr indent="0" marL="0">
              <a:buNone/>
            </a:pPr>
            <a:r>
              <a:rPr lang="en-US" sz="2200" b="1" dirty="0">
                <a:solidFill>
                  <a:schemeClr val="tx1"/>
                </a:solidFill>
              </a:rPr>
              <a:t>Word Search</a:t>
            </a:r>
            <a:endParaRPr lang="en-US" sz="2200" dirty="0"/>
          </a:p>
        </p:txBody>
      </p:sp>
      <p:sp>
        <p:nvSpPr>
          <p:cNvPr id="17" name="Game list Word Search"/>
          <p:cNvSpPr txBox="1"/>
          <p:nvPr/>
        </p:nvSpPr>
        <p:spPr>
          <a:xfrm>
            <a:off x="8503920" y="2606040"/>
            <a:ext cx="288036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Show the meanings in the list (Meaning mode is already built)</a:t>
            </a:r>
            <a:endParaRPr lang="en-US" sz="1600" dirty="0"/>
          </a:p>
          <a:p>
            <a:pPr marL="342900" indent="-342900">
              <a:spcAft>
                <a:spcPts val="800"/>
              </a:spcAft>
              <a:buSzPct val="100000"/>
              <a:buChar char="•"/>
            </a:pPr>
            <a:r>
              <a:rPr lang="en-US" sz="1600" dirty="0">
                <a:solidFill>
                  <a:schemeClr val="tx1"/>
                </a:solidFill>
              </a:rPr>
              <a:t>Tap a found word to hear and see it</a:t>
            </a:r>
            <a:endParaRPr lang="en-US" sz="1600" dirty="0"/>
          </a:p>
        </p:txBody>
      </p:sp>
      <p:sp>
        <p:nvSpPr>
          <p:cNvPr id="18" name="Ladder title"/>
          <p:cNvSpPr txBox="1"/>
          <p:nvPr/>
        </p:nvSpPr>
        <p:spPr>
          <a:xfrm>
            <a:off x="548640" y="4526280"/>
            <a:ext cx="11064240" cy="365760"/>
          </a:xfrm>
          <a:prstGeom prst="rect">
            <a:avLst/>
          </a:prstGeom>
          <a:noFill/>
          <a:ln/>
        </p:spPr>
        <p:txBody>
          <a:bodyPr wrap="square" lIns="0" tIns="0" rIns="0" bIns="0" rtlCol="0" anchor="ctr"/>
          <a:lstStyle/>
          <a:p>
            <a:pPr indent="0" marL="0">
              <a:buNone/>
            </a:pPr>
            <a:r>
              <a:rPr lang="en-US" sz="1800" b="1" dirty="0">
                <a:solidFill>
                  <a:schemeClr val="tx1"/>
                </a:solidFill>
              </a:rPr>
              <a:t>A difficulty ladder for every game</a:t>
            </a:r>
            <a:endParaRPr lang="en-US" sz="1800" dirty="0"/>
          </a:p>
        </p:txBody>
      </p:sp>
      <p:sp>
        <p:nvSpPr>
          <p:cNvPr id="19" name="Ladder Easy"/>
          <p:cNvSpPr/>
          <p:nvPr/>
        </p:nvSpPr>
        <p:spPr>
          <a:xfrm>
            <a:off x="548640" y="5029200"/>
            <a:ext cx="3383280" cy="1097280"/>
          </a:xfrm>
          <a:prstGeom prst="roundRect">
            <a:avLst>
              <a:gd name="adj" fmla="val 12500"/>
            </a:avLst>
          </a:prstGeom>
          <a:solidFill>
            <a:schemeClr val="accent2"/>
          </a:solidFill>
          <a:ln w="12700">
            <a:solidFill>
              <a:schemeClr val="accent2"/>
            </a:solidFill>
            <a:prstDash val="solid"/>
          </a:ln>
        </p:spPr>
      </p:sp>
      <p:sp>
        <p:nvSpPr>
          <p:cNvPr id="20" name="Ladder text Easy"/>
          <p:cNvSpPr txBox="1"/>
          <p:nvPr/>
        </p:nvSpPr>
        <p:spPr>
          <a:xfrm>
            <a:off x="731520" y="5029200"/>
            <a:ext cx="3017520" cy="1097280"/>
          </a:xfrm>
          <a:prstGeom prst="rect">
            <a:avLst/>
          </a:prstGeom>
          <a:noFill/>
          <a:ln/>
        </p:spPr>
        <p:txBody>
          <a:bodyPr wrap="square" lIns="0" tIns="0" rIns="0" bIns="0" rtlCol="0" anchor="ctr"/>
          <a:lstStyle/>
          <a:p>
            <a:pPr indent="0" marL="0">
              <a:buNone/>
            </a:pPr>
            <a:r>
              <a:rPr lang="en-US" sz="2000" b="1" dirty="0">
                <a:solidFill>
                  <a:schemeClr val="bg1"/>
                </a:solidFill>
              </a:rPr>
              <a:t>Easy</a:t>
            </a:r>
            <a:endParaRPr lang="en-US" sz="2000" dirty="0"/>
          </a:p>
          <a:p>
            <a:pPr indent="0" marL="0">
              <a:buNone/>
            </a:pPr>
            <a:r>
              <a:rPr lang="en-US" sz="1400" dirty="0">
                <a:solidFill>
                  <a:schemeClr val="bg1"/>
                </a:solidFill>
              </a:rPr>
              <a:t>Word bank and meanings shown</a:t>
            </a:r>
            <a:endParaRPr lang="en-US" sz="2000" dirty="0"/>
          </a:p>
        </p:txBody>
      </p:sp>
      <p:pic>
        <p:nvPicPr>
          <p:cNvPr id="21" name="Ladder arrow 1" descr="then">    </p:cNvPr>
          <p:cNvPicPr>
            <a:picLocks noChangeAspect="1"/>
          </p:cNvPicPr>
          <p:nvPr/>
        </p:nvPicPr>
        <p:blipFill>
          <a:blip r:embed="rId4"/>
          <a:stretch>
            <a:fillRect/>
          </a:stretch>
        </p:blipFill>
        <p:spPr>
          <a:xfrm>
            <a:off x="4005072" y="5422392"/>
            <a:ext cx="310896" cy="310896"/>
          </a:xfrm>
          <a:prstGeom prst="rect">
            <a:avLst/>
          </a:prstGeom>
        </p:spPr>
      </p:pic>
      <p:sp>
        <p:nvSpPr>
          <p:cNvPr id="22" name="Ladder Normal"/>
          <p:cNvSpPr/>
          <p:nvPr/>
        </p:nvSpPr>
        <p:spPr>
          <a:xfrm>
            <a:off x="4389120" y="5029200"/>
            <a:ext cx="3383280" cy="1097280"/>
          </a:xfrm>
          <a:prstGeom prst="roundRect">
            <a:avLst>
              <a:gd name="adj" fmla="val 12500"/>
            </a:avLst>
          </a:prstGeom>
          <a:solidFill>
            <a:schemeClr val="accent1"/>
          </a:solidFill>
          <a:ln w="12700">
            <a:solidFill>
              <a:schemeClr val="accent1"/>
            </a:solidFill>
            <a:prstDash val="solid"/>
          </a:ln>
        </p:spPr>
      </p:sp>
      <p:sp>
        <p:nvSpPr>
          <p:cNvPr id="23" name="Ladder text Normal"/>
          <p:cNvSpPr txBox="1"/>
          <p:nvPr/>
        </p:nvSpPr>
        <p:spPr>
          <a:xfrm>
            <a:off x="4572000" y="5029200"/>
            <a:ext cx="3017520" cy="1097280"/>
          </a:xfrm>
          <a:prstGeom prst="rect">
            <a:avLst/>
          </a:prstGeom>
          <a:noFill/>
          <a:ln/>
        </p:spPr>
        <p:txBody>
          <a:bodyPr wrap="square" lIns="0" tIns="0" rIns="0" bIns="0" rtlCol="0" anchor="ctr"/>
          <a:lstStyle/>
          <a:p>
            <a:pPr indent="0" marL="0">
              <a:buNone/>
            </a:pPr>
            <a:r>
              <a:rPr lang="en-US" sz="2000" b="1" dirty="0">
                <a:solidFill>
                  <a:schemeClr val="tx2"/>
                </a:solidFill>
              </a:rPr>
              <a:t>Normal</a:t>
            </a:r>
            <a:endParaRPr lang="en-US" sz="2000" dirty="0"/>
          </a:p>
          <a:p>
            <a:pPr indent="0" marL="0">
              <a:buNone/>
            </a:pPr>
            <a:r>
              <a:rPr lang="en-US" sz="1400" dirty="0">
                <a:solidFill>
                  <a:schemeClr val="tx2"/>
                </a:solidFill>
              </a:rPr>
              <a:t>Like the game today</a:t>
            </a:r>
            <a:endParaRPr lang="en-US" sz="2000" dirty="0"/>
          </a:p>
        </p:txBody>
      </p:sp>
      <p:pic>
        <p:nvPicPr>
          <p:cNvPr id="24" name="Ladder arrow 2" descr="then">    </p:cNvPr>
          <p:cNvPicPr>
            <a:picLocks noChangeAspect="1"/>
          </p:cNvPicPr>
          <p:nvPr/>
        </p:nvPicPr>
        <p:blipFill>
          <a:blip r:embed="rId5"/>
          <a:stretch>
            <a:fillRect/>
          </a:stretch>
        </p:blipFill>
        <p:spPr>
          <a:xfrm>
            <a:off x="7845552" y="5422392"/>
            <a:ext cx="310896" cy="310896"/>
          </a:xfrm>
          <a:prstGeom prst="rect">
            <a:avLst/>
          </a:prstGeom>
        </p:spPr>
      </p:pic>
      <p:sp>
        <p:nvSpPr>
          <p:cNvPr id="25" name="Ladder Hard"/>
          <p:cNvSpPr/>
          <p:nvPr/>
        </p:nvSpPr>
        <p:spPr>
          <a:xfrm>
            <a:off x="8229600" y="5029200"/>
            <a:ext cx="3383280" cy="1097280"/>
          </a:xfrm>
          <a:prstGeom prst="roundRect">
            <a:avLst>
              <a:gd name="adj" fmla="val 12500"/>
            </a:avLst>
          </a:prstGeom>
          <a:solidFill>
            <a:schemeClr val="accent4"/>
          </a:solidFill>
          <a:ln w="12700">
            <a:solidFill>
              <a:schemeClr val="accent4"/>
            </a:solidFill>
            <a:prstDash val="solid"/>
          </a:ln>
        </p:spPr>
      </p:sp>
      <p:sp>
        <p:nvSpPr>
          <p:cNvPr id="26" name="Ladder text Hard"/>
          <p:cNvSpPr txBox="1"/>
          <p:nvPr/>
        </p:nvSpPr>
        <p:spPr>
          <a:xfrm>
            <a:off x="8412480" y="5029200"/>
            <a:ext cx="3017520" cy="1097280"/>
          </a:xfrm>
          <a:prstGeom prst="rect">
            <a:avLst/>
          </a:prstGeom>
          <a:noFill/>
          <a:ln/>
        </p:spPr>
        <p:txBody>
          <a:bodyPr wrap="square" lIns="0" tIns="0" rIns="0" bIns="0" rtlCol="0" anchor="ctr"/>
          <a:lstStyle/>
          <a:p>
            <a:pPr indent="0" marL="0">
              <a:buNone/>
            </a:pPr>
            <a:r>
              <a:rPr lang="en-US" sz="2000" b="1" dirty="0">
                <a:solidFill>
                  <a:schemeClr val="bg1"/>
                </a:solidFill>
              </a:rPr>
              <a:t>Hard</a:t>
            </a:r>
            <a:endParaRPr lang="en-US" sz="2000" dirty="0"/>
          </a:p>
          <a:p>
            <a:pPr indent="0" marL="0">
              <a:buNone/>
            </a:pPr>
            <a:r>
              <a:rPr lang="en-US" sz="1400" dirty="0">
                <a:solidFill>
                  <a:schemeClr val="bg1"/>
                </a:solidFill>
              </a:rPr>
              <a:t>English clue only, timer on</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Idea 3: Bring missed words back</a:t>
            </a:r>
            <a:endParaRPr lang="en-US" sz="3400" dirty="0"/>
          </a:p>
        </p:txBody>
      </p:sp>
      <p:sp>
        <p:nvSpPr>
          <p:cNvPr id="3" name="Stage New"/>
          <p:cNvSpPr/>
          <p:nvPr/>
        </p:nvSpPr>
        <p:spPr>
          <a:xfrm>
            <a:off x="548640" y="1463040"/>
            <a:ext cx="2377440" cy="868680"/>
          </a:xfrm>
          <a:prstGeom prst="roundRect">
            <a:avLst>
              <a:gd name="adj" fmla="val 15789"/>
            </a:avLst>
          </a:prstGeom>
          <a:solidFill>
            <a:srgbClr val="8A6B47"/>
          </a:solidFill>
          <a:ln w="12700">
            <a:solidFill>
              <a:srgbClr val="8A6B47"/>
            </a:solidFill>
            <a:prstDash val="solid"/>
          </a:ln>
        </p:spPr>
      </p:sp>
      <p:sp>
        <p:nvSpPr>
          <p:cNvPr id="4" name="Stage text New"/>
          <p:cNvSpPr txBox="1"/>
          <p:nvPr/>
        </p:nvSpPr>
        <p:spPr>
          <a:xfrm>
            <a:off x="548640" y="1463040"/>
            <a:ext cx="2377440" cy="868680"/>
          </a:xfrm>
          <a:prstGeom prst="rect">
            <a:avLst/>
          </a:prstGeom>
          <a:noFill/>
          <a:ln/>
        </p:spPr>
        <p:txBody>
          <a:bodyPr wrap="square" lIns="0" tIns="0" rIns="0" bIns="0" rtlCol="0" anchor="ctr"/>
          <a:lstStyle/>
          <a:p>
            <a:pPr algn="ctr" indent="0" marL="0">
              <a:buNone/>
            </a:pPr>
            <a:r>
              <a:rPr lang="en-US" sz="2400" b="1" dirty="0">
                <a:solidFill>
                  <a:schemeClr val="bg1"/>
                </a:solidFill>
              </a:rPr>
              <a:t>New</a:t>
            </a:r>
            <a:endParaRPr lang="en-US" sz="2400" dirty="0"/>
          </a:p>
        </p:txBody>
      </p:sp>
      <p:pic>
        <p:nvPicPr>
          <p:cNvPr id="5" name="Stage arrow 1" descr="then">    </p:cNvPr>
          <p:cNvPicPr>
            <a:picLocks noChangeAspect="1"/>
          </p:cNvPicPr>
          <p:nvPr/>
        </p:nvPicPr>
        <p:blipFill>
          <a:blip r:embed="rId1"/>
          <a:stretch>
            <a:fillRect/>
          </a:stretch>
        </p:blipFill>
        <p:spPr>
          <a:xfrm>
            <a:off x="2999232" y="1737360"/>
            <a:ext cx="310896" cy="310896"/>
          </a:xfrm>
          <a:prstGeom prst="rect">
            <a:avLst/>
          </a:prstGeom>
        </p:spPr>
      </p:pic>
      <p:sp>
        <p:nvSpPr>
          <p:cNvPr id="6" name="Stage Seen"/>
          <p:cNvSpPr/>
          <p:nvPr/>
        </p:nvSpPr>
        <p:spPr>
          <a:xfrm>
            <a:off x="3383280" y="1463040"/>
            <a:ext cx="2377440" cy="868680"/>
          </a:xfrm>
          <a:prstGeom prst="roundRect">
            <a:avLst>
              <a:gd name="adj" fmla="val 15789"/>
            </a:avLst>
          </a:prstGeom>
          <a:solidFill>
            <a:schemeClr val="accent3"/>
          </a:solidFill>
          <a:ln w="12700">
            <a:solidFill>
              <a:schemeClr val="accent3"/>
            </a:solidFill>
            <a:prstDash val="solid"/>
          </a:ln>
        </p:spPr>
      </p:sp>
      <p:sp>
        <p:nvSpPr>
          <p:cNvPr id="7" name="Stage text Seen"/>
          <p:cNvSpPr txBox="1"/>
          <p:nvPr/>
        </p:nvSpPr>
        <p:spPr>
          <a:xfrm>
            <a:off x="3383280" y="1463040"/>
            <a:ext cx="2377440" cy="868680"/>
          </a:xfrm>
          <a:prstGeom prst="rect">
            <a:avLst/>
          </a:prstGeom>
          <a:noFill/>
          <a:ln/>
        </p:spPr>
        <p:txBody>
          <a:bodyPr wrap="square" lIns="0" tIns="0" rIns="0" bIns="0" rtlCol="0" anchor="ctr"/>
          <a:lstStyle/>
          <a:p>
            <a:pPr algn="ctr" indent="0" marL="0">
              <a:buNone/>
            </a:pPr>
            <a:r>
              <a:rPr lang="en-US" sz="2400" b="1" dirty="0">
                <a:solidFill>
                  <a:schemeClr val="bg1"/>
                </a:solidFill>
              </a:rPr>
              <a:t>Seen</a:t>
            </a:r>
            <a:endParaRPr lang="en-US" sz="2400" dirty="0"/>
          </a:p>
        </p:txBody>
      </p:sp>
      <p:pic>
        <p:nvPicPr>
          <p:cNvPr id="8" name="Stage arrow 2" descr="then">    </p:cNvPr>
          <p:cNvPicPr>
            <a:picLocks noChangeAspect="1"/>
          </p:cNvPicPr>
          <p:nvPr/>
        </p:nvPicPr>
        <p:blipFill>
          <a:blip r:embed="rId2"/>
          <a:stretch>
            <a:fillRect/>
          </a:stretch>
        </p:blipFill>
        <p:spPr>
          <a:xfrm>
            <a:off x="5833872" y="1737360"/>
            <a:ext cx="310896" cy="310896"/>
          </a:xfrm>
          <a:prstGeom prst="rect">
            <a:avLst/>
          </a:prstGeom>
        </p:spPr>
      </p:pic>
      <p:sp>
        <p:nvSpPr>
          <p:cNvPr id="9" name="Stage Learning"/>
          <p:cNvSpPr/>
          <p:nvPr/>
        </p:nvSpPr>
        <p:spPr>
          <a:xfrm>
            <a:off x="6217920" y="1463040"/>
            <a:ext cx="2377440" cy="868680"/>
          </a:xfrm>
          <a:prstGeom prst="roundRect">
            <a:avLst>
              <a:gd name="adj" fmla="val 15789"/>
            </a:avLst>
          </a:prstGeom>
          <a:solidFill>
            <a:schemeClr val="accent1"/>
          </a:solidFill>
          <a:ln w="12700">
            <a:solidFill>
              <a:schemeClr val="accent1"/>
            </a:solidFill>
            <a:prstDash val="solid"/>
          </a:ln>
        </p:spPr>
      </p:sp>
      <p:sp>
        <p:nvSpPr>
          <p:cNvPr id="10" name="Stage text Learning"/>
          <p:cNvSpPr txBox="1"/>
          <p:nvPr/>
        </p:nvSpPr>
        <p:spPr>
          <a:xfrm>
            <a:off x="6217920" y="1463040"/>
            <a:ext cx="2377440" cy="868680"/>
          </a:xfrm>
          <a:prstGeom prst="rect">
            <a:avLst/>
          </a:prstGeom>
          <a:noFill/>
          <a:ln/>
        </p:spPr>
        <p:txBody>
          <a:bodyPr wrap="square" lIns="0" tIns="0" rIns="0" bIns="0" rtlCol="0" anchor="ctr"/>
          <a:lstStyle/>
          <a:p>
            <a:pPr algn="ctr" indent="0" marL="0">
              <a:buNone/>
            </a:pPr>
            <a:r>
              <a:rPr lang="en-US" sz="2400" b="1" dirty="0">
                <a:solidFill>
                  <a:schemeClr val="tx2"/>
                </a:solidFill>
              </a:rPr>
              <a:t>Learning</a:t>
            </a:r>
            <a:endParaRPr lang="en-US" sz="2400" dirty="0"/>
          </a:p>
        </p:txBody>
      </p:sp>
      <p:pic>
        <p:nvPicPr>
          <p:cNvPr id="11" name="Stage arrow 3" descr="then">    </p:cNvPr>
          <p:cNvPicPr>
            <a:picLocks noChangeAspect="1"/>
          </p:cNvPicPr>
          <p:nvPr/>
        </p:nvPicPr>
        <p:blipFill>
          <a:blip r:embed="rId3"/>
          <a:stretch>
            <a:fillRect/>
          </a:stretch>
        </p:blipFill>
        <p:spPr>
          <a:xfrm>
            <a:off x="8668512" y="1737360"/>
            <a:ext cx="310896" cy="310896"/>
          </a:xfrm>
          <a:prstGeom prst="rect">
            <a:avLst/>
          </a:prstGeom>
        </p:spPr>
      </p:pic>
      <p:sp>
        <p:nvSpPr>
          <p:cNvPr id="12" name="Stage Known"/>
          <p:cNvSpPr/>
          <p:nvPr/>
        </p:nvSpPr>
        <p:spPr>
          <a:xfrm>
            <a:off x="9052560" y="1463040"/>
            <a:ext cx="2377440" cy="868680"/>
          </a:xfrm>
          <a:prstGeom prst="roundRect">
            <a:avLst>
              <a:gd name="adj" fmla="val 15789"/>
            </a:avLst>
          </a:prstGeom>
          <a:solidFill>
            <a:schemeClr val="accent2"/>
          </a:solidFill>
          <a:ln w="12700">
            <a:solidFill>
              <a:schemeClr val="accent2"/>
            </a:solidFill>
            <a:prstDash val="solid"/>
          </a:ln>
        </p:spPr>
      </p:sp>
      <p:sp>
        <p:nvSpPr>
          <p:cNvPr id="13" name="Stage text Known"/>
          <p:cNvSpPr txBox="1"/>
          <p:nvPr/>
        </p:nvSpPr>
        <p:spPr>
          <a:xfrm>
            <a:off x="9052560" y="1463040"/>
            <a:ext cx="2377440" cy="868680"/>
          </a:xfrm>
          <a:prstGeom prst="rect">
            <a:avLst/>
          </a:prstGeom>
          <a:noFill/>
          <a:ln/>
        </p:spPr>
        <p:txBody>
          <a:bodyPr wrap="square" lIns="0" tIns="0" rIns="0" bIns="0" rtlCol="0" anchor="ctr"/>
          <a:lstStyle/>
          <a:p>
            <a:pPr algn="ctr" indent="0" marL="0">
              <a:buNone/>
            </a:pPr>
            <a:r>
              <a:rPr lang="en-US" sz="2400" b="1" dirty="0">
                <a:solidFill>
                  <a:schemeClr val="bg1"/>
                </a:solidFill>
              </a:rPr>
              <a:t>Known</a:t>
            </a:r>
            <a:endParaRPr lang="en-US" sz="2400" dirty="0"/>
          </a:p>
        </p:txBody>
      </p:sp>
      <p:sp>
        <p:nvSpPr>
          <p:cNvPr id="14" name="Move card"/>
          <p:cNvSpPr/>
          <p:nvPr/>
        </p:nvSpPr>
        <p:spPr>
          <a:xfrm>
            <a:off x="548640" y="2697480"/>
            <a:ext cx="5440680" cy="3520440"/>
          </a:xfrm>
          <a:prstGeom prst="roundRect">
            <a:avLst>
              <a:gd name="adj" fmla="val 3896"/>
            </a:avLst>
          </a:prstGeom>
          <a:solidFill>
            <a:schemeClr val="bg2"/>
          </a:solidFill>
          <a:ln w="12700">
            <a:solidFill>
              <a:schemeClr val="bg2"/>
            </a:solidFill>
            <a:prstDash val="solid"/>
          </a:ln>
        </p:spPr>
      </p:sp>
      <p:sp>
        <p:nvSpPr>
          <p:cNvPr id="15" name="Move title"/>
          <p:cNvSpPr txBox="1"/>
          <p:nvPr/>
        </p:nvSpPr>
        <p:spPr>
          <a:xfrm>
            <a:off x="822960" y="2880360"/>
            <a:ext cx="4937760" cy="457200"/>
          </a:xfrm>
          <a:prstGeom prst="rect">
            <a:avLst/>
          </a:prstGeom>
          <a:noFill/>
          <a:ln/>
        </p:spPr>
        <p:txBody>
          <a:bodyPr wrap="square" lIns="0" tIns="0" rIns="0" bIns="0" rtlCol="0" anchor="ctr"/>
          <a:lstStyle/>
          <a:p>
            <a:pPr indent="0" marL="0">
              <a:buNone/>
            </a:pPr>
            <a:r>
              <a:rPr lang="en-US" sz="2200" b="1" dirty="0">
                <a:solidFill>
                  <a:schemeClr val="tx1"/>
                </a:solidFill>
              </a:rPr>
              <a:t>How a word moves</a:t>
            </a:r>
            <a:endParaRPr lang="en-US" sz="2200" dirty="0"/>
          </a:p>
        </p:txBody>
      </p:sp>
      <p:sp>
        <p:nvSpPr>
          <p:cNvPr id="16" name="Move list"/>
          <p:cNvSpPr txBox="1"/>
          <p:nvPr/>
        </p:nvSpPr>
        <p:spPr>
          <a:xfrm>
            <a:off x="822960" y="3474720"/>
            <a:ext cx="4937760" cy="26517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Solved with no hint: one step up</a:t>
            </a:r>
            <a:endParaRPr lang="en-US" sz="1700" dirty="0"/>
          </a:p>
          <a:p>
            <a:pPr marL="342900" indent="-342900">
              <a:spcAft>
                <a:spcPts val="800"/>
              </a:spcAft>
              <a:buSzPct val="100000"/>
              <a:buChar char="•"/>
            </a:pPr>
            <a:r>
              <a:rPr lang="en-US" sz="1700" dirty="0">
                <a:solidFill>
                  <a:schemeClr val="tx1"/>
                </a:solidFill>
              </a:rPr>
              <a:t>Hint used or a wrong answer: one step down</a:t>
            </a:r>
            <a:endParaRPr lang="en-US" sz="1700" dirty="0"/>
          </a:p>
          <a:p>
            <a:pPr marL="342900" indent="-342900">
              <a:spcAft>
                <a:spcPts val="800"/>
              </a:spcAft>
              <a:buSzPct val="100000"/>
              <a:buChar char="•"/>
            </a:pPr>
            <a:r>
              <a:rPr lang="en-US" sz="1700" dirty="0">
                <a:solidFill>
                  <a:schemeClr val="tx1"/>
                </a:solidFill>
              </a:rPr>
              <a:t>A word only reaches Known after it is right on 3 different days</a:t>
            </a:r>
            <a:endParaRPr lang="en-US" sz="1700" dirty="0"/>
          </a:p>
          <a:p>
            <a:pPr marL="342900" indent="-342900">
              <a:spcAft>
                <a:spcPts val="800"/>
              </a:spcAft>
              <a:buSzPct val="100000"/>
              <a:buChar char="•"/>
            </a:pPr>
            <a:r>
              <a:rPr lang="en-US" sz="1700" dirty="0">
                <a:solidFill>
                  <a:schemeClr val="tx1"/>
                </a:solidFill>
              </a:rPr>
              <a:t>Words in Learning come back after 1, 3 and 7 days</a:t>
            </a:r>
            <a:endParaRPr lang="en-US" sz="1700" dirty="0"/>
          </a:p>
        </p:txBody>
      </p:sp>
      <p:sp>
        <p:nvSpPr>
          <p:cNvPr id="17" name="Review card"/>
          <p:cNvSpPr/>
          <p:nvPr/>
        </p:nvSpPr>
        <p:spPr>
          <a:xfrm>
            <a:off x="6172200" y="2697480"/>
            <a:ext cx="5440680" cy="3520440"/>
          </a:xfrm>
          <a:prstGeom prst="roundRect">
            <a:avLst>
              <a:gd name="adj" fmla="val 3896"/>
            </a:avLst>
          </a:prstGeom>
          <a:solidFill>
            <a:schemeClr val="bg2"/>
          </a:solidFill>
          <a:ln w="12700">
            <a:solidFill>
              <a:schemeClr val="bg2"/>
            </a:solidFill>
            <a:prstDash val="solid"/>
          </a:ln>
        </p:spPr>
      </p:sp>
      <p:sp>
        <p:nvSpPr>
          <p:cNvPr id="18" name="Review title"/>
          <p:cNvSpPr txBox="1"/>
          <p:nvPr/>
        </p:nvSpPr>
        <p:spPr>
          <a:xfrm>
            <a:off x="6446520" y="2880360"/>
            <a:ext cx="4937760" cy="457200"/>
          </a:xfrm>
          <a:prstGeom prst="rect">
            <a:avLst/>
          </a:prstGeom>
          <a:noFill/>
          <a:ln/>
        </p:spPr>
        <p:txBody>
          <a:bodyPr wrap="square" lIns="0" tIns="0" rIns="0" bIns="0" rtlCol="0" anchor="ctr"/>
          <a:lstStyle/>
          <a:p>
            <a:pPr indent="0" marL="0">
              <a:buNone/>
            </a:pPr>
            <a:r>
              <a:rPr lang="en-US" sz="2200" b="1" dirty="0">
                <a:solidFill>
                  <a:schemeClr val="tx1"/>
                </a:solidFill>
              </a:rPr>
              <a:t>Daily 3-minute review</a:t>
            </a:r>
            <a:endParaRPr lang="en-US" sz="2200" dirty="0"/>
          </a:p>
        </p:txBody>
      </p:sp>
      <p:sp>
        <p:nvSpPr>
          <p:cNvPr id="19" name="Review list"/>
          <p:cNvSpPr txBox="1"/>
          <p:nvPr/>
        </p:nvSpPr>
        <p:spPr>
          <a:xfrm>
            <a:off x="6446520" y="3474720"/>
            <a:ext cx="4937760" cy="18288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5 quick questions from the words that need practice</a:t>
            </a:r>
            <a:endParaRPr lang="en-US" sz="1700" dirty="0"/>
          </a:p>
          <a:p>
            <a:pPr marL="342900" indent="-342900">
              <a:spcAft>
                <a:spcPts val="800"/>
              </a:spcAft>
              <a:buSzPct val="100000"/>
              <a:buChar char="•"/>
            </a:pPr>
            <a:r>
              <a:rPr lang="en-US" sz="1700" dirty="0">
                <a:solidFill>
                  <a:schemeClr val="tx1"/>
                </a:solidFill>
              </a:rPr>
              <a:t>Pick the meaning, or pick the word, with sound</a:t>
            </a:r>
            <a:endParaRPr lang="en-US" sz="1700" dirty="0"/>
          </a:p>
          <a:p>
            <a:pPr marL="342900" indent="-342900">
              <a:spcAft>
                <a:spcPts val="800"/>
              </a:spcAft>
              <a:buSzPct val="100000"/>
              <a:buChar char="•"/>
            </a:pPr>
            <a:r>
              <a:rPr lang="en-US" sz="1700" dirty="0">
                <a:solidFill>
                  <a:schemeClr val="tx1"/>
                </a:solidFill>
              </a:rPr>
              <a:t>Profile shows 'Words known' and 'Learning' instead of one number</a:t>
            </a:r>
            <a:endParaRPr lang="en-US" sz="1700" dirty="0"/>
          </a:p>
        </p:txBody>
      </p:sp>
      <p:sp>
        <p:nvSpPr>
          <p:cNvPr id="20" name="Profile mock stat"/>
          <p:cNvSpPr txBox="1"/>
          <p:nvPr/>
        </p:nvSpPr>
        <p:spPr>
          <a:xfrm>
            <a:off x="6446520" y="5440680"/>
            <a:ext cx="4937760" cy="548640"/>
          </a:xfrm>
          <a:prstGeom prst="rect">
            <a:avLst/>
          </a:prstGeom>
          <a:noFill/>
          <a:ln/>
        </p:spPr>
        <p:txBody>
          <a:bodyPr wrap="square" lIns="0" tIns="0" rIns="0" bIns="0" rtlCol="0" anchor="ctr"/>
          <a:lstStyle/>
          <a:p>
            <a:pPr indent="0" marL="0">
              <a:buNone/>
            </a:pPr>
            <a:r>
              <a:rPr lang="en-US" sz="2000" b="1" dirty="0">
                <a:solidFill>
                  <a:schemeClr val="accent2"/>
                </a:solidFill>
              </a:rPr>
              <a:t>Words known 27</a:t>
            </a:r>
            <a:pPr indent="0" marL="0">
              <a:buNone/>
            </a:pPr>
            <a:r>
              <a:rPr lang="en-US" sz="2000" b="1" dirty="0">
                <a:solidFill>
                  <a:schemeClr val="accent1"/>
                </a:solidFill>
              </a:rPr>
              <a:t>   ·   Learning 12</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Idea 4: Sound, sentences and a first-time guide</a:t>
            </a:r>
            <a:endParaRPr lang="en-US" sz="3400" dirty="0"/>
          </a:p>
        </p:txBody>
      </p:sp>
      <p:sp>
        <p:nvSpPr>
          <p:cNvPr id="3" name="Row card 1"/>
          <p:cNvSpPr/>
          <p:nvPr/>
        </p:nvSpPr>
        <p:spPr>
          <a:xfrm>
            <a:off x="548640" y="1463040"/>
            <a:ext cx="11064240" cy="1417320"/>
          </a:xfrm>
          <a:prstGeom prst="roundRect">
            <a:avLst>
              <a:gd name="adj" fmla="val 9677"/>
            </a:avLst>
          </a:prstGeom>
          <a:solidFill>
            <a:schemeClr val="bg2"/>
          </a:solidFill>
          <a:ln w="12700">
            <a:solidFill>
              <a:schemeClr val="bg2"/>
            </a:solidFill>
            <a:prstDash val="solid"/>
          </a:ln>
        </p:spPr>
      </p:sp>
      <p:sp>
        <p:nvSpPr>
          <p:cNvPr id="4" name="Pronunciation audio circle"/>
          <p:cNvSpPr/>
          <p:nvPr/>
        </p:nvSpPr>
        <p:spPr>
          <a:xfrm>
            <a:off x="822960" y="1764792"/>
            <a:ext cx="822960" cy="822960"/>
          </a:xfrm>
          <a:prstGeom prst="ellipse">
            <a:avLst/>
          </a:prstGeom>
          <a:solidFill>
            <a:schemeClr val="accent3"/>
          </a:solidFill>
          <a:ln w="12700">
            <a:solidFill>
              <a:schemeClr val="accent3"/>
            </a:solidFill>
            <a:prstDash val="solid"/>
          </a:ln>
        </p:spPr>
      </p:sp>
      <p:pic>
        <p:nvPicPr>
          <p:cNvPr id="5" name="Pronunciation audio icon" descr="Pronunciation audio">    </p:cNvPr>
          <p:cNvPicPr>
            <a:picLocks noChangeAspect="1"/>
          </p:cNvPicPr>
          <p:nvPr/>
        </p:nvPicPr>
        <p:blipFill>
          <a:blip r:embed="rId1"/>
          <a:stretch>
            <a:fillRect/>
          </a:stretch>
        </p:blipFill>
        <p:spPr>
          <a:xfrm>
            <a:off x="1045159" y="1986991"/>
            <a:ext cx="378562" cy="378562"/>
          </a:xfrm>
          <a:prstGeom prst="rect">
            <a:avLst/>
          </a:prstGeom>
        </p:spPr>
      </p:pic>
      <p:sp>
        <p:nvSpPr>
          <p:cNvPr id="6" name="Row title 1"/>
          <p:cNvSpPr txBox="1"/>
          <p:nvPr/>
        </p:nvSpPr>
        <p:spPr>
          <a:xfrm>
            <a:off x="1920240" y="1600200"/>
            <a:ext cx="5486400" cy="457200"/>
          </a:xfrm>
          <a:prstGeom prst="rect">
            <a:avLst/>
          </a:prstGeom>
          <a:noFill/>
          <a:ln/>
        </p:spPr>
        <p:txBody>
          <a:bodyPr wrap="square" lIns="0" tIns="0" rIns="0" bIns="0" rtlCol="0" anchor="ctr"/>
          <a:lstStyle/>
          <a:p>
            <a:pPr indent="0" marL="0">
              <a:buNone/>
            </a:pPr>
            <a:r>
              <a:rPr lang="en-US" sz="2200" b="1" dirty="0">
                <a:solidFill>
                  <a:schemeClr val="tx1"/>
                </a:solidFill>
              </a:rPr>
              <a:t>Pronunciation audio</a:t>
            </a:r>
            <a:endParaRPr lang="en-US" sz="2200" dirty="0"/>
          </a:p>
        </p:txBody>
      </p:sp>
      <p:sp>
        <p:nvSpPr>
          <p:cNvPr id="7" name="Row text 1"/>
          <p:cNvSpPr txBox="1"/>
          <p:nvPr/>
        </p:nvSpPr>
        <p:spPr>
          <a:xfrm>
            <a:off x="1920240" y="2084832"/>
            <a:ext cx="5943600" cy="731520"/>
          </a:xfrm>
          <a:prstGeom prst="rect">
            <a:avLst/>
          </a:prstGeom>
          <a:noFill/>
          <a:ln/>
        </p:spPr>
        <p:txBody>
          <a:bodyPr wrap="square" lIns="0" tIns="0" rIns="0" bIns="0" rtlCol="0" anchor="t"/>
          <a:lstStyle/>
          <a:p>
            <a:pPr indent="0" marL="0">
              <a:buNone/>
            </a:pPr>
            <a:r>
              <a:rPr lang="en-US" sz="1500" dirty="0">
                <a:solidFill>
                  <a:schemeClr val="tx1"/>
                </a:solidFill>
              </a:rPr>
              <a:t>Every word has a sound button on the Learn card, in the games and in the Library. 133 words in each of 3 languages.</a:t>
            </a:r>
            <a:endParaRPr lang="en-US" sz="1500" dirty="0"/>
          </a:p>
        </p:txBody>
      </p:sp>
      <p:sp>
        <p:nvSpPr>
          <p:cNvPr id="8" name="Need chip 1"/>
          <p:cNvSpPr/>
          <p:nvPr/>
        </p:nvSpPr>
        <p:spPr>
          <a:xfrm>
            <a:off x="8229600" y="1828800"/>
            <a:ext cx="3154680" cy="685800"/>
          </a:xfrm>
          <a:prstGeom prst="roundRect">
            <a:avLst>
              <a:gd name="adj" fmla="val 20000"/>
            </a:avLst>
          </a:prstGeom>
          <a:solidFill>
            <a:schemeClr val="bg1"/>
          </a:solidFill>
          <a:ln w="15875">
            <a:solidFill>
              <a:schemeClr val="accent6"/>
            </a:solidFill>
            <a:prstDash val="solid"/>
          </a:ln>
        </p:spPr>
      </p:sp>
      <p:sp>
        <p:nvSpPr>
          <p:cNvPr id="9" name="Need text 1"/>
          <p:cNvSpPr txBox="1"/>
          <p:nvPr/>
        </p:nvSpPr>
        <p:spPr>
          <a:xfrm>
            <a:off x="8321040" y="1828800"/>
            <a:ext cx="2971800" cy="685800"/>
          </a:xfrm>
          <a:prstGeom prst="rect">
            <a:avLst/>
          </a:prstGeom>
          <a:noFill/>
          <a:ln/>
        </p:spPr>
        <p:txBody>
          <a:bodyPr wrap="square" lIns="0" tIns="0" rIns="0" bIns="0" rtlCol="0" anchor="ctr"/>
          <a:lstStyle/>
          <a:p>
            <a:pPr algn="ctr" indent="0" marL="0">
              <a:buNone/>
            </a:pPr>
            <a:r>
              <a:rPr lang="en-US" sz="1400" b="1" dirty="0">
                <a:solidFill>
                  <a:schemeClr val="tx1"/>
                </a:solidFill>
              </a:rPr>
              <a:t>Needs recordings by native speakers</a:t>
            </a:r>
            <a:endParaRPr lang="en-US" sz="1400" dirty="0"/>
          </a:p>
        </p:txBody>
      </p:sp>
      <p:sp>
        <p:nvSpPr>
          <p:cNvPr id="10" name="Row card 2"/>
          <p:cNvSpPr/>
          <p:nvPr/>
        </p:nvSpPr>
        <p:spPr>
          <a:xfrm>
            <a:off x="548640" y="3063240"/>
            <a:ext cx="11064240" cy="1417320"/>
          </a:xfrm>
          <a:prstGeom prst="roundRect">
            <a:avLst>
              <a:gd name="adj" fmla="val 9677"/>
            </a:avLst>
          </a:prstGeom>
          <a:solidFill>
            <a:schemeClr val="bg2"/>
          </a:solidFill>
          <a:ln w="12700">
            <a:solidFill>
              <a:schemeClr val="bg2"/>
            </a:solidFill>
            <a:prstDash val="solid"/>
          </a:ln>
        </p:spPr>
      </p:sp>
      <p:sp>
        <p:nvSpPr>
          <p:cNvPr id="11" name="Example sentences circle"/>
          <p:cNvSpPr/>
          <p:nvPr/>
        </p:nvSpPr>
        <p:spPr>
          <a:xfrm>
            <a:off x="822960" y="3364992"/>
            <a:ext cx="822960" cy="822960"/>
          </a:xfrm>
          <a:prstGeom prst="ellipse">
            <a:avLst/>
          </a:prstGeom>
          <a:solidFill>
            <a:schemeClr val="accent5"/>
          </a:solidFill>
          <a:ln w="12700">
            <a:solidFill>
              <a:schemeClr val="accent5"/>
            </a:solidFill>
            <a:prstDash val="solid"/>
          </a:ln>
        </p:spPr>
      </p:sp>
      <p:pic>
        <p:nvPicPr>
          <p:cNvPr id="12" name="Example sentences icon" descr="Example sentences">    </p:cNvPr>
          <p:cNvPicPr>
            <a:picLocks noChangeAspect="1"/>
          </p:cNvPicPr>
          <p:nvPr/>
        </p:nvPicPr>
        <p:blipFill>
          <a:blip r:embed="rId2"/>
          <a:stretch>
            <a:fillRect/>
          </a:stretch>
        </p:blipFill>
        <p:spPr>
          <a:xfrm>
            <a:off x="1045159" y="3587191"/>
            <a:ext cx="378562" cy="378562"/>
          </a:xfrm>
          <a:prstGeom prst="rect">
            <a:avLst/>
          </a:prstGeom>
        </p:spPr>
      </p:pic>
      <p:sp>
        <p:nvSpPr>
          <p:cNvPr id="13" name="Row title 2"/>
          <p:cNvSpPr txBox="1"/>
          <p:nvPr/>
        </p:nvSpPr>
        <p:spPr>
          <a:xfrm>
            <a:off x="1920240" y="3200400"/>
            <a:ext cx="5486400" cy="457200"/>
          </a:xfrm>
          <a:prstGeom prst="rect">
            <a:avLst/>
          </a:prstGeom>
          <a:noFill/>
          <a:ln/>
        </p:spPr>
        <p:txBody>
          <a:bodyPr wrap="square" lIns="0" tIns="0" rIns="0" bIns="0" rtlCol="0" anchor="ctr"/>
          <a:lstStyle/>
          <a:p>
            <a:pPr indent="0" marL="0">
              <a:buNone/>
            </a:pPr>
            <a:r>
              <a:rPr lang="en-US" sz="2200" b="1" dirty="0">
                <a:solidFill>
                  <a:schemeClr val="tx1"/>
                </a:solidFill>
              </a:rPr>
              <a:t>Example sentences</a:t>
            </a:r>
            <a:endParaRPr lang="en-US" sz="2200" dirty="0"/>
          </a:p>
        </p:txBody>
      </p:sp>
      <p:sp>
        <p:nvSpPr>
          <p:cNvPr id="14" name="Row text 2"/>
          <p:cNvSpPr txBox="1"/>
          <p:nvPr/>
        </p:nvSpPr>
        <p:spPr>
          <a:xfrm>
            <a:off x="1920240" y="3685032"/>
            <a:ext cx="5943600" cy="731520"/>
          </a:xfrm>
          <a:prstGeom prst="rect">
            <a:avLst/>
          </a:prstGeom>
          <a:noFill/>
          <a:ln/>
        </p:spPr>
        <p:txBody>
          <a:bodyPr wrap="square" lIns="0" tIns="0" rIns="0" bIns="0" rtlCol="0" anchor="t"/>
          <a:lstStyle/>
          <a:p>
            <a:pPr indent="0" marL="0">
              <a:buNone/>
            </a:pPr>
            <a:r>
              <a:rPr lang="en-US" sz="1500" dirty="0">
                <a:solidFill>
                  <a:schemeClr val="tx1"/>
                </a:solidFill>
              </a:rPr>
              <a:t>One short sentence per word, so the word is seen in use and not alone.</a:t>
            </a:r>
            <a:endParaRPr lang="en-US" sz="1500" dirty="0"/>
          </a:p>
        </p:txBody>
      </p:sp>
      <p:sp>
        <p:nvSpPr>
          <p:cNvPr id="15" name="Need chip 2"/>
          <p:cNvSpPr/>
          <p:nvPr/>
        </p:nvSpPr>
        <p:spPr>
          <a:xfrm>
            <a:off x="8229600" y="3429000"/>
            <a:ext cx="3154680" cy="685800"/>
          </a:xfrm>
          <a:prstGeom prst="roundRect">
            <a:avLst>
              <a:gd name="adj" fmla="val 20000"/>
            </a:avLst>
          </a:prstGeom>
          <a:solidFill>
            <a:schemeClr val="bg1"/>
          </a:solidFill>
          <a:ln w="15875">
            <a:solidFill>
              <a:schemeClr val="accent6"/>
            </a:solidFill>
            <a:prstDash val="solid"/>
          </a:ln>
        </p:spPr>
      </p:sp>
      <p:sp>
        <p:nvSpPr>
          <p:cNvPr id="16" name="Need text 2"/>
          <p:cNvSpPr txBox="1"/>
          <p:nvPr/>
        </p:nvSpPr>
        <p:spPr>
          <a:xfrm>
            <a:off x="8321040" y="3429000"/>
            <a:ext cx="2971800" cy="685800"/>
          </a:xfrm>
          <a:prstGeom prst="rect">
            <a:avLst/>
          </a:prstGeom>
          <a:noFill/>
          <a:ln/>
        </p:spPr>
        <p:txBody>
          <a:bodyPr wrap="square" lIns="0" tIns="0" rIns="0" bIns="0" rtlCol="0" anchor="ctr"/>
          <a:lstStyle/>
          <a:p>
            <a:pPr algn="ctr" indent="0" marL="0">
              <a:buNone/>
            </a:pPr>
            <a:r>
              <a:rPr lang="en-US" sz="1400" b="1" dirty="0">
                <a:solidFill>
                  <a:schemeClr val="tx1"/>
                </a:solidFill>
              </a:rPr>
              <a:t>Needs sentences from native speakers</a:t>
            </a:r>
            <a:endParaRPr lang="en-US" sz="1400" dirty="0"/>
          </a:p>
        </p:txBody>
      </p:sp>
      <p:sp>
        <p:nvSpPr>
          <p:cNvPr id="17" name="Row card 3"/>
          <p:cNvSpPr/>
          <p:nvPr/>
        </p:nvSpPr>
        <p:spPr>
          <a:xfrm>
            <a:off x="548640" y="4663440"/>
            <a:ext cx="11064240" cy="1417320"/>
          </a:xfrm>
          <a:prstGeom prst="roundRect">
            <a:avLst>
              <a:gd name="adj" fmla="val 9677"/>
            </a:avLst>
          </a:prstGeom>
          <a:solidFill>
            <a:schemeClr val="bg2"/>
          </a:solidFill>
          <a:ln w="12700">
            <a:solidFill>
              <a:schemeClr val="bg2"/>
            </a:solidFill>
            <a:prstDash val="solid"/>
          </a:ln>
        </p:spPr>
      </p:sp>
      <p:sp>
        <p:nvSpPr>
          <p:cNvPr id="18" name="First-time guide circle"/>
          <p:cNvSpPr/>
          <p:nvPr/>
        </p:nvSpPr>
        <p:spPr>
          <a:xfrm>
            <a:off x="822960" y="4965192"/>
            <a:ext cx="822960" cy="822960"/>
          </a:xfrm>
          <a:prstGeom prst="ellipse">
            <a:avLst/>
          </a:prstGeom>
          <a:solidFill>
            <a:schemeClr val="accent1"/>
          </a:solidFill>
          <a:ln w="12700">
            <a:solidFill>
              <a:schemeClr val="accent1"/>
            </a:solidFill>
            <a:prstDash val="solid"/>
          </a:ln>
        </p:spPr>
      </p:sp>
      <p:pic>
        <p:nvPicPr>
          <p:cNvPr id="19" name="First-time guide icon" descr="First-time guide">    </p:cNvPr>
          <p:cNvPicPr>
            <a:picLocks noChangeAspect="1"/>
          </p:cNvPicPr>
          <p:nvPr/>
        </p:nvPicPr>
        <p:blipFill>
          <a:blip r:embed="rId3"/>
          <a:stretch>
            <a:fillRect/>
          </a:stretch>
        </p:blipFill>
        <p:spPr>
          <a:xfrm>
            <a:off x="1045159" y="5187391"/>
            <a:ext cx="378562" cy="378562"/>
          </a:xfrm>
          <a:prstGeom prst="rect">
            <a:avLst/>
          </a:prstGeom>
        </p:spPr>
      </p:pic>
      <p:sp>
        <p:nvSpPr>
          <p:cNvPr id="20" name="Row title 3"/>
          <p:cNvSpPr txBox="1"/>
          <p:nvPr/>
        </p:nvSpPr>
        <p:spPr>
          <a:xfrm>
            <a:off x="1920240" y="4800600"/>
            <a:ext cx="5486400" cy="457200"/>
          </a:xfrm>
          <a:prstGeom prst="rect">
            <a:avLst/>
          </a:prstGeom>
          <a:noFill/>
          <a:ln/>
        </p:spPr>
        <p:txBody>
          <a:bodyPr wrap="square" lIns="0" tIns="0" rIns="0" bIns="0" rtlCol="0" anchor="ctr"/>
          <a:lstStyle/>
          <a:p>
            <a:pPr indent="0" marL="0">
              <a:buNone/>
            </a:pPr>
            <a:r>
              <a:rPr lang="en-US" sz="2200" b="1" dirty="0">
                <a:solidFill>
                  <a:schemeClr val="tx1"/>
                </a:solidFill>
              </a:rPr>
              <a:t>First-time guide</a:t>
            </a:r>
            <a:endParaRPr lang="en-US" sz="2200" dirty="0"/>
          </a:p>
        </p:txBody>
      </p:sp>
      <p:sp>
        <p:nvSpPr>
          <p:cNvPr id="21" name="Row text 3"/>
          <p:cNvSpPr txBox="1"/>
          <p:nvPr/>
        </p:nvSpPr>
        <p:spPr>
          <a:xfrm>
            <a:off x="1920240" y="5285232"/>
            <a:ext cx="5943600" cy="731520"/>
          </a:xfrm>
          <a:prstGeom prst="rect">
            <a:avLst/>
          </a:prstGeom>
          <a:noFill/>
          <a:ln/>
        </p:spPr>
        <p:txBody>
          <a:bodyPr wrap="square" lIns="0" tIns="0" rIns="0" bIns="0" rtlCol="0" anchor="t"/>
          <a:lstStyle/>
          <a:p>
            <a:pPr indent="0" marL="0">
              <a:buNone/>
            </a:pPr>
            <a:r>
              <a:rPr lang="en-US" sz="1500" dirty="0">
                <a:solidFill>
                  <a:schemeClr val="tx1"/>
                </a:solidFill>
              </a:rPr>
              <a:t>A 30-second guided puzzle in each game where the answer is shown, so the rules are clear before the language is.</a:t>
            </a:r>
            <a:endParaRPr lang="en-US" sz="1500" dirty="0"/>
          </a:p>
        </p:txBody>
      </p:sp>
      <p:sp>
        <p:nvSpPr>
          <p:cNvPr id="22" name="Need chip 3"/>
          <p:cNvSpPr/>
          <p:nvPr/>
        </p:nvSpPr>
        <p:spPr>
          <a:xfrm>
            <a:off x="8229600" y="5029200"/>
            <a:ext cx="3154680" cy="685800"/>
          </a:xfrm>
          <a:prstGeom prst="roundRect">
            <a:avLst>
              <a:gd name="adj" fmla="val 20000"/>
            </a:avLst>
          </a:prstGeom>
          <a:solidFill>
            <a:schemeClr val="bg1"/>
          </a:solidFill>
          <a:ln w="15875">
            <a:solidFill>
              <a:schemeClr val="accent6"/>
            </a:solidFill>
            <a:prstDash val="solid"/>
          </a:ln>
        </p:spPr>
      </p:sp>
      <p:sp>
        <p:nvSpPr>
          <p:cNvPr id="23" name="Need text 3"/>
          <p:cNvSpPr txBox="1"/>
          <p:nvPr/>
        </p:nvSpPr>
        <p:spPr>
          <a:xfrm>
            <a:off x="8321040" y="5029200"/>
            <a:ext cx="2971800" cy="685800"/>
          </a:xfrm>
          <a:prstGeom prst="rect">
            <a:avLst/>
          </a:prstGeom>
          <a:noFill/>
          <a:ln/>
        </p:spPr>
        <p:txBody>
          <a:bodyPr wrap="square" lIns="0" tIns="0" rIns="0" bIns="0" rtlCol="0" anchor="ctr"/>
          <a:lstStyle/>
          <a:p>
            <a:pPr algn="ctr" indent="0" marL="0">
              <a:buNone/>
            </a:pPr>
            <a:r>
              <a:rPr lang="en-US" sz="1400" b="1" dirty="0">
                <a:solidFill>
                  <a:schemeClr val="tx1"/>
                </a:solidFill>
              </a:rPr>
              <a:t>Only our team: screens and a script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Roadmap: small steps, biggest value first</a:t>
            </a:r>
            <a:endParaRPr lang="en-US" sz="3400" dirty="0"/>
          </a:p>
        </p:txBody>
      </p:sp>
      <p:sp>
        <p:nvSpPr>
          <p:cNvPr id="3" name="Phase card 1"/>
          <p:cNvSpPr/>
          <p:nvPr/>
        </p:nvSpPr>
        <p:spPr>
          <a:xfrm>
            <a:off x="548640" y="1463040"/>
            <a:ext cx="2560320" cy="3749040"/>
          </a:xfrm>
          <a:prstGeom prst="roundRect">
            <a:avLst>
              <a:gd name="adj" fmla="val 5357"/>
            </a:avLst>
          </a:prstGeom>
          <a:solidFill>
            <a:schemeClr val="bg2"/>
          </a:solidFill>
          <a:ln w="12700">
            <a:solidFill>
              <a:schemeClr val="bg2"/>
            </a:solidFill>
            <a:prstDash val="solid"/>
          </a:ln>
        </p:spPr>
      </p:sp>
      <p:sp>
        <p:nvSpPr>
          <p:cNvPr id="4" name="Phase tile 1"/>
          <p:cNvSpPr/>
          <p:nvPr/>
        </p:nvSpPr>
        <p:spPr>
          <a:xfrm>
            <a:off x="777240" y="1691640"/>
            <a:ext cx="731520" cy="731520"/>
          </a:xfrm>
          <a:prstGeom prst="roundRect">
            <a:avLst>
              <a:gd name="adj" fmla="val 15000"/>
            </a:avLst>
          </a:prstGeom>
          <a:solidFill>
            <a:schemeClr val="accent2"/>
          </a:solidFill>
          <a:ln w="12700">
            <a:solidFill>
              <a:schemeClr val="accent2"/>
            </a:solidFill>
            <a:prstDash val="solid"/>
          </a:ln>
        </p:spPr>
      </p:sp>
      <p:sp>
        <p:nvSpPr>
          <p:cNvPr id="5" name="Phase tile 1 letter"/>
          <p:cNvSpPr txBox="1"/>
          <p:nvPr/>
        </p:nvSpPr>
        <p:spPr>
          <a:xfrm>
            <a:off x="777240" y="1691640"/>
            <a:ext cx="731520" cy="731520"/>
          </a:xfrm>
          <a:prstGeom prst="rect">
            <a:avLst/>
          </a:prstGeom>
          <a:noFill/>
          <a:ln/>
        </p:spPr>
        <p:txBody>
          <a:bodyPr wrap="square" lIns="0" tIns="0" rIns="0" bIns="0" rtlCol="0" anchor="ctr"/>
          <a:lstStyle/>
          <a:p>
            <a:pPr algn="ctr" indent="0" marL="0">
              <a:buNone/>
            </a:pPr>
            <a:r>
              <a:rPr lang="en-US" sz="3700" b="1" dirty="0">
                <a:solidFill>
                  <a:schemeClr val="bg1"/>
                </a:solidFill>
              </a:rPr>
              <a:t>1</a:t>
            </a:r>
            <a:endParaRPr lang="en-US" sz="3700" dirty="0"/>
          </a:p>
        </p:txBody>
      </p:sp>
      <p:sp>
        <p:nvSpPr>
          <p:cNvPr id="6" name="Phase title 1"/>
          <p:cNvSpPr txBox="1"/>
          <p:nvPr/>
        </p:nvSpPr>
        <p:spPr>
          <a:xfrm>
            <a:off x="1645920" y="1691640"/>
            <a:ext cx="1371600" cy="731520"/>
          </a:xfrm>
          <a:prstGeom prst="rect">
            <a:avLst/>
          </a:prstGeom>
          <a:noFill/>
          <a:ln/>
        </p:spPr>
        <p:txBody>
          <a:bodyPr wrap="square" lIns="0" tIns="0" rIns="0" bIns="0" rtlCol="0" anchor="ctr"/>
          <a:lstStyle/>
          <a:p>
            <a:pPr indent="0" marL="0">
              <a:buNone/>
            </a:pPr>
            <a:r>
              <a:rPr lang="en-US" sz="2000" b="1" dirty="0">
                <a:solidFill>
                  <a:schemeClr val="tx1"/>
                </a:solidFill>
              </a:rPr>
              <a:t>Learn cards</a:t>
            </a:r>
            <a:endParaRPr lang="en-US" sz="2000" dirty="0"/>
          </a:p>
        </p:txBody>
      </p:sp>
      <p:sp>
        <p:nvSpPr>
          <p:cNvPr id="7" name="Phase list 1"/>
          <p:cNvSpPr txBox="1"/>
          <p:nvPr/>
        </p:nvSpPr>
        <p:spPr>
          <a:xfrm>
            <a:off x="777240" y="2697480"/>
            <a:ext cx="21488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Learn cards before each topic</a:t>
            </a:r>
            <a:endParaRPr lang="en-US" sz="1500" dirty="0"/>
          </a:p>
          <a:p>
            <a:pPr marL="342900" indent="-342900">
              <a:spcAft>
                <a:spcPts val="800"/>
              </a:spcAft>
              <a:buSzPct val="100000"/>
              <a:buChar char="•"/>
            </a:pPr>
            <a:r>
              <a:rPr lang="en-US" sz="1500" dirty="0">
                <a:solidFill>
                  <a:schemeClr val="tx1"/>
                </a:solidFill>
              </a:rPr>
              <a:t>Show the meaning after every answer</a:t>
            </a:r>
            <a:endParaRPr lang="en-US" sz="1500" dirty="0"/>
          </a:p>
        </p:txBody>
      </p:sp>
      <p:sp>
        <p:nvSpPr>
          <p:cNvPr id="8" name="Phase effort chip 1"/>
          <p:cNvSpPr/>
          <p:nvPr/>
        </p:nvSpPr>
        <p:spPr>
          <a:xfrm>
            <a:off x="777240" y="4572000"/>
            <a:ext cx="2103120" cy="457200"/>
          </a:xfrm>
          <a:prstGeom prst="roundRect">
            <a:avLst>
              <a:gd name="adj" fmla="val 24000"/>
            </a:avLst>
          </a:prstGeom>
          <a:solidFill>
            <a:schemeClr val="bg1"/>
          </a:solidFill>
          <a:ln w="12700">
            <a:solidFill>
              <a:schemeClr val="accent6"/>
            </a:solidFill>
            <a:prstDash val="solid"/>
          </a:ln>
        </p:spPr>
      </p:sp>
      <p:sp>
        <p:nvSpPr>
          <p:cNvPr id="9" name="Phase effort 1"/>
          <p:cNvSpPr txBox="1"/>
          <p:nvPr/>
        </p:nvSpPr>
        <p:spPr>
          <a:xfrm>
            <a:off x="777240" y="4572000"/>
            <a:ext cx="2103120" cy="457200"/>
          </a:xfrm>
          <a:prstGeom prst="rect">
            <a:avLst/>
          </a:prstGeom>
          <a:noFill/>
          <a:ln/>
        </p:spPr>
        <p:txBody>
          <a:bodyPr wrap="square" lIns="0" tIns="0" rIns="0" bIns="0" rtlCol="0" anchor="ctr"/>
          <a:lstStyle/>
          <a:p>
            <a:pPr algn="ctr" indent="0" marL="0">
              <a:buNone/>
            </a:pPr>
            <a:r>
              <a:rPr lang="en-US" sz="1300" b="1" dirty="0">
                <a:solidFill>
                  <a:schemeClr val="tx1"/>
                </a:solidFill>
              </a:rPr>
              <a:t>Medium effort</a:t>
            </a:r>
            <a:endParaRPr lang="en-US" sz="1300" dirty="0"/>
          </a:p>
        </p:txBody>
      </p:sp>
      <p:sp>
        <p:nvSpPr>
          <p:cNvPr id="10" name="Phase card 2"/>
          <p:cNvSpPr/>
          <p:nvPr/>
        </p:nvSpPr>
        <p:spPr>
          <a:xfrm>
            <a:off x="3383280" y="1463040"/>
            <a:ext cx="2560320" cy="3749040"/>
          </a:xfrm>
          <a:prstGeom prst="roundRect">
            <a:avLst>
              <a:gd name="adj" fmla="val 5357"/>
            </a:avLst>
          </a:prstGeom>
          <a:solidFill>
            <a:schemeClr val="bg2"/>
          </a:solidFill>
          <a:ln w="12700">
            <a:solidFill>
              <a:schemeClr val="bg2"/>
            </a:solidFill>
            <a:prstDash val="solid"/>
          </a:ln>
        </p:spPr>
      </p:sp>
      <p:sp>
        <p:nvSpPr>
          <p:cNvPr id="11" name="Phase tile 2"/>
          <p:cNvSpPr/>
          <p:nvPr/>
        </p:nvSpPr>
        <p:spPr>
          <a:xfrm>
            <a:off x="3611880" y="1691640"/>
            <a:ext cx="731520" cy="731520"/>
          </a:xfrm>
          <a:prstGeom prst="roundRect">
            <a:avLst>
              <a:gd name="adj" fmla="val 15000"/>
            </a:avLst>
          </a:prstGeom>
          <a:solidFill>
            <a:schemeClr val="accent3"/>
          </a:solidFill>
          <a:ln w="12700">
            <a:solidFill>
              <a:schemeClr val="accent3"/>
            </a:solidFill>
            <a:prstDash val="solid"/>
          </a:ln>
        </p:spPr>
      </p:sp>
      <p:sp>
        <p:nvSpPr>
          <p:cNvPr id="12" name="Phase tile 2 letter"/>
          <p:cNvSpPr txBox="1"/>
          <p:nvPr/>
        </p:nvSpPr>
        <p:spPr>
          <a:xfrm>
            <a:off x="3611880" y="1691640"/>
            <a:ext cx="731520" cy="731520"/>
          </a:xfrm>
          <a:prstGeom prst="rect">
            <a:avLst/>
          </a:prstGeom>
          <a:noFill/>
          <a:ln/>
        </p:spPr>
        <p:txBody>
          <a:bodyPr wrap="square" lIns="0" tIns="0" rIns="0" bIns="0" rtlCol="0" anchor="ctr"/>
          <a:lstStyle/>
          <a:p>
            <a:pPr algn="ctr" indent="0" marL="0">
              <a:buNone/>
            </a:pPr>
            <a:r>
              <a:rPr lang="en-US" sz="3700" b="1" dirty="0">
                <a:solidFill>
                  <a:schemeClr val="bg1"/>
                </a:solidFill>
              </a:rPr>
              <a:t>2</a:t>
            </a:r>
            <a:endParaRPr lang="en-US" sz="3700" dirty="0"/>
          </a:p>
        </p:txBody>
      </p:sp>
      <p:sp>
        <p:nvSpPr>
          <p:cNvPr id="13" name="Phase title 2"/>
          <p:cNvSpPr txBox="1"/>
          <p:nvPr/>
        </p:nvSpPr>
        <p:spPr>
          <a:xfrm>
            <a:off x="4480560" y="1691640"/>
            <a:ext cx="1371600" cy="731520"/>
          </a:xfrm>
          <a:prstGeom prst="rect">
            <a:avLst/>
          </a:prstGeom>
          <a:noFill/>
          <a:ln/>
        </p:spPr>
        <p:txBody>
          <a:bodyPr wrap="square" lIns="0" tIns="0" rIns="0" bIns="0" rtlCol="0" anchor="ctr"/>
          <a:lstStyle/>
          <a:p>
            <a:pPr indent="0" marL="0">
              <a:buNone/>
            </a:pPr>
            <a:r>
              <a:rPr lang="en-US" sz="2000" b="1" dirty="0">
                <a:solidFill>
                  <a:schemeClr val="tx1"/>
                </a:solidFill>
              </a:rPr>
              <a:t>Difficulty</a:t>
            </a:r>
            <a:endParaRPr lang="en-US" sz="2000" dirty="0"/>
          </a:p>
        </p:txBody>
      </p:sp>
      <p:sp>
        <p:nvSpPr>
          <p:cNvPr id="14" name="Phase list 2"/>
          <p:cNvSpPr txBox="1"/>
          <p:nvPr/>
        </p:nvSpPr>
        <p:spPr>
          <a:xfrm>
            <a:off x="3611880" y="2697480"/>
            <a:ext cx="21488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Easy, Normal and Hard</a:t>
            </a:r>
            <a:endParaRPr lang="en-US" sz="1500" dirty="0"/>
          </a:p>
          <a:p>
            <a:pPr marL="342900" indent="-342900">
              <a:spcAft>
                <a:spcPts val="800"/>
              </a:spcAft>
              <a:buSzPct val="100000"/>
              <a:buChar char="•"/>
            </a:pPr>
            <a:r>
              <a:rPr lang="en-US" sz="1500" dirty="0">
                <a:solidFill>
                  <a:schemeClr val="tx1"/>
                </a:solidFill>
              </a:rPr>
              <a:t>Word bank on Easy</a:t>
            </a:r>
            <a:endParaRPr lang="en-US" sz="1500" dirty="0"/>
          </a:p>
          <a:p>
            <a:pPr marL="342900" indent="-342900">
              <a:spcAft>
                <a:spcPts val="800"/>
              </a:spcAft>
              <a:buSzPct val="100000"/>
              <a:buChar char="•"/>
            </a:pPr>
            <a:r>
              <a:rPr lang="en-US" sz="1500" dirty="0">
                <a:solidFill>
                  <a:schemeClr val="tx1"/>
                </a:solidFill>
              </a:rPr>
              <a:t>First-time guide</a:t>
            </a:r>
            <a:endParaRPr lang="en-US" sz="1500" dirty="0"/>
          </a:p>
        </p:txBody>
      </p:sp>
      <p:sp>
        <p:nvSpPr>
          <p:cNvPr id="15" name="Phase effort chip 2"/>
          <p:cNvSpPr/>
          <p:nvPr/>
        </p:nvSpPr>
        <p:spPr>
          <a:xfrm>
            <a:off x="3611880" y="4572000"/>
            <a:ext cx="2103120" cy="457200"/>
          </a:xfrm>
          <a:prstGeom prst="roundRect">
            <a:avLst>
              <a:gd name="adj" fmla="val 24000"/>
            </a:avLst>
          </a:prstGeom>
          <a:solidFill>
            <a:schemeClr val="bg1"/>
          </a:solidFill>
          <a:ln w="12700">
            <a:solidFill>
              <a:schemeClr val="accent6"/>
            </a:solidFill>
            <a:prstDash val="solid"/>
          </a:ln>
        </p:spPr>
      </p:sp>
      <p:sp>
        <p:nvSpPr>
          <p:cNvPr id="16" name="Phase effort 2"/>
          <p:cNvSpPr txBox="1"/>
          <p:nvPr/>
        </p:nvSpPr>
        <p:spPr>
          <a:xfrm>
            <a:off x="3611880" y="4572000"/>
            <a:ext cx="2103120" cy="457200"/>
          </a:xfrm>
          <a:prstGeom prst="rect">
            <a:avLst/>
          </a:prstGeom>
          <a:noFill/>
          <a:ln/>
        </p:spPr>
        <p:txBody>
          <a:bodyPr wrap="square" lIns="0" tIns="0" rIns="0" bIns="0" rtlCol="0" anchor="ctr"/>
          <a:lstStyle/>
          <a:p>
            <a:pPr algn="ctr" indent="0" marL="0">
              <a:buNone/>
            </a:pPr>
            <a:r>
              <a:rPr lang="en-US" sz="1300" b="1" dirty="0">
                <a:solidFill>
                  <a:schemeClr val="tx1"/>
                </a:solidFill>
              </a:rPr>
              <a:t>Medium effort</a:t>
            </a:r>
            <a:endParaRPr lang="en-US" sz="1300" dirty="0"/>
          </a:p>
        </p:txBody>
      </p:sp>
      <p:sp>
        <p:nvSpPr>
          <p:cNvPr id="17" name="Phase card 3"/>
          <p:cNvSpPr/>
          <p:nvPr/>
        </p:nvSpPr>
        <p:spPr>
          <a:xfrm>
            <a:off x="6217920" y="1463040"/>
            <a:ext cx="2560320" cy="3749040"/>
          </a:xfrm>
          <a:prstGeom prst="roundRect">
            <a:avLst>
              <a:gd name="adj" fmla="val 5357"/>
            </a:avLst>
          </a:prstGeom>
          <a:solidFill>
            <a:schemeClr val="bg2"/>
          </a:solidFill>
          <a:ln w="12700">
            <a:solidFill>
              <a:schemeClr val="bg2"/>
            </a:solidFill>
            <a:prstDash val="solid"/>
          </a:ln>
        </p:spPr>
      </p:sp>
      <p:sp>
        <p:nvSpPr>
          <p:cNvPr id="18" name="Phase tile 3"/>
          <p:cNvSpPr/>
          <p:nvPr/>
        </p:nvSpPr>
        <p:spPr>
          <a:xfrm>
            <a:off x="6446520" y="1691640"/>
            <a:ext cx="731520" cy="731520"/>
          </a:xfrm>
          <a:prstGeom prst="roundRect">
            <a:avLst>
              <a:gd name="adj" fmla="val 15000"/>
            </a:avLst>
          </a:prstGeom>
          <a:solidFill>
            <a:schemeClr val="accent1"/>
          </a:solidFill>
          <a:ln w="12700">
            <a:solidFill>
              <a:schemeClr val="accent1"/>
            </a:solidFill>
            <a:prstDash val="solid"/>
          </a:ln>
        </p:spPr>
      </p:sp>
      <p:sp>
        <p:nvSpPr>
          <p:cNvPr id="19" name="Phase tile 3 letter"/>
          <p:cNvSpPr txBox="1"/>
          <p:nvPr/>
        </p:nvSpPr>
        <p:spPr>
          <a:xfrm>
            <a:off x="6446520" y="1691640"/>
            <a:ext cx="731520" cy="731520"/>
          </a:xfrm>
          <a:prstGeom prst="rect">
            <a:avLst/>
          </a:prstGeom>
          <a:noFill/>
          <a:ln/>
        </p:spPr>
        <p:txBody>
          <a:bodyPr wrap="square" lIns="0" tIns="0" rIns="0" bIns="0" rtlCol="0" anchor="ctr"/>
          <a:lstStyle/>
          <a:p>
            <a:pPr algn="ctr" indent="0" marL="0">
              <a:buNone/>
            </a:pPr>
            <a:r>
              <a:rPr lang="en-US" sz="3700" b="1" dirty="0">
                <a:solidFill>
                  <a:schemeClr val="tx2"/>
                </a:solidFill>
              </a:rPr>
              <a:t>3</a:t>
            </a:r>
            <a:endParaRPr lang="en-US" sz="3700" dirty="0"/>
          </a:p>
        </p:txBody>
      </p:sp>
      <p:sp>
        <p:nvSpPr>
          <p:cNvPr id="20" name="Phase title 3"/>
          <p:cNvSpPr txBox="1"/>
          <p:nvPr/>
        </p:nvSpPr>
        <p:spPr>
          <a:xfrm>
            <a:off x="7315200" y="1691640"/>
            <a:ext cx="1371600" cy="731520"/>
          </a:xfrm>
          <a:prstGeom prst="rect">
            <a:avLst/>
          </a:prstGeom>
          <a:noFill/>
          <a:ln/>
        </p:spPr>
        <p:txBody>
          <a:bodyPr wrap="square" lIns="0" tIns="0" rIns="0" bIns="0" rtlCol="0" anchor="ctr"/>
          <a:lstStyle/>
          <a:p>
            <a:pPr indent="0" marL="0">
              <a:buNone/>
            </a:pPr>
            <a:r>
              <a:rPr lang="en-US" sz="2000" b="1" dirty="0">
                <a:solidFill>
                  <a:schemeClr val="tx1"/>
                </a:solidFill>
              </a:rPr>
              <a:t>Review</a:t>
            </a:r>
            <a:endParaRPr lang="en-US" sz="2000" dirty="0"/>
          </a:p>
        </p:txBody>
      </p:sp>
      <p:sp>
        <p:nvSpPr>
          <p:cNvPr id="21" name="Phase list 3"/>
          <p:cNvSpPr txBox="1"/>
          <p:nvPr/>
        </p:nvSpPr>
        <p:spPr>
          <a:xfrm>
            <a:off x="6446520" y="2697480"/>
            <a:ext cx="21488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Word stages</a:t>
            </a:r>
            <a:endParaRPr lang="en-US" sz="1500" dirty="0"/>
          </a:p>
          <a:p>
            <a:pPr marL="342900" indent="-342900">
              <a:spcAft>
                <a:spcPts val="800"/>
              </a:spcAft>
              <a:buSzPct val="100000"/>
              <a:buChar char="•"/>
            </a:pPr>
            <a:r>
              <a:rPr lang="en-US" sz="1500" dirty="0">
                <a:solidFill>
                  <a:schemeClr val="tx1"/>
                </a:solidFill>
              </a:rPr>
              <a:t>Daily 5-question review</a:t>
            </a:r>
            <a:endParaRPr lang="en-US" sz="1500" dirty="0"/>
          </a:p>
          <a:p>
            <a:pPr marL="342900" indent="-342900">
              <a:spcAft>
                <a:spcPts val="800"/>
              </a:spcAft>
              <a:buSzPct val="100000"/>
              <a:buChar char="•"/>
            </a:pPr>
            <a:r>
              <a:rPr lang="en-US" sz="1500" dirty="0">
                <a:solidFill>
                  <a:schemeClr val="tx1"/>
                </a:solidFill>
              </a:rPr>
              <a:t>Profile: known and learning</a:t>
            </a:r>
            <a:endParaRPr lang="en-US" sz="1500" dirty="0"/>
          </a:p>
        </p:txBody>
      </p:sp>
      <p:sp>
        <p:nvSpPr>
          <p:cNvPr id="22" name="Phase effort chip 3"/>
          <p:cNvSpPr/>
          <p:nvPr/>
        </p:nvSpPr>
        <p:spPr>
          <a:xfrm>
            <a:off x="6446520" y="4572000"/>
            <a:ext cx="2103120" cy="457200"/>
          </a:xfrm>
          <a:prstGeom prst="roundRect">
            <a:avLst>
              <a:gd name="adj" fmla="val 24000"/>
            </a:avLst>
          </a:prstGeom>
          <a:solidFill>
            <a:schemeClr val="bg1"/>
          </a:solidFill>
          <a:ln w="12700">
            <a:solidFill>
              <a:schemeClr val="accent6"/>
            </a:solidFill>
            <a:prstDash val="solid"/>
          </a:ln>
        </p:spPr>
      </p:sp>
      <p:sp>
        <p:nvSpPr>
          <p:cNvPr id="23" name="Phase effort 3"/>
          <p:cNvSpPr txBox="1"/>
          <p:nvPr/>
        </p:nvSpPr>
        <p:spPr>
          <a:xfrm>
            <a:off x="6446520" y="4572000"/>
            <a:ext cx="2103120" cy="457200"/>
          </a:xfrm>
          <a:prstGeom prst="rect">
            <a:avLst/>
          </a:prstGeom>
          <a:noFill/>
          <a:ln/>
        </p:spPr>
        <p:txBody>
          <a:bodyPr wrap="square" lIns="0" tIns="0" rIns="0" bIns="0" rtlCol="0" anchor="ctr"/>
          <a:lstStyle/>
          <a:p>
            <a:pPr algn="ctr" indent="0" marL="0">
              <a:buNone/>
            </a:pPr>
            <a:r>
              <a:rPr lang="en-US" sz="1300" b="1" dirty="0">
                <a:solidFill>
                  <a:schemeClr val="tx1"/>
                </a:solidFill>
              </a:rPr>
              <a:t>Medium to large</a:t>
            </a:r>
            <a:endParaRPr lang="en-US" sz="1300" dirty="0"/>
          </a:p>
        </p:txBody>
      </p:sp>
      <p:sp>
        <p:nvSpPr>
          <p:cNvPr id="24" name="Phase card 4"/>
          <p:cNvSpPr/>
          <p:nvPr/>
        </p:nvSpPr>
        <p:spPr>
          <a:xfrm>
            <a:off x="9052560" y="1463040"/>
            <a:ext cx="2560320" cy="3749040"/>
          </a:xfrm>
          <a:prstGeom prst="roundRect">
            <a:avLst>
              <a:gd name="adj" fmla="val 5357"/>
            </a:avLst>
          </a:prstGeom>
          <a:solidFill>
            <a:schemeClr val="bg2"/>
          </a:solidFill>
          <a:ln w="12700">
            <a:solidFill>
              <a:schemeClr val="bg2"/>
            </a:solidFill>
            <a:prstDash val="solid"/>
          </a:ln>
        </p:spPr>
      </p:sp>
      <p:sp>
        <p:nvSpPr>
          <p:cNvPr id="25" name="Phase tile 4"/>
          <p:cNvSpPr/>
          <p:nvPr/>
        </p:nvSpPr>
        <p:spPr>
          <a:xfrm>
            <a:off x="9281160" y="1691640"/>
            <a:ext cx="731520" cy="731520"/>
          </a:xfrm>
          <a:prstGeom prst="roundRect">
            <a:avLst>
              <a:gd name="adj" fmla="val 15000"/>
            </a:avLst>
          </a:prstGeom>
          <a:solidFill>
            <a:schemeClr val="accent5"/>
          </a:solidFill>
          <a:ln w="12700">
            <a:solidFill>
              <a:schemeClr val="accent5"/>
            </a:solidFill>
            <a:prstDash val="solid"/>
          </a:ln>
        </p:spPr>
      </p:sp>
      <p:sp>
        <p:nvSpPr>
          <p:cNvPr id="26" name="Phase tile 4 letter"/>
          <p:cNvSpPr txBox="1"/>
          <p:nvPr/>
        </p:nvSpPr>
        <p:spPr>
          <a:xfrm>
            <a:off x="9281160" y="1691640"/>
            <a:ext cx="731520" cy="731520"/>
          </a:xfrm>
          <a:prstGeom prst="rect">
            <a:avLst/>
          </a:prstGeom>
          <a:noFill/>
          <a:ln/>
        </p:spPr>
        <p:txBody>
          <a:bodyPr wrap="square" lIns="0" tIns="0" rIns="0" bIns="0" rtlCol="0" anchor="ctr"/>
          <a:lstStyle/>
          <a:p>
            <a:pPr algn="ctr" indent="0" marL="0">
              <a:buNone/>
            </a:pPr>
            <a:r>
              <a:rPr lang="en-US" sz="3700" b="1" dirty="0">
                <a:solidFill>
                  <a:schemeClr val="bg1"/>
                </a:solidFill>
              </a:rPr>
              <a:t>4</a:t>
            </a:r>
            <a:endParaRPr lang="en-US" sz="3700" dirty="0"/>
          </a:p>
        </p:txBody>
      </p:sp>
      <p:sp>
        <p:nvSpPr>
          <p:cNvPr id="27" name="Phase title 4"/>
          <p:cNvSpPr txBox="1"/>
          <p:nvPr/>
        </p:nvSpPr>
        <p:spPr>
          <a:xfrm>
            <a:off x="10149840" y="1691640"/>
            <a:ext cx="1371600" cy="731520"/>
          </a:xfrm>
          <a:prstGeom prst="rect">
            <a:avLst/>
          </a:prstGeom>
          <a:noFill/>
          <a:ln/>
        </p:spPr>
        <p:txBody>
          <a:bodyPr wrap="square" lIns="0" tIns="0" rIns="0" bIns="0" rtlCol="0" anchor="ctr"/>
          <a:lstStyle/>
          <a:p>
            <a:pPr indent="0" marL="0">
              <a:buNone/>
            </a:pPr>
            <a:r>
              <a:rPr lang="en-US" sz="2000" b="1" dirty="0">
                <a:solidFill>
                  <a:schemeClr val="tx1"/>
                </a:solidFill>
              </a:rPr>
              <a:t>Sound</a:t>
            </a:r>
            <a:endParaRPr lang="en-US" sz="2000" dirty="0"/>
          </a:p>
        </p:txBody>
      </p:sp>
      <p:sp>
        <p:nvSpPr>
          <p:cNvPr id="28" name="Phase list 4"/>
          <p:cNvSpPr txBox="1"/>
          <p:nvPr/>
        </p:nvSpPr>
        <p:spPr>
          <a:xfrm>
            <a:off x="9281160" y="2697480"/>
            <a:ext cx="214884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Audio on cards, games and Library</a:t>
            </a:r>
            <a:endParaRPr lang="en-US" sz="1500" dirty="0"/>
          </a:p>
          <a:p>
            <a:pPr marL="342900" indent="-342900">
              <a:spcAft>
                <a:spcPts val="800"/>
              </a:spcAft>
              <a:buSzPct val="100000"/>
              <a:buChar char="•"/>
            </a:pPr>
            <a:r>
              <a:rPr lang="en-US" sz="1500" dirty="0">
                <a:solidFill>
                  <a:schemeClr val="tx1"/>
                </a:solidFill>
              </a:rPr>
              <a:t>Example sentences</a:t>
            </a:r>
            <a:endParaRPr lang="en-US" sz="1500" dirty="0"/>
          </a:p>
        </p:txBody>
      </p:sp>
      <p:sp>
        <p:nvSpPr>
          <p:cNvPr id="29" name="Phase effort chip 4"/>
          <p:cNvSpPr/>
          <p:nvPr/>
        </p:nvSpPr>
        <p:spPr>
          <a:xfrm>
            <a:off x="9281160" y="4572000"/>
            <a:ext cx="2103120" cy="457200"/>
          </a:xfrm>
          <a:prstGeom prst="roundRect">
            <a:avLst>
              <a:gd name="adj" fmla="val 24000"/>
            </a:avLst>
          </a:prstGeom>
          <a:solidFill>
            <a:schemeClr val="bg1"/>
          </a:solidFill>
          <a:ln w="12700">
            <a:solidFill>
              <a:schemeClr val="accent6"/>
            </a:solidFill>
            <a:prstDash val="solid"/>
          </a:ln>
        </p:spPr>
      </p:sp>
      <p:sp>
        <p:nvSpPr>
          <p:cNvPr id="30" name="Phase effort 4"/>
          <p:cNvSpPr txBox="1"/>
          <p:nvPr/>
        </p:nvSpPr>
        <p:spPr>
          <a:xfrm>
            <a:off x="9281160" y="4572000"/>
            <a:ext cx="2103120" cy="457200"/>
          </a:xfrm>
          <a:prstGeom prst="rect">
            <a:avLst/>
          </a:prstGeom>
          <a:noFill/>
          <a:ln/>
        </p:spPr>
        <p:txBody>
          <a:bodyPr wrap="square" lIns="0" tIns="0" rIns="0" bIns="0" rtlCol="0" anchor="ctr"/>
          <a:lstStyle/>
          <a:p>
            <a:pPr algn="ctr" indent="0" marL="0">
              <a:buNone/>
            </a:pPr>
            <a:r>
              <a:rPr lang="en-US" sz="1300" b="1" dirty="0">
                <a:solidFill>
                  <a:schemeClr val="tx1"/>
                </a:solidFill>
              </a:rPr>
              <a:t>Depends on helpers</a:t>
            </a:r>
            <a:endParaRPr lang="en-US" sz="1300" dirty="0"/>
          </a:p>
        </p:txBody>
      </p:sp>
      <p:sp>
        <p:nvSpPr>
          <p:cNvPr id="31" name="Roadmap band"/>
          <p:cNvSpPr/>
          <p:nvPr/>
        </p:nvSpPr>
        <p:spPr>
          <a:xfrm>
            <a:off x="548640" y="5440680"/>
            <a:ext cx="11064240" cy="822960"/>
          </a:xfrm>
          <a:prstGeom prst="roundRect">
            <a:avLst>
              <a:gd name="adj" fmla="val 16667"/>
            </a:avLst>
          </a:prstGeom>
          <a:solidFill>
            <a:schemeClr val="tx2"/>
          </a:solidFill>
          <a:ln w="12700">
            <a:solidFill>
              <a:schemeClr val="tx2"/>
            </a:solidFill>
            <a:prstDash val="solid"/>
          </a:ln>
        </p:spPr>
      </p:sp>
      <p:sp>
        <p:nvSpPr>
          <p:cNvPr id="32" name="Roadmap band text"/>
          <p:cNvSpPr txBox="1"/>
          <p:nvPr/>
        </p:nvSpPr>
        <p:spPr>
          <a:xfrm>
            <a:off x="822960" y="5440680"/>
            <a:ext cx="10515600" cy="822960"/>
          </a:xfrm>
          <a:prstGeom prst="rect">
            <a:avLst/>
          </a:prstGeom>
          <a:noFill/>
          <a:ln/>
        </p:spPr>
        <p:txBody>
          <a:bodyPr wrap="square" lIns="0" tIns="0" rIns="0" bIns="0" rtlCol="0" anchor="ctr"/>
          <a:lstStyle/>
          <a:p>
            <a:pPr indent="0" marL="0">
              <a:buNone/>
            </a:pPr>
            <a:r>
              <a:rPr lang="en-US" sz="1700" dirty="0">
                <a:solidFill>
                  <a:schemeClr val="bg1"/>
                </a:solidFill>
              </a:rPr>
              <a:t>Start collecting recordings and example sentences during Phase 1, so the sound is ready when we reach Phase 4</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losing title"/>
          <p:cNvSpPr txBox="1"/>
          <p:nvPr/>
        </p:nvSpPr>
        <p:spPr>
          <a:xfrm>
            <a:off x="640080" y="457200"/>
            <a:ext cx="10972800" cy="91440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How we will know it works, and what I need from you</a:t>
            </a:r>
            <a:endParaRPr lang="en-US" sz="3400" dirty="0"/>
          </a:p>
        </p:txBody>
      </p:sp>
      <p:sp>
        <p:nvSpPr>
          <p:cNvPr id="3" name="Test card"/>
          <p:cNvSpPr/>
          <p:nvPr/>
        </p:nvSpPr>
        <p:spPr>
          <a:xfrm>
            <a:off x="640080" y="1645920"/>
            <a:ext cx="5303520" cy="3566160"/>
          </a:xfrm>
          <a:prstGeom prst="roundRect">
            <a:avLst>
              <a:gd name="adj" fmla="val 3846"/>
            </a:avLst>
          </a:prstGeom>
          <a:solidFill>
            <a:schemeClr val="tx1"/>
          </a:solidFill>
          <a:ln w="12700">
            <a:solidFill>
              <a:schemeClr val="tx1"/>
            </a:solidFill>
            <a:prstDash val="solid"/>
          </a:ln>
        </p:spPr>
      </p:sp>
      <p:sp>
        <p:nvSpPr>
          <p:cNvPr id="4" name="Test title"/>
          <p:cNvSpPr txBox="1"/>
          <p:nvPr/>
        </p:nvSpPr>
        <p:spPr>
          <a:xfrm>
            <a:off x="914400" y="1828800"/>
            <a:ext cx="4754880" cy="457200"/>
          </a:xfrm>
          <a:prstGeom prst="rect">
            <a:avLst/>
          </a:prstGeom>
          <a:noFill/>
          <a:ln/>
        </p:spPr>
        <p:txBody>
          <a:bodyPr wrap="square" lIns="0" tIns="0" rIns="0" bIns="0" rtlCol="0" anchor="ctr"/>
          <a:lstStyle/>
          <a:p>
            <a:pPr indent="0" marL="0">
              <a:buNone/>
            </a:pPr>
            <a:r>
              <a:rPr lang="en-US" sz="2200" b="1" dirty="0">
                <a:solidFill>
                  <a:schemeClr val="accent1"/>
                </a:solidFill>
              </a:rPr>
              <a:t>A simple test</a:t>
            </a:r>
            <a:endParaRPr lang="en-US" sz="2200" dirty="0"/>
          </a:p>
        </p:txBody>
      </p:sp>
      <p:sp>
        <p:nvSpPr>
          <p:cNvPr id="5" name="Test list"/>
          <p:cNvSpPr txBox="1"/>
          <p:nvPr/>
        </p:nvSpPr>
        <p:spPr>
          <a:xfrm>
            <a:off x="914400" y="2423160"/>
            <a:ext cx="4754880" cy="2651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5 classmates who do not know the language play for 10 minutes</a:t>
            </a:r>
            <a:endParaRPr lang="en-US" sz="1800" dirty="0"/>
          </a:p>
          <a:p>
            <a:pPr marL="342900" indent="-342900">
              <a:spcAft>
                <a:spcPts val="800"/>
              </a:spcAft>
              <a:buSzPct val="100000"/>
              <a:buChar char="•"/>
            </a:pPr>
            <a:r>
              <a:rPr lang="en-US" sz="1800" dirty="0">
                <a:solidFill>
                  <a:schemeClr val="bg1"/>
                </a:solidFill>
              </a:rPr>
              <a:t>Then a 5-word quiz: pick the meaning</a:t>
            </a:r>
            <a:endParaRPr lang="en-US" sz="1800" dirty="0"/>
          </a:p>
          <a:p>
            <a:pPr marL="342900" indent="-342900">
              <a:spcAft>
                <a:spcPts val="800"/>
              </a:spcAft>
              <a:buSzPct val="100000"/>
              <a:buChar char="•"/>
            </a:pPr>
            <a:r>
              <a:rPr lang="en-US" sz="1800" dirty="0">
                <a:solidFill>
                  <a:schemeClr val="bg1"/>
                </a:solidFill>
              </a:rPr>
              <a:t>Compare with and without the Learn cards</a:t>
            </a:r>
            <a:endParaRPr lang="en-US" sz="1800" dirty="0"/>
          </a:p>
          <a:p>
            <a:pPr marL="342900" indent="-342900">
              <a:spcAft>
                <a:spcPts val="800"/>
              </a:spcAft>
              <a:buSzPct val="100000"/>
              <a:buChar char="•"/>
            </a:pPr>
            <a:r>
              <a:rPr lang="en-US" sz="1800" dirty="0">
                <a:solidFill>
                  <a:schemeClr val="bg1"/>
                </a:solidFill>
              </a:rPr>
              <a:t>Count how many of the 5 words each player knew</a:t>
            </a:r>
            <a:endParaRPr lang="en-US" sz="1800" dirty="0"/>
          </a:p>
        </p:txBody>
      </p:sp>
      <p:sp>
        <p:nvSpPr>
          <p:cNvPr id="6" name="Decision card"/>
          <p:cNvSpPr/>
          <p:nvPr/>
        </p:nvSpPr>
        <p:spPr>
          <a:xfrm>
            <a:off x="6217920" y="1645920"/>
            <a:ext cx="5303520" cy="3566160"/>
          </a:xfrm>
          <a:prstGeom prst="roundRect">
            <a:avLst>
              <a:gd name="adj" fmla="val 3846"/>
            </a:avLst>
          </a:prstGeom>
          <a:solidFill>
            <a:schemeClr val="tx1"/>
          </a:solidFill>
          <a:ln w="12700">
            <a:solidFill>
              <a:schemeClr val="tx1"/>
            </a:solidFill>
            <a:prstDash val="solid"/>
          </a:ln>
        </p:spPr>
      </p:sp>
      <p:sp>
        <p:nvSpPr>
          <p:cNvPr id="7" name="Decision title"/>
          <p:cNvSpPr txBox="1"/>
          <p:nvPr/>
        </p:nvSpPr>
        <p:spPr>
          <a:xfrm>
            <a:off x="6492240" y="1828800"/>
            <a:ext cx="4754880" cy="457200"/>
          </a:xfrm>
          <a:prstGeom prst="rect">
            <a:avLst/>
          </a:prstGeom>
          <a:noFill/>
          <a:ln/>
        </p:spPr>
        <p:txBody>
          <a:bodyPr wrap="square" lIns="0" tIns="0" rIns="0" bIns="0" rtlCol="0" anchor="ctr"/>
          <a:lstStyle/>
          <a:p>
            <a:pPr indent="0" marL="0">
              <a:buNone/>
            </a:pPr>
            <a:r>
              <a:rPr lang="en-US" sz="2200" b="1" dirty="0">
                <a:solidFill>
                  <a:schemeClr val="accent1"/>
                </a:solidFill>
              </a:rPr>
              <a:t>Decisions for the group</a:t>
            </a:r>
            <a:endParaRPr lang="en-US" sz="2200" dirty="0"/>
          </a:p>
        </p:txBody>
      </p:sp>
      <p:sp>
        <p:nvSpPr>
          <p:cNvPr id="8" name="Decision tile 1"/>
          <p:cNvSpPr/>
          <p:nvPr/>
        </p:nvSpPr>
        <p:spPr>
          <a:xfrm>
            <a:off x="6492240" y="2468880"/>
            <a:ext cx="594360" cy="594360"/>
          </a:xfrm>
          <a:prstGeom prst="roundRect">
            <a:avLst>
              <a:gd name="adj" fmla="val 18462"/>
            </a:avLst>
          </a:prstGeom>
          <a:solidFill>
            <a:schemeClr val="accent1"/>
          </a:solidFill>
          <a:ln w="12700">
            <a:solidFill>
              <a:schemeClr val="accent1"/>
            </a:solidFill>
            <a:prstDash val="solid"/>
          </a:ln>
        </p:spPr>
      </p:sp>
      <p:sp>
        <p:nvSpPr>
          <p:cNvPr id="9" name="Decision tile 1 letter"/>
          <p:cNvSpPr txBox="1"/>
          <p:nvPr/>
        </p:nvSpPr>
        <p:spPr>
          <a:xfrm>
            <a:off x="6492240" y="2468880"/>
            <a:ext cx="594360" cy="594360"/>
          </a:xfrm>
          <a:prstGeom prst="rect">
            <a:avLst/>
          </a:prstGeom>
          <a:noFill/>
          <a:ln/>
        </p:spPr>
        <p:txBody>
          <a:bodyPr wrap="square" lIns="0" tIns="0" rIns="0" bIns="0" rtlCol="0" anchor="ctr"/>
          <a:lstStyle/>
          <a:p>
            <a:pPr algn="ctr" indent="0" marL="0">
              <a:buNone/>
            </a:pPr>
            <a:r>
              <a:rPr lang="en-US" sz="3000" b="1" dirty="0">
                <a:solidFill>
                  <a:schemeClr val="tx2"/>
                </a:solidFill>
              </a:rPr>
              <a:t>1</a:t>
            </a:r>
            <a:endParaRPr lang="en-US" sz="3000" dirty="0"/>
          </a:p>
        </p:txBody>
      </p:sp>
      <p:sp>
        <p:nvSpPr>
          <p:cNvPr id="10" name="Decision text 1"/>
          <p:cNvSpPr txBox="1"/>
          <p:nvPr/>
        </p:nvSpPr>
        <p:spPr>
          <a:xfrm>
            <a:off x="7269480" y="2468880"/>
            <a:ext cx="4023360" cy="594360"/>
          </a:xfrm>
          <a:prstGeom prst="rect">
            <a:avLst/>
          </a:prstGeom>
          <a:noFill/>
          <a:ln/>
        </p:spPr>
        <p:txBody>
          <a:bodyPr wrap="square" lIns="0" tIns="0" rIns="0" bIns="0" rtlCol="0" anchor="ctr"/>
          <a:lstStyle/>
          <a:p>
            <a:pPr indent="0" marL="0">
              <a:buNone/>
            </a:pPr>
            <a:r>
              <a:rPr lang="en-US" sz="1600" dirty="0">
                <a:solidFill>
                  <a:schemeClr val="bg1"/>
                </a:solidFill>
              </a:rPr>
              <a:t>Start with Phase 1 (Learn cards)?</a:t>
            </a:r>
            <a:endParaRPr lang="en-US" sz="1600" dirty="0"/>
          </a:p>
        </p:txBody>
      </p:sp>
      <p:sp>
        <p:nvSpPr>
          <p:cNvPr id="11" name="Decision tile 2"/>
          <p:cNvSpPr/>
          <p:nvPr/>
        </p:nvSpPr>
        <p:spPr>
          <a:xfrm>
            <a:off x="6492240" y="3337560"/>
            <a:ext cx="594360" cy="594360"/>
          </a:xfrm>
          <a:prstGeom prst="roundRect">
            <a:avLst>
              <a:gd name="adj" fmla="val 18462"/>
            </a:avLst>
          </a:prstGeom>
          <a:solidFill>
            <a:schemeClr val="accent1"/>
          </a:solidFill>
          <a:ln w="12700">
            <a:solidFill>
              <a:schemeClr val="accent1"/>
            </a:solidFill>
            <a:prstDash val="solid"/>
          </a:ln>
        </p:spPr>
      </p:sp>
      <p:sp>
        <p:nvSpPr>
          <p:cNvPr id="12" name="Decision tile 2 letter"/>
          <p:cNvSpPr txBox="1"/>
          <p:nvPr/>
        </p:nvSpPr>
        <p:spPr>
          <a:xfrm>
            <a:off x="6492240" y="3337560"/>
            <a:ext cx="594360" cy="594360"/>
          </a:xfrm>
          <a:prstGeom prst="rect">
            <a:avLst/>
          </a:prstGeom>
          <a:noFill/>
          <a:ln/>
        </p:spPr>
        <p:txBody>
          <a:bodyPr wrap="square" lIns="0" tIns="0" rIns="0" bIns="0" rtlCol="0" anchor="ctr"/>
          <a:lstStyle/>
          <a:p>
            <a:pPr algn="ctr" indent="0" marL="0">
              <a:buNone/>
            </a:pPr>
            <a:r>
              <a:rPr lang="en-US" sz="3000" b="1" dirty="0">
                <a:solidFill>
                  <a:schemeClr val="tx2"/>
                </a:solidFill>
              </a:rPr>
              <a:t>2</a:t>
            </a:r>
            <a:endParaRPr lang="en-US" sz="3000" dirty="0"/>
          </a:p>
        </p:txBody>
      </p:sp>
      <p:sp>
        <p:nvSpPr>
          <p:cNvPr id="13" name="Decision text 2"/>
          <p:cNvSpPr txBox="1"/>
          <p:nvPr/>
        </p:nvSpPr>
        <p:spPr>
          <a:xfrm>
            <a:off x="7269480" y="3337560"/>
            <a:ext cx="4023360" cy="594360"/>
          </a:xfrm>
          <a:prstGeom prst="rect">
            <a:avLst/>
          </a:prstGeom>
          <a:noFill/>
          <a:ln/>
        </p:spPr>
        <p:txBody>
          <a:bodyPr wrap="square" lIns="0" tIns="0" rIns="0" bIns="0" rtlCol="0" anchor="ctr"/>
          <a:lstStyle/>
          <a:p>
            <a:pPr indent="0" marL="0">
              <a:buNone/>
            </a:pPr>
            <a:r>
              <a:rPr lang="en-US" sz="1600" dirty="0">
                <a:solidFill>
                  <a:schemeClr val="bg1"/>
                </a:solidFill>
              </a:rPr>
              <a:t>Who can record and check the words?</a:t>
            </a:r>
            <a:endParaRPr lang="en-US" sz="1600" dirty="0"/>
          </a:p>
        </p:txBody>
      </p:sp>
      <p:sp>
        <p:nvSpPr>
          <p:cNvPr id="14" name="Decision tile 3"/>
          <p:cNvSpPr/>
          <p:nvPr/>
        </p:nvSpPr>
        <p:spPr>
          <a:xfrm>
            <a:off x="6492240" y="4206240"/>
            <a:ext cx="594360" cy="594360"/>
          </a:xfrm>
          <a:prstGeom prst="roundRect">
            <a:avLst>
              <a:gd name="adj" fmla="val 18462"/>
            </a:avLst>
          </a:prstGeom>
          <a:solidFill>
            <a:schemeClr val="accent1"/>
          </a:solidFill>
          <a:ln w="12700">
            <a:solidFill>
              <a:schemeClr val="accent1"/>
            </a:solidFill>
            <a:prstDash val="solid"/>
          </a:ln>
        </p:spPr>
      </p:sp>
      <p:sp>
        <p:nvSpPr>
          <p:cNvPr id="15" name="Decision tile 3 letter"/>
          <p:cNvSpPr txBox="1"/>
          <p:nvPr/>
        </p:nvSpPr>
        <p:spPr>
          <a:xfrm>
            <a:off x="6492240" y="4206240"/>
            <a:ext cx="594360" cy="594360"/>
          </a:xfrm>
          <a:prstGeom prst="rect">
            <a:avLst/>
          </a:prstGeom>
          <a:noFill/>
          <a:ln/>
        </p:spPr>
        <p:txBody>
          <a:bodyPr wrap="square" lIns="0" tIns="0" rIns="0" bIns="0" rtlCol="0" anchor="ctr"/>
          <a:lstStyle/>
          <a:p>
            <a:pPr algn="ctr" indent="0" marL="0">
              <a:buNone/>
            </a:pPr>
            <a:r>
              <a:rPr lang="en-US" sz="3000" b="1" dirty="0">
                <a:solidFill>
                  <a:schemeClr val="tx2"/>
                </a:solidFill>
              </a:rPr>
              <a:t>3</a:t>
            </a:r>
            <a:endParaRPr lang="en-US" sz="3000" dirty="0"/>
          </a:p>
        </p:txBody>
      </p:sp>
      <p:sp>
        <p:nvSpPr>
          <p:cNvPr id="16" name="Decision text 3"/>
          <p:cNvSpPr txBox="1"/>
          <p:nvPr/>
        </p:nvSpPr>
        <p:spPr>
          <a:xfrm>
            <a:off x="7269480" y="4206240"/>
            <a:ext cx="4023360" cy="594360"/>
          </a:xfrm>
          <a:prstGeom prst="rect">
            <a:avLst/>
          </a:prstGeom>
          <a:noFill/>
          <a:ln/>
        </p:spPr>
        <p:txBody>
          <a:bodyPr wrap="square" lIns="0" tIns="0" rIns="0" bIns="0" rtlCol="0" anchor="ctr"/>
          <a:lstStyle/>
          <a:p>
            <a:pPr indent="0" marL="0">
              <a:buNone/>
            </a:pPr>
            <a:r>
              <a:rPr lang="en-US" sz="1600" dirty="0">
                <a:solidFill>
                  <a:schemeClr val="bg1"/>
                </a:solidFill>
              </a:rPr>
              <a:t>Learn cards optional or required?</a:t>
            </a:r>
            <a:endParaRPr lang="en-US" sz="1600" dirty="0"/>
          </a:p>
        </p:txBody>
      </p:sp>
      <p:sp>
        <p:nvSpPr>
          <p:cNvPr id="17" name="Honesty note"/>
          <p:cNvSpPr txBox="1"/>
          <p:nvPr/>
        </p:nvSpPr>
        <p:spPr>
          <a:xfrm>
            <a:off x="640080" y="5486400"/>
            <a:ext cx="10881360" cy="731520"/>
          </a:xfrm>
          <a:prstGeom prst="rect">
            <a:avLst/>
          </a:prstGeom>
          <a:noFill/>
          <a:ln/>
        </p:spPr>
        <p:txBody>
          <a:bodyPr wrap="square" lIns="0" tIns="0" rIns="0" bIns="0" rtlCol="0" anchor="ctr"/>
          <a:lstStyle/>
          <a:p>
            <a:pPr indent="0" marL="0">
              <a:buNone/>
            </a:pPr>
            <a:r>
              <a:rPr lang="en-US" sz="1500" i="1" dirty="0">
                <a:solidFill>
                  <a:schemeClr val="bg2"/>
                </a:solidFill>
              </a:rPr>
              <a:t>These ideas follow common learning principles: see it, hear it, use it, come back to it. We have not tested them on our own players yet.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Lakbay Salita">
  <a:themeElements>
    <a:clrScheme name="Lakbay Salita">
      <a:dk1>
        <a:srgbClr val="22304A"/>
      </a:dk1>
      <a:lt1>
        <a:srgbClr val="FFFFFF"/>
      </a:lt1>
      <a:dk2>
        <a:srgbClr val="14213D"/>
      </a:dk2>
      <a:lt2>
        <a:srgbClr val="EDF3FA"/>
      </a:lt2>
      <a:accent1>
        <a:srgbClr val="F5A623"/>
      </a:accent1>
      <a:accent2>
        <a:srgbClr val="5FA02A"/>
      </a:accent2>
      <a:accent3>
        <a:srgbClr val="3A8EDB"/>
      </a:accent3>
      <a:accent4>
        <a:srgbClr val="E0603F"/>
      </a:accent4>
      <a:accent5>
        <a:srgbClr val="8A44C8"/>
      </a:accent5>
      <a:accent6>
        <a:srgbClr val="8A6B47"/>
      </a:accent6>
      <a:hlink>
        <a:srgbClr val="3A8EDB"/>
      </a:hlink>
      <a:folHlink>
        <a:srgbClr val="8A44C8"/>
      </a:folHlink>
    </a:clrScheme>
    <a:fontScheme name="Lakbay Sali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Lakbay Salita - how players learn the language</dc:title>
  <dc:subject>PptxGenJS Presentation</dc:subject>
  <dc:creator>Lakbay Salita team</dc:creator>
  <cp:lastModifiedBy>Lakbay Salita team</cp:lastModifiedBy>
  <cp:revision>1</cp:revision>
  <dcterms:created xsi:type="dcterms:W3CDTF">2026-10-15T03:31:53Z</dcterms:created>
  <dcterms:modified xsi:type="dcterms:W3CDTF">2026-10-15T03:31:53Z</dcterms:modified>
</cp:coreProperties>
</file>