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1447403-d1ef-0156-53a7-27cc0164b452}">
          <p14:sldIdLst>
            <p14:sldId id="256"/>
          </p14:sldIdLst>
        </p14:section>
        <p14:section name="Overview" id="{c541d9fa-157c-c4a6-1efe-e82413757196}">
          <p14:sldIdLst>
            <p14:sldId id="257"/>
            <p14:sldId id="258"/>
            <p14:sldId id="259"/>
          </p14:sldIdLst>
        </p14:section>
        <p14:section name="Screens" id="{73301913-830c-5c31-bcd9-81e0ff36799d}">
          <p14:sldIdLst>
            <p14:sldId id="260"/>
            <p14:sldId id="261"/>
            <p14:sldId id="262"/>
            <p14:sldId id="263"/>
            <p14:sldId id="264"/>
            <p14:sldId id="265"/>
            <p14:sldId id="266"/>
            <p14:sldId id="267"/>
            <p14:sldId id="268"/>
          </p14:sldIdLst>
        </p14:section>
        <p14:section name="Behind the game" id="{476d4ac9-31f6-bd97-1a6f-057dd6a6db18}">
          <p14:sldIdLst>
            <p14:sldId id="269"/>
            <p14:sldId id="270"/>
            <p14:sldId id="271"/>
            <p14:sldId id="272"/>
          </p14:sldIdLst>
        </p14:section>
        <p14:section name="Next" id="{97200a4f-02a5-4be7-f117-2e8461a5e175}">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the whole Lakbay Salita project: what the game is, every screen and feature, how it is built, and what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numbers. Three languages, four activities, a 63,540-word dictionary, and one shared list of 133 words per language that every game draws from, so a word learned in one place appears in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idea behind every feature. A player who does not know the language needs to see a word, then be tested on it, then see it used in a sentence. Each step maps to a part of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menu is the hub: Play opens the language hub with the three games, Library opens the dictionary, Phrasebook opens the phrase topics, Profile and the gear settings sit in the corner. Each game goes topic picker, optional learn cards, the puzzle, then a result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menu animates letter tiles and a day streak counter. The gear opens a small settings window: sound effects on or off, and music volume. Dragging the slider to zero turns the music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language once, then a game. Each topic has a Learn button for the word cards and a Play button. Levels inside a topic get longer words as the player advances. A Random button picks a puzzle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Wordle: the clue is English, the answer is in the chosen language. Hints say which column holds a letter. The keypad no longer colours letters, so players must think. After a win the result card shows the word, the English meaning and a star to save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Crosswords use the same word list as Wordle. The clue list is on the right; the active word is highlighted. Check, Hint and Reveal help a stuck player.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Word Search the player sees native words in a list and finds them in the grid. When a word is found it turns coloured and the English meaning appears next to it, so finding it also teaches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cards fix the problem of testing words a player has never seen. Each topic's words are shown first with their meaning. The cards are optional so experienced players can skip them, but a brand new player can learn first and then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Phrasebook teaches words in use. Open it from the main menu, choose the language with the chips, and pick a topic. Learn shows the English sentence, the native phrase and a gloss of each word. Build asks the player to assemble the sentence from word tiles, with a Hint and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is the reference part of the game. It holds the full dictionary data, lets the player compare the same word across languages, and keeps favorites from the Learn cards and puzzle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profile reads the saved progress of every game. Each row shows solved puzzles out of the total for each language, and the Phrasebook row counts phrases learned. The numbers shown here are sample data from a test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Audio: seven music tracks and 25 sound effects. A single SoundEffects script gives every button a click, so no scene needs wiring. Tap to hear is fully built but disabled because there are no recordings yet; the list of 551 words to record is in the Mockups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content. The structure is solid, but the words and phrases were prepared without a native speaker. Getting reviewers for Cebuano, Ilonggo and Tagalog is the most valuable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the project is a Unity uGUI game. Screens are built by editor tools from code, which keeps the design consistent. All puzzle content is JSON. Progress is saved locally, so no server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window rules: minimum 800 by 600, default and maximum 1024 by 768 in windowed mode. Maximize goes to full screen 1920 by 1080. Because the art is 16:9, a 4:3 window shows black bars top and bottom rather than stretching. The maximize behaviour has been checked in the editor but still needs a test in a real Windows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is playable end to end. Open items are mostly content: language review and recordings. Technical items are small: a build test for maximize and optional event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order. First make sure the language is correct, then add voice, then grow the content, then put it in front of learners. Dates are not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questions. 'Salamat' means thank you in Tagalog.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tile L0"/>
          <p:cNvSpPr/>
          <p:nvPr/>
        </p:nvSpPr>
        <p:spPr>
          <a:xfrm>
            <a:off x="640080" y="1188720"/>
            <a:ext cx="731520" cy="731520"/>
          </a:xfrm>
          <a:prstGeom prst="roundRect">
            <a:avLst>
              <a:gd name="adj" fmla="val 15000"/>
            </a:avLst>
          </a:prstGeom>
          <a:solidFill>
            <a:schemeClr val="accent2"/>
          </a:solidFill>
          <a:ln w="12700">
            <a:solidFill>
              <a:schemeClr val="accent2"/>
            </a:solidFill>
            <a:prstDash val="solid"/>
          </a:ln>
        </p:spPr>
      </p:sp>
      <p:sp>
        <p:nvSpPr>
          <p:cNvPr id="3" name="Title tile L0 letter"/>
          <p:cNvSpPr txBox="1"/>
          <p:nvPr/>
        </p:nvSpPr>
        <p:spPr>
          <a:xfrm>
            <a:off x="640080" y="1188720"/>
            <a:ext cx="731520" cy="731520"/>
          </a:xfrm>
          <a:prstGeom prst="rect">
            <a:avLst/>
          </a:prstGeom>
          <a:noFill/>
          <a:ln/>
        </p:spPr>
        <p:txBody>
          <a:bodyPr wrap="square" lIns="0" tIns="0" rIns="0" bIns="0" rtlCol="0" anchor="ctr"/>
          <a:lstStyle/>
          <a:p>
            <a:pPr algn="ctr" indent="0" marL="0">
              <a:buNone/>
            </a:pPr>
            <a:r>
              <a:rPr lang="en-US" sz="3700" b="1" dirty="0">
                <a:solidFill>
                  <a:schemeClr val="bg1"/>
                </a:solidFill>
              </a:rPr>
              <a:t>L</a:t>
            </a:r>
            <a:endParaRPr lang="en-US" sz="3700" dirty="0"/>
          </a:p>
        </p:txBody>
      </p:sp>
      <p:sp>
        <p:nvSpPr>
          <p:cNvPr id="4" name="Title tile A1"/>
          <p:cNvSpPr/>
          <p:nvPr/>
        </p:nvSpPr>
        <p:spPr>
          <a:xfrm>
            <a:off x="1481328" y="1188720"/>
            <a:ext cx="731520" cy="731520"/>
          </a:xfrm>
          <a:prstGeom prst="roundRect">
            <a:avLst>
              <a:gd name="adj" fmla="val 15000"/>
            </a:avLst>
          </a:prstGeom>
          <a:solidFill>
            <a:schemeClr val="accent1"/>
          </a:solidFill>
          <a:ln w="12700">
            <a:solidFill>
              <a:schemeClr val="accent1"/>
            </a:solidFill>
            <a:prstDash val="solid"/>
          </a:ln>
        </p:spPr>
      </p:sp>
      <p:sp>
        <p:nvSpPr>
          <p:cNvPr id="5" name="Title tile A1 letter"/>
          <p:cNvSpPr txBox="1"/>
          <p:nvPr/>
        </p:nvSpPr>
        <p:spPr>
          <a:xfrm>
            <a:off x="1481328" y="1188720"/>
            <a:ext cx="731520" cy="731520"/>
          </a:xfrm>
          <a:prstGeom prst="rect">
            <a:avLst/>
          </a:prstGeom>
          <a:noFill/>
          <a:ln/>
        </p:spPr>
        <p:txBody>
          <a:bodyPr wrap="square" lIns="0" tIns="0" rIns="0" bIns="0" rtlCol="0" anchor="ctr"/>
          <a:lstStyle/>
          <a:p>
            <a:pPr algn="ctr" indent="0" marL="0">
              <a:buNone/>
            </a:pPr>
            <a:r>
              <a:rPr lang="en-US" sz="3700" b="1" dirty="0">
                <a:solidFill>
                  <a:schemeClr val="tx2"/>
                </a:solidFill>
              </a:rPr>
              <a:t>A</a:t>
            </a:r>
            <a:endParaRPr lang="en-US" sz="3700" dirty="0"/>
          </a:p>
        </p:txBody>
      </p:sp>
      <p:sp>
        <p:nvSpPr>
          <p:cNvPr id="6" name="Title tile K2"/>
          <p:cNvSpPr/>
          <p:nvPr/>
        </p:nvSpPr>
        <p:spPr>
          <a:xfrm>
            <a:off x="2322576" y="1188720"/>
            <a:ext cx="731520" cy="731520"/>
          </a:xfrm>
          <a:prstGeom prst="roundRect">
            <a:avLst>
              <a:gd name="adj" fmla="val 15000"/>
            </a:avLst>
          </a:prstGeom>
          <a:solidFill>
            <a:schemeClr val="accent2"/>
          </a:solidFill>
          <a:ln w="12700">
            <a:solidFill>
              <a:schemeClr val="accent2"/>
            </a:solidFill>
            <a:prstDash val="solid"/>
          </a:ln>
        </p:spPr>
      </p:sp>
      <p:sp>
        <p:nvSpPr>
          <p:cNvPr id="7" name="Title tile K2 letter"/>
          <p:cNvSpPr txBox="1"/>
          <p:nvPr/>
        </p:nvSpPr>
        <p:spPr>
          <a:xfrm>
            <a:off x="2322576" y="1188720"/>
            <a:ext cx="731520" cy="731520"/>
          </a:xfrm>
          <a:prstGeom prst="rect">
            <a:avLst/>
          </a:prstGeom>
          <a:noFill/>
          <a:ln/>
        </p:spPr>
        <p:txBody>
          <a:bodyPr wrap="square" lIns="0" tIns="0" rIns="0" bIns="0" rtlCol="0" anchor="ctr"/>
          <a:lstStyle/>
          <a:p>
            <a:pPr algn="ctr" indent="0" marL="0">
              <a:buNone/>
            </a:pPr>
            <a:r>
              <a:rPr lang="en-US" sz="3700" b="1" dirty="0">
                <a:solidFill>
                  <a:schemeClr val="bg1"/>
                </a:solidFill>
              </a:rPr>
              <a:t>K</a:t>
            </a:r>
            <a:endParaRPr lang="en-US" sz="3700" dirty="0"/>
          </a:p>
        </p:txBody>
      </p:sp>
      <p:sp>
        <p:nvSpPr>
          <p:cNvPr id="8" name="Title tile B3"/>
          <p:cNvSpPr/>
          <p:nvPr/>
        </p:nvSpPr>
        <p:spPr>
          <a:xfrm>
            <a:off x="3163824" y="1188720"/>
            <a:ext cx="731520" cy="731520"/>
          </a:xfrm>
          <a:prstGeom prst="roundRect">
            <a:avLst>
              <a:gd name="adj" fmla="val 15000"/>
            </a:avLst>
          </a:prstGeom>
          <a:solidFill>
            <a:schemeClr val="accent2"/>
          </a:solidFill>
          <a:ln w="12700">
            <a:solidFill>
              <a:schemeClr val="accent2"/>
            </a:solidFill>
            <a:prstDash val="solid"/>
          </a:ln>
        </p:spPr>
      </p:sp>
      <p:sp>
        <p:nvSpPr>
          <p:cNvPr id="9" name="Title tile B3 letter"/>
          <p:cNvSpPr txBox="1"/>
          <p:nvPr/>
        </p:nvSpPr>
        <p:spPr>
          <a:xfrm>
            <a:off x="3163824" y="1188720"/>
            <a:ext cx="731520" cy="731520"/>
          </a:xfrm>
          <a:prstGeom prst="rect">
            <a:avLst/>
          </a:prstGeom>
          <a:noFill/>
          <a:ln/>
        </p:spPr>
        <p:txBody>
          <a:bodyPr wrap="square" lIns="0" tIns="0" rIns="0" bIns="0" rtlCol="0" anchor="ctr"/>
          <a:lstStyle/>
          <a:p>
            <a:pPr algn="ctr" indent="0" marL="0">
              <a:buNone/>
            </a:pPr>
            <a:r>
              <a:rPr lang="en-US" sz="3700" b="1" dirty="0">
                <a:solidFill>
                  <a:schemeClr val="bg1"/>
                </a:solidFill>
              </a:rPr>
              <a:t>B</a:t>
            </a:r>
            <a:endParaRPr lang="en-US" sz="3700" dirty="0"/>
          </a:p>
        </p:txBody>
      </p:sp>
      <p:sp>
        <p:nvSpPr>
          <p:cNvPr id="10" name="Title tile A4"/>
          <p:cNvSpPr/>
          <p:nvPr/>
        </p:nvSpPr>
        <p:spPr>
          <a:xfrm>
            <a:off x="4005072" y="1188720"/>
            <a:ext cx="731520" cy="731520"/>
          </a:xfrm>
          <a:prstGeom prst="roundRect">
            <a:avLst>
              <a:gd name="adj" fmla="val 15000"/>
            </a:avLst>
          </a:prstGeom>
          <a:solidFill>
            <a:schemeClr val="accent1"/>
          </a:solidFill>
          <a:ln w="12700">
            <a:solidFill>
              <a:schemeClr val="accent1"/>
            </a:solidFill>
            <a:prstDash val="solid"/>
          </a:ln>
        </p:spPr>
      </p:sp>
      <p:sp>
        <p:nvSpPr>
          <p:cNvPr id="11" name="Title tile A4 letter"/>
          <p:cNvSpPr txBox="1"/>
          <p:nvPr/>
        </p:nvSpPr>
        <p:spPr>
          <a:xfrm>
            <a:off x="4005072" y="1188720"/>
            <a:ext cx="731520" cy="731520"/>
          </a:xfrm>
          <a:prstGeom prst="rect">
            <a:avLst/>
          </a:prstGeom>
          <a:noFill/>
          <a:ln/>
        </p:spPr>
        <p:txBody>
          <a:bodyPr wrap="square" lIns="0" tIns="0" rIns="0" bIns="0" rtlCol="0" anchor="ctr"/>
          <a:lstStyle/>
          <a:p>
            <a:pPr algn="ctr" indent="0" marL="0">
              <a:buNone/>
            </a:pPr>
            <a:r>
              <a:rPr lang="en-US" sz="3700" b="1" dirty="0">
                <a:solidFill>
                  <a:schemeClr val="tx2"/>
                </a:solidFill>
              </a:rPr>
              <a:t>A</a:t>
            </a:r>
            <a:endParaRPr lang="en-US" sz="3700" dirty="0"/>
          </a:p>
        </p:txBody>
      </p:sp>
      <p:sp>
        <p:nvSpPr>
          <p:cNvPr id="12" name="Title tile Y5"/>
          <p:cNvSpPr/>
          <p:nvPr/>
        </p:nvSpPr>
        <p:spPr>
          <a:xfrm>
            <a:off x="4846320" y="1188720"/>
            <a:ext cx="731520" cy="731520"/>
          </a:xfrm>
          <a:prstGeom prst="roundRect">
            <a:avLst>
              <a:gd name="adj" fmla="val 15000"/>
            </a:avLst>
          </a:prstGeom>
          <a:solidFill>
            <a:schemeClr val="accent2"/>
          </a:solidFill>
          <a:ln w="12700">
            <a:solidFill>
              <a:schemeClr val="accent2"/>
            </a:solidFill>
            <a:prstDash val="solid"/>
          </a:ln>
        </p:spPr>
      </p:sp>
      <p:sp>
        <p:nvSpPr>
          <p:cNvPr id="13" name="Title tile Y5 letter"/>
          <p:cNvSpPr txBox="1"/>
          <p:nvPr/>
        </p:nvSpPr>
        <p:spPr>
          <a:xfrm>
            <a:off x="4846320" y="1188720"/>
            <a:ext cx="731520" cy="731520"/>
          </a:xfrm>
          <a:prstGeom prst="rect">
            <a:avLst/>
          </a:prstGeom>
          <a:noFill/>
          <a:ln/>
        </p:spPr>
        <p:txBody>
          <a:bodyPr wrap="square" lIns="0" tIns="0" rIns="0" bIns="0" rtlCol="0" anchor="ctr"/>
          <a:lstStyle/>
          <a:p>
            <a:pPr algn="ctr" indent="0" marL="0">
              <a:buNone/>
            </a:pPr>
            <a:r>
              <a:rPr lang="en-US" sz="3700" b="1" dirty="0">
                <a:solidFill>
                  <a:schemeClr val="bg1"/>
                </a:solidFill>
              </a:rPr>
              <a:t>Y</a:t>
            </a:r>
            <a:endParaRPr lang="en-US" sz="3700" dirty="0"/>
          </a:p>
        </p:txBody>
      </p:sp>
      <p:sp>
        <p:nvSpPr>
          <p:cNvPr id="14" name="Deck title"/>
          <p:cNvSpPr txBox="1"/>
          <p:nvPr/>
        </p:nvSpPr>
        <p:spPr>
          <a:xfrm>
            <a:off x="640080" y="2286000"/>
            <a:ext cx="640080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Lakbay Salita</a:t>
            </a:r>
            <a:endParaRPr lang="en-US" sz="5400" dirty="0"/>
          </a:p>
        </p:txBody>
      </p:sp>
      <p:sp>
        <p:nvSpPr>
          <p:cNvPr id="15" name="Deck subtitle"/>
          <p:cNvSpPr txBox="1"/>
          <p:nvPr/>
        </p:nvSpPr>
        <p:spPr>
          <a:xfrm>
            <a:off x="640080" y="3474720"/>
            <a:ext cx="6217920" cy="1280160"/>
          </a:xfrm>
          <a:prstGeom prst="rect">
            <a:avLst/>
          </a:prstGeom>
          <a:noFill/>
          <a:ln/>
        </p:spPr>
        <p:txBody>
          <a:bodyPr wrap="square" lIns="0" tIns="0" rIns="0" bIns="0" rtlCol="0" anchor="t"/>
          <a:lstStyle/>
          <a:p>
            <a:pPr indent="0" marL="0">
              <a:buNone/>
            </a:pPr>
            <a:r>
              <a:rPr lang="en-US" sz="2000" dirty="0">
                <a:solidFill>
                  <a:schemeClr val="bg2"/>
                </a:solidFill>
              </a:rPr>
              <a:t>Journey through words: a 2D game for learning Cebuano, Ilonggo and Tagalog through puzzles, cards and real phrases</a:t>
            </a:r>
            <a:endParaRPr lang="en-US" sz="2000" dirty="0"/>
          </a:p>
        </p:txBody>
      </p:sp>
      <p:sp>
        <p:nvSpPr>
          <p:cNvPr id="16" name="Deck footer"/>
          <p:cNvSpPr txBox="1"/>
          <p:nvPr/>
        </p:nvSpPr>
        <p:spPr>
          <a:xfrm>
            <a:off x="640080" y="6035040"/>
            <a:ext cx="6400800" cy="365760"/>
          </a:xfrm>
          <a:prstGeom prst="rect">
            <a:avLst/>
          </a:prstGeom>
          <a:noFill/>
          <a:ln/>
        </p:spPr>
        <p:txBody>
          <a:bodyPr wrap="square" lIns="0" tIns="0" rIns="0" bIns="0" rtlCol="0" anchor="t"/>
          <a:lstStyle/>
          <a:p>
            <a:pPr indent="0" marL="0">
              <a:buNone/>
            </a:pPr>
            <a:r>
              <a:rPr lang="en-US" sz="1400" dirty="0">
                <a:solidFill>
                  <a:schemeClr val="accent1"/>
                </a:solidFill>
              </a:rPr>
              <a:t>Project presentation  ·  October 2026</a:t>
            </a:r>
            <a:endParaRPr lang="en-US" sz="1400" dirty="0"/>
          </a:p>
        </p:txBody>
      </p:sp>
      <p:sp>
        <p:nvSpPr>
          <p:cNvPr id="17" name="Title screenshot frame"/>
          <p:cNvSpPr/>
          <p:nvPr/>
        </p:nvSpPr>
        <p:spPr>
          <a:xfrm>
            <a:off x="7159752" y="1764792"/>
            <a:ext cx="4608576" cy="2648331"/>
          </a:xfrm>
          <a:prstGeom prst="roundRect">
            <a:avLst>
              <a:gd name="adj" fmla="val 2762"/>
            </a:avLst>
          </a:prstGeom>
          <a:solidFill>
            <a:schemeClr val="tx2"/>
          </a:solidFill>
          <a:ln w="12700">
            <a:solidFill>
              <a:schemeClr val="tx2"/>
            </a:solidFill>
            <a:prstDash val="solid"/>
          </a:ln>
        </p:spPr>
      </p:sp>
      <p:pic>
        <p:nvPicPr>
          <p:cNvPr id="18" name="Title screenshot" descr="Title screenshot">    </p:cNvPr>
          <p:cNvPicPr>
            <a:picLocks noChangeAspect="1"/>
          </p:cNvPicPr>
          <p:nvPr/>
        </p:nvPicPr>
        <p:blipFill>
          <a:blip r:embed="rId1"/>
          <a:stretch>
            <a:fillRect/>
          </a:stretch>
        </p:blipFill>
        <p:spPr>
          <a:xfrm>
            <a:off x="7223760" y="1828800"/>
            <a:ext cx="4480560" cy="2520315"/>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What Lakbay Salita is</a:t>
            </a:r>
            <a:endParaRPr lang="en-US" sz="3400" dirty="0"/>
          </a:p>
        </p:txBody>
      </p:sp>
      <p:sp>
        <p:nvSpPr>
          <p:cNvPr id="3" name="Overview text"/>
          <p:cNvSpPr txBox="1"/>
          <p:nvPr/>
        </p:nvSpPr>
        <p:spPr>
          <a:xfrm>
            <a:off x="548640" y="1417320"/>
            <a:ext cx="11064240" cy="914400"/>
          </a:xfrm>
          <a:prstGeom prst="rect">
            <a:avLst/>
          </a:prstGeom>
          <a:noFill/>
          <a:ln/>
        </p:spPr>
        <p:txBody>
          <a:bodyPr wrap="square" lIns="0" tIns="0" rIns="0" bIns="0" rtlCol="0" anchor="t"/>
          <a:lstStyle/>
          <a:p>
            <a:pPr indent="0" marL="0">
              <a:buNone/>
            </a:pPr>
            <a:r>
              <a:rPr lang="en-US" sz="2000" dirty="0">
                <a:solidFill>
                  <a:schemeClr val="tx1"/>
                </a:solidFill>
              </a:rPr>
              <a:t>A word-learning game for Philippine languages. Players learn words on cards, practise them in three puzzle games, use them in real phrases, and look anything up in a built-in dictionary.</a:t>
            </a:r>
            <a:endParaRPr lang="en-US" sz="2000" dirty="0"/>
          </a:p>
        </p:txBody>
      </p:sp>
      <p:sp>
        <p:nvSpPr>
          <p:cNvPr id="4" name="Stat card 1"/>
          <p:cNvSpPr/>
          <p:nvPr/>
        </p:nvSpPr>
        <p:spPr>
          <a:xfrm>
            <a:off x="548640" y="2651760"/>
            <a:ext cx="2651760" cy="2286000"/>
          </a:xfrm>
          <a:prstGeom prst="roundRect">
            <a:avLst>
              <a:gd name="adj" fmla="val 6000"/>
            </a:avLst>
          </a:prstGeom>
          <a:solidFill>
            <a:schemeClr val="bg2"/>
          </a:solidFill>
          <a:ln w="12700">
            <a:solidFill>
              <a:schemeClr val="bg2"/>
            </a:solidFill>
            <a:prstDash val="solid"/>
          </a:ln>
        </p:spPr>
      </p:sp>
      <p:sp>
        <p:nvSpPr>
          <p:cNvPr id="5" name="Stat bar 1"/>
          <p:cNvSpPr/>
          <p:nvPr/>
        </p:nvSpPr>
        <p:spPr>
          <a:xfrm>
            <a:off x="548640" y="2651760"/>
            <a:ext cx="2651760" cy="109728"/>
          </a:xfrm>
          <a:prstGeom prst="rect">
            <a:avLst/>
          </a:prstGeom>
          <a:solidFill>
            <a:schemeClr val="accent2"/>
          </a:solidFill>
          <a:ln w="12700">
            <a:solidFill>
              <a:schemeClr val="accent2"/>
            </a:solidFill>
            <a:prstDash val="solid"/>
          </a:ln>
        </p:spPr>
      </p:sp>
      <p:sp>
        <p:nvSpPr>
          <p:cNvPr id="6" name="Stat value 1"/>
          <p:cNvSpPr txBox="1"/>
          <p:nvPr/>
        </p:nvSpPr>
        <p:spPr>
          <a:xfrm>
            <a:off x="731520" y="2926080"/>
            <a:ext cx="2286000" cy="82296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3</a:t>
            </a:r>
            <a:endParaRPr lang="en-US" sz="4400" dirty="0"/>
          </a:p>
        </p:txBody>
      </p:sp>
      <p:sp>
        <p:nvSpPr>
          <p:cNvPr id="7" name="Stat label 1"/>
          <p:cNvSpPr txBox="1"/>
          <p:nvPr/>
        </p:nvSpPr>
        <p:spPr>
          <a:xfrm>
            <a:off x="731520" y="37490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languages</a:t>
            </a:r>
            <a:endParaRPr lang="en-US" sz="1800" dirty="0"/>
          </a:p>
        </p:txBody>
      </p:sp>
      <p:sp>
        <p:nvSpPr>
          <p:cNvPr id="8" name="Stat detail 1"/>
          <p:cNvSpPr txBox="1"/>
          <p:nvPr/>
        </p:nvSpPr>
        <p:spPr>
          <a:xfrm>
            <a:off x="731520" y="4160520"/>
            <a:ext cx="2286000" cy="685800"/>
          </a:xfrm>
          <a:prstGeom prst="rect">
            <a:avLst/>
          </a:prstGeom>
          <a:noFill/>
          <a:ln/>
        </p:spPr>
        <p:txBody>
          <a:bodyPr wrap="square" lIns="0" tIns="0" rIns="0" bIns="0" rtlCol="0" anchor="t"/>
          <a:lstStyle/>
          <a:p>
            <a:pPr indent="0" marL="0">
              <a:buNone/>
            </a:pPr>
            <a:r>
              <a:rPr lang="en-US" sz="1400" dirty="0">
                <a:solidFill>
                  <a:schemeClr val="tx1"/>
                </a:solidFill>
              </a:rPr>
              <a:t>Cebuano, Ilonggo, Tagalog</a:t>
            </a:r>
            <a:endParaRPr lang="en-US" sz="1400" dirty="0"/>
          </a:p>
        </p:txBody>
      </p:sp>
      <p:sp>
        <p:nvSpPr>
          <p:cNvPr id="9" name="Stat card 2"/>
          <p:cNvSpPr/>
          <p:nvPr/>
        </p:nvSpPr>
        <p:spPr>
          <a:xfrm>
            <a:off x="3383280" y="2651760"/>
            <a:ext cx="2651760" cy="2286000"/>
          </a:xfrm>
          <a:prstGeom prst="roundRect">
            <a:avLst>
              <a:gd name="adj" fmla="val 6000"/>
            </a:avLst>
          </a:prstGeom>
          <a:solidFill>
            <a:schemeClr val="bg2"/>
          </a:solidFill>
          <a:ln w="12700">
            <a:solidFill>
              <a:schemeClr val="bg2"/>
            </a:solidFill>
            <a:prstDash val="solid"/>
          </a:ln>
        </p:spPr>
      </p:sp>
      <p:sp>
        <p:nvSpPr>
          <p:cNvPr id="10" name="Stat bar 2"/>
          <p:cNvSpPr/>
          <p:nvPr/>
        </p:nvSpPr>
        <p:spPr>
          <a:xfrm>
            <a:off x="3383280" y="2651760"/>
            <a:ext cx="2651760" cy="109728"/>
          </a:xfrm>
          <a:prstGeom prst="rect">
            <a:avLst/>
          </a:prstGeom>
          <a:solidFill>
            <a:schemeClr val="accent3"/>
          </a:solidFill>
          <a:ln w="12700">
            <a:solidFill>
              <a:schemeClr val="accent3"/>
            </a:solidFill>
            <a:prstDash val="solid"/>
          </a:ln>
        </p:spPr>
      </p:sp>
      <p:sp>
        <p:nvSpPr>
          <p:cNvPr id="11" name="Stat value 2"/>
          <p:cNvSpPr txBox="1"/>
          <p:nvPr/>
        </p:nvSpPr>
        <p:spPr>
          <a:xfrm>
            <a:off x="3566160" y="2926080"/>
            <a:ext cx="2286000" cy="822960"/>
          </a:xfrm>
          <a:prstGeom prst="rect">
            <a:avLst/>
          </a:prstGeom>
          <a:noFill/>
          <a:ln/>
        </p:spPr>
        <p:txBody>
          <a:bodyPr wrap="square" lIns="0" tIns="0" rIns="0" bIns="0"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4</a:t>
            </a:r>
            <a:endParaRPr lang="en-US" sz="4400" dirty="0"/>
          </a:p>
        </p:txBody>
      </p:sp>
      <p:sp>
        <p:nvSpPr>
          <p:cNvPr id="12" name="Stat label 2"/>
          <p:cNvSpPr txBox="1"/>
          <p:nvPr/>
        </p:nvSpPr>
        <p:spPr>
          <a:xfrm>
            <a:off x="3566160" y="37490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activities</a:t>
            </a:r>
            <a:endParaRPr lang="en-US" sz="1800" dirty="0"/>
          </a:p>
        </p:txBody>
      </p:sp>
      <p:sp>
        <p:nvSpPr>
          <p:cNvPr id="13" name="Stat detail 2"/>
          <p:cNvSpPr txBox="1"/>
          <p:nvPr/>
        </p:nvSpPr>
        <p:spPr>
          <a:xfrm>
            <a:off x="3566160" y="4160520"/>
            <a:ext cx="2286000" cy="685800"/>
          </a:xfrm>
          <a:prstGeom prst="rect">
            <a:avLst/>
          </a:prstGeom>
          <a:noFill/>
          <a:ln/>
        </p:spPr>
        <p:txBody>
          <a:bodyPr wrap="square" lIns="0" tIns="0" rIns="0" bIns="0" rtlCol="0" anchor="t"/>
          <a:lstStyle/>
          <a:p>
            <a:pPr indent="0" marL="0">
              <a:buNone/>
            </a:pPr>
            <a:r>
              <a:rPr lang="en-US" sz="1400" dirty="0">
                <a:solidFill>
                  <a:schemeClr val="tx1"/>
                </a:solidFill>
              </a:rPr>
              <a:t>Wordle, Crossword, Word Search, Phrasebook</a:t>
            </a:r>
            <a:endParaRPr lang="en-US" sz="1400" dirty="0"/>
          </a:p>
        </p:txBody>
      </p:sp>
      <p:sp>
        <p:nvSpPr>
          <p:cNvPr id="14" name="Stat card 3"/>
          <p:cNvSpPr/>
          <p:nvPr/>
        </p:nvSpPr>
        <p:spPr>
          <a:xfrm>
            <a:off x="6217920" y="2651760"/>
            <a:ext cx="2651760" cy="2286000"/>
          </a:xfrm>
          <a:prstGeom prst="roundRect">
            <a:avLst>
              <a:gd name="adj" fmla="val 6000"/>
            </a:avLst>
          </a:prstGeom>
          <a:solidFill>
            <a:schemeClr val="bg2"/>
          </a:solidFill>
          <a:ln w="12700">
            <a:solidFill>
              <a:schemeClr val="bg2"/>
            </a:solidFill>
            <a:prstDash val="solid"/>
          </a:ln>
        </p:spPr>
      </p:sp>
      <p:sp>
        <p:nvSpPr>
          <p:cNvPr id="15" name="Stat bar 3"/>
          <p:cNvSpPr/>
          <p:nvPr/>
        </p:nvSpPr>
        <p:spPr>
          <a:xfrm>
            <a:off x="6217920" y="2651760"/>
            <a:ext cx="2651760" cy="109728"/>
          </a:xfrm>
          <a:prstGeom prst="rect">
            <a:avLst/>
          </a:prstGeom>
          <a:solidFill>
            <a:schemeClr val="accent5"/>
          </a:solidFill>
          <a:ln w="12700">
            <a:solidFill>
              <a:schemeClr val="accent5"/>
            </a:solidFill>
            <a:prstDash val="solid"/>
          </a:ln>
        </p:spPr>
      </p:sp>
      <p:sp>
        <p:nvSpPr>
          <p:cNvPr id="16" name="Stat value 3"/>
          <p:cNvSpPr txBox="1"/>
          <p:nvPr/>
        </p:nvSpPr>
        <p:spPr>
          <a:xfrm>
            <a:off x="6400800" y="2926080"/>
            <a:ext cx="2286000" cy="822960"/>
          </a:xfrm>
          <a:prstGeom prst="rect">
            <a:avLst/>
          </a:prstGeom>
          <a:noFill/>
          <a:ln/>
        </p:spPr>
        <p:txBody>
          <a:bodyPr wrap="square" lIns="0" tIns="0" rIns="0" bIns="0" rtlCol="0" anchor="t"/>
          <a:lstStyle/>
          <a:p>
            <a:pPr indent="0" marL="0">
              <a:buNone/>
            </a:pPr>
            <a:r>
              <a:rPr lang="en-US" sz="4400" b="1" dirty="0">
                <a:solidFill>
                  <a:schemeClr val="accent5"/>
                </a:solidFill>
                <a:latin typeface="Cambria" pitchFamily="34" charset="0"/>
                <a:ea typeface="Cambria" pitchFamily="34" charset="-122"/>
                <a:cs typeface="Cambria" pitchFamily="34" charset="-120"/>
              </a:rPr>
              <a:t>63,540</a:t>
            </a:r>
            <a:endParaRPr lang="en-US" sz="4400" dirty="0"/>
          </a:p>
        </p:txBody>
      </p:sp>
      <p:sp>
        <p:nvSpPr>
          <p:cNvPr id="17" name="Stat label 3"/>
          <p:cNvSpPr txBox="1"/>
          <p:nvPr/>
        </p:nvSpPr>
        <p:spPr>
          <a:xfrm>
            <a:off x="6400800" y="37490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dictionary words</a:t>
            </a:r>
            <a:endParaRPr lang="en-US" sz="1800" dirty="0"/>
          </a:p>
        </p:txBody>
      </p:sp>
      <p:sp>
        <p:nvSpPr>
          <p:cNvPr id="18" name="Stat detail 3"/>
          <p:cNvSpPr txBox="1"/>
          <p:nvPr/>
        </p:nvSpPr>
        <p:spPr>
          <a:xfrm>
            <a:off x="6400800" y="4160520"/>
            <a:ext cx="2286000" cy="685800"/>
          </a:xfrm>
          <a:prstGeom prst="rect">
            <a:avLst/>
          </a:prstGeom>
          <a:noFill/>
          <a:ln/>
        </p:spPr>
        <p:txBody>
          <a:bodyPr wrap="square" lIns="0" tIns="0" rIns="0" bIns="0" rtlCol="0" anchor="t"/>
          <a:lstStyle/>
          <a:p>
            <a:pPr indent="0" marL="0">
              <a:buNone/>
            </a:pPr>
            <a:r>
              <a:rPr lang="en-US" sz="1400" dirty="0">
                <a:solidFill>
                  <a:schemeClr val="tx1"/>
                </a:solidFill>
              </a:rPr>
              <a:t>searchable Library</a:t>
            </a:r>
            <a:endParaRPr lang="en-US" sz="1400" dirty="0"/>
          </a:p>
        </p:txBody>
      </p:sp>
      <p:sp>
        <p:nvSpPr>
          <p:cNvPr id="19" name="Stat card 4"/>
          <p:cNvSpPr/>
          <p:nvPr/>
        </p:nvSpPr>
        <p:spPr>
          <a:xfrm>
            <a:off x="9052560" y="2651760"/>
            <a:ext cx="2651760" cy="2286000"/>
          </a:xfrm>
          <a:prstGeom prst="roundRect">
            <a:avLst>
              <a:gd name="adj" fmla="val 6000"/>
            </a:avLst>
          </a:prstGeom>
          <a:solidFill>
            <a:schemeClr val="bg2"/>
          </a:solidFill>
          <a:ln w="12700">
            <a:solidFill>
              <a:schemeClr val="bg2"/>
            </a:solidFill>
            <a:prstDash val="solid"/>
          </a:ln>
        </p:spPr>
      </p:sp>
      <p:sp>
        <p:nvSpPr>
          <p:cNvPr id="20" name="Stat bar 4"/>
          <p:cNvSpPr/>
          <p:nvPr/>
        </p:nvSpPr>
        <p:spPr>
          <a:xfrm>
            <a:off x="9052560" y="2651760"/>
            <a:ext cx="2651760" cy="109728"/>
          </a:xfrm>
          <a:prstGeom prst="rect">
            <a:avLst/>
          </a:prstGeom>
          <a:solidFill>
            <a:schemeClr val="accent4"/>
          </a:solidFill>
          <a:ln w="12700">
            <a:solidFill>
              <a:schemeClr val="accent4"/>
            </a:solidFill>
            <a:prstDash val="solid"/>
          </a:ln>
        </p:spPr>
      </p:sp>
      <p:sp>
        <p:nvSpPr>
          <p:cNvPr id="21" name="Stat value 4"/>
          <p:cNvSpPr txBox="1"/>
          <p:nvPr/>
        </p:nvSpPr>
        <p:spPr>
          <a:xfrm>
            <a:off x="9235440" y="2926080"/>
            <a:ext cx="2286000" cy="822960"/>
          </a:xfrm>
          <a:prstGeom prst="rect">
            <a:avLst/>
          </a:prstGeom>
          <a:noFill/>
          <a:ln/>
        </p:spPr>
        <p:txBody>
          <a:bodyPr wrap="square" lIns="0" tIns="0" rIns="0" bIns="0" rtlCol="0" anchor="t"/>
          <a:lstStyle/>
          <a:p>
            <a:pPr indent="0" marL="0">
              <a:buNone/>
            </a:pPr>
            <a:r>
              <a:rPr lang="en-US" sz="4400" b="1" dirty="0">
                <a:solidFill>
                  <a:schemeClr val="accent4"/>
                </a:solidFill>
                <a:latin typeface="Cambria" pitchFamily="34" charset="0"/>
                <a:ea typeface="Cambria" pitchFamily="34" charset="-122"/>
                <a:cs typeface="Cambria" pitchFamily="34" charset="-120"/>
              </a:rPr>
              <a:t>133</a:t>
            </a:r>
            <a:endParaRPr lang="en-US" sz="4400" dirty="0"/>
          </a:p>
        </p:txBody>
      </p:sp>
      <p:sp>
        <p:nvSpPr>
          <p:cNvPr id="22" name="Stat label 4"/>
          <p:cNvSpPr txBox="1"/>
          <p:nvPr/>
        </p:nvSpPr>
        <p:spPr>
          <a:xfrm>
            <a:off x="9235440" y="3749040"/>
            <a:ext cx="2286000" cy="365760"/>
          </a:xfrm>
          <a:prstGeom prst="rect">
            <a:avLst/>
          </a:prstGeom>
          <a:noFill/>
          <a:ln/>
        </p:spPr>
        <p:txBody>
          <a:bodyPr wrap="square" lIns="0" tIns="0" rIns="0" bIns="0" rtlCol="0" anchor="t"/>
          <a:lstStyle/>
          <a:p>
            <a:pPr indent="0" marL="0">
              <a:buNone/>
            </a:pPr>
            <a:r>
              <a:rPr lang="en-US" sz="1800" b="1" dirty="0">
                <a:solidFill>
                  <a:schemeClr val="tx1"/>
                </a:solidFill>
              </a:rPr>
              <a:t>words per language</a:t>
            </a:r>
            <a:endParaRPr lang="en-US" sz="1800" dirty="0"/>
          </a:p>
        </p:txBody>
      </p:sp>
      <p:sp>
        <p:nvSpPr>
          <p:cNvPr id="23" name="Stat detail 4"/>
          <p:cNvSpPr txBox="1"/>
          <p:nvPr/>
        </p:nvSpPr>
        <p:spPr>
          <a:xfrm>
            <a:off x="9235440" y="4160520"/>
            <a:ext cx="2286000" cy="685800"/>
          </a:xfrm>
          <a:prstGeom prst="rect">
            <a:avLst/>
          </a:prstGeom>
          <a:noFill/>
          <a:ln/>
        </p:spPr>
        <p:txBody>
          <a:bodyPr wrap="square" lIns="0" tIns="0" rIns="0" bIns="0" rtlCol="0" anchor="t"/>
          <a:lstStyle/>
          <a:p>
            <a:pPr indent="0" marL="0">
              <a:buNone/>
            </a:pPr>
            <a:r>
              <a:rPr lang="en-US" sz="1400" dirty="0">
                <a:solidFill>
                  <a:schemeClr val="tx1"/>
                </a:solidFill>
              </a:rPr>
              <a:t>shared by all three games</a:t>
            </a:r>
            <a:endParaRPr lang="en-US" sz="1400" dirty="0"/>
          </a:p>
        </p:txBody>
      </p:sp>
      <p:sp>
        <p:nvSpPr>
          <p:cNvPr id="24" name="Overview callout"/>
          <p:cNvSpPr/>
          <p:nvPr/>
        </p:nvSpPr>
        <p:spPr>
          <a:xfrm>
            <a:off x="548640" y="5303520"/>
            <a:ext cx="11064240" cy="777240"/>
          </a:xfrm>
          <a:prstGeom prst="roundRect">
            <a:avLst>
              <a:gd name="adj" fmla="val 17647"/>
            </a:avLst>
          </a:prstGeom>
          <a:solidFill>
            <a:schemeClr val="tx2"/>
          </a:solidFill>
          <a:ln w="12700">
            <a:solidFill>
              <a:schemeClr val="tx2"/>
            </a:solidFill>
            <a:prstDash val="solid"/>
          </a:ln>
        </p:spPr>
      </p:sp>
      <p:sp>
        <p:nvSpPr>
          <p:cNvPr id="25" name="Overview callout text"/>
          <p:cNvSpPr txBox="1"/>
          <p:nvPr/>
        </p:nvSpPr>
        <p:spPr>
          <a:xfrm>
            <a:off x="777240" y="5303520"/>
            <a:ext cx="10607040" cy="777240"/>
          </a:xfrm>
          <a:prstGeom prst="rect">
            <a:avLst/>
          </a:prstGeom>
          <a:noFill/>
          <a:ln/>
        </p:spPr>
        <p:txBody>
          <a:bodyPr wrap="square" lIns="0" tIns="0" rIns="0" bIns="0" rtlCol="0" anchor="ctr"/>
          <a:lstStyle/>
          <a:p>
            <a:pPr algn="ctr" indent="0" marL="0">
              <a:buNone/>
            </a:pPr>
            <a:r>
              <a:rPr lang="en-US" sz="2000" b="1" dirty="0">
                <a:solidFill>
                  <a:schemeClr val="bg1"/>
                </a:solidFill>
              </a:rPr>
              <a:t>Built in Unity 2021.3 for Windows  ·  15 scenes  ·  97 C# scripts  ·  13 commits</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How a player learns: see it, play it, use it</a:t>
            </a:r>
            <a:endParaRPr lang="en-US" sz="3400" dirty="0"/>
          </a:p>
        </p:txBody>
      </p:sp>
      <p:sp>
        <p:nvSpPr>
          <p:cNvPr id="3" name="Step card 1"/>
          <p:cNvSpPr/>
          <p:nvPr/>
        </p:nvSpPr>
        <p:spPr>
          <a:xfrm>
            <a:off x="548640" y="1645920"/>
            <a:ext cx="2651760" cy="3291840"/>
          </a:xfrm>
          <a:prstGeom prst="roundRect">
            <a:avLst>
              <a:gd name="adj" fmla="val 5172"/>
            </a:avLst>
          </a:prstGeom>
          <a:solidFill>
            <a:schemeClr val="bg2"/>
          </a:solidFill>
          <a:ln w="12700">
            <a:solidFill>
              <a:schemeClr val="bg2"/>
            </a:solidFill>
            <a:prstDash val="solid"/>
          </a:ln>
        </p:spPr>
      </p:sp>
      <p:sp>
        <p:nvSpPr>
          <p:cNvPr id="4" name="Step 1 circle"/>
          <p:cNvSpPr/>
          <p:nvPr/>
        </p:nvSpPr>
        <p:spPr>
          <a:xfrm>
            <a:off x="777240" y="1874520"/>
            <a:ext cx="868680" cy="868680"/>
          </a:xfrm>
          <a:prstGeom prst="ellipse">
            <a:avLst/>
          </a:prstGeom>
          <a:solidFill>
            <a:schemeClr val="accent2"/>
          </a:solidFill>
          <a:ln w="12700">
            <a:solidFill>
              <a:schemeClr val="accent2"/>
            </a:solidFill>
            <a:prstDash val="solid"/>
          </a:ln>
        </p:spPr>
      </p:sp>
      <p:pic>
        <p:nvPicPr>
          <p:cNvPr id="5" name="Step 1 icon" descr="Step 1">    </p:cNvPr>
          <p:cNvPicPr>
            <a:picLocks noChangeAspect="1"/>
          </p:cNvPicPr>
          <p:nvPr/>
        </p:nvPicPr>
        <p:blipFill>
          <a:blip r:embed="rId1"/>
          <a:stretch>
            <a:fillRect/>
          </a:stretch>
        </p:blipFill>
        <p:spPr>
          <a:xfrm>
            <a:off x="1011784" y="2109064"/>
            <a:ext cx="399593" cy="399593"/>
          </a:xfrm>
          <a:prstGeom prst="rect">
            <a:avLst/>
          </a:prstGeom>
        </p:spPr>
      </p:pic>
      <p:sp>
        <p:nvSpPr>
          <p:cNvPr id="6" name="Step title 1"/>
          <p:cNvSpPr txBox="1"/>
          <p:nvPr/>
        </p:nvSpPr>
        <p:spPr>
          <a:xfrm>
            <a:off x="777240" y="2926080"/>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1. Learn</a:t>
            </a:r>
            <a:endParaRPr lang="en-US" sz="2400" dirty="0"/>
          </a:p>
        </p:txBody>
      </p:sp>
      <p:sp>
        <p:nvSpPr>
          <p:cNvPr id="7" name="Step text 1"/>
          <p:cNvSpPr txBox="1"/>
          <p:nvPr/>
        </p:nvSpPr>
        <p:spPr>
          <a:xfrm>
            <a:off x="777240" y="3474720"/>
            <a:ext cx="2240280" cy="1371600"/>
          </a:xfrm>
          <a:prstGeom prst="rect">
            <a:avLst/>
          </a:prstGeom>
          <a:noFill/>
          <a:ln/>
        </p:spPr>
        <p:txBody>
          <a:bodyPr wrap="square" lIns="0" tIns="0" rIns="0" bIns="0" rtlCol="0" anchor="t"/>
          <a:lstStyle/>
          <a:p>
            <a:pPr indent="0" marL="0">
              <a:buNone/>
            </a:pPr>
            <a:r>
              <a:rPr lang="en-US" sz="1600" dirty="0">
                <a:solidFill>
                  <a:schemeClr val="tx1"/>
                </a:solidFill>
              </a:rPr>
              <a:t>Word cards show each word with its English meaning before the puzzle starts.</a:t>
            </a:r>
            <a:endParaRPr lang="en-US" sz="1600" dirty="0"/>
          </a:p>
        </p:txBody>
      </p:sp>
      <p:sp>
        <p:nvSpPr>
          <p:cNvPr id="8" name="Step card 2"/>
          <p:cNvSpPr/>
          <p:nvPr/>
        </p:nvSpPr>
        <p:spPr>
          <a:xfrm>
            <a:off x="3383280" y="1645920"/>
            <a:ext cx="2651760" cy="3291840"/>
          </a:xfrm>
          <a:prstGeom prst="roundRect">
            <a:avLst>
              <a:gd name="adj" fmla="val 5172"/>
            </a:avLst>
          </a:prstGeom>
          <a:solidFill>
            <a:schemeClr val="bg2"/>
          </a:solidFill>
          <a:ln w="12700">
            <a:solidFill>
              <a:schemeClr val="bg2"/>
            </a:solidFill>
            <a:prstDash val="solid"/>
          </a:ln>
        </p:spPr>
      </p:sp>
      <p:sp>
        <p:nvSpPr>
          <p:cNvPr id="9" name="Step 2 circle"/>
          <p:cNvSpPr/>
          <p:nvPr/>
        </p:nvSpPr>
        <p:spPr>
          <a:xfrm>
            <a:off x="3611880" y="1874520"/>
            <a:ext cx="868680" cy="868680"/>
          </a:xfrm>
          <a:prstGeom prst="ellipse">
            <a:avLst/>
          </a:prstGeom>
          <a:solidFill>
            <a:schemeClr val="accent3"/>
          </a:solidFill>
          <a:ln w="12700">
            <a:solidFill>
              <a:schemeClr val="accent3"/>
            </a:solidFill>
            <a:prstDash val="solid"/>
          </a:ln>
        </p:spPr>
      </p:sp>
      <p:pic>
        <p:nvPicPr>
          <p:cNvPr id="10" name="Step 2 icon" descr="Step 2">    </p:cNvPr>
          <p:cNvPicPr>
            <a:picLocks noChangeAspect="1"/>
          </p:cNvPicPr>
          <p:nvPr/>
        </p:nvPicPr>
        <p:blipFill>
          <a:blip r:embed="rId2"/>
          <a:stretch>
            <a:fillRect/>
          </a:stretch>
        </p:blipFill>
        <p:spPr>
          <a:xfrm>
            <a:off x="3846424" y="2109064"/>
            <a:ext cx="399593" cy="399593"/>
          </a:xfrm>
          <a:prstGeom prst="rect">
            <a:avLst/>
          </a:prstGeom>
        </p:spPr>
      </p:pic>
      <p:sp>
        <p:nvSpPr>
          <p:cNvPr id="11" name="Step title 2"/>
          <p:cNvSpPr txBox="1"/>
          <p:nvPr/>
        </p:nvSpPr>
        <p:spPr>
          <a:xfrm>
            <a:off x="3611880" y="2926080"/>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2. Play</a:t>
            </a:r>
            <a:endParaRPr lang="en-US" sz="2400" dirty="0"/>
          </a:p>
        </p:txBody>
      </p:sp>
      <p:sp>
        <p:nvSpPr>
          <p:cNvPr id="12" name="Step text 2"/>
          <p:cNvSpPr txBox="1"/>
          <p:nvPr/>
        </p:nvSpPr>
        <p:spPr>
          <a:xfrm>
            <a:off x="3611880" y="3474720"/>
            <a:ext cx="2240280" cy="1371600"/>
          </a:xfrm>
          <a:prstGeom prst="rect">
            <a:avLst/>
          </a:prstGeom>
          <a:noFill/>
          <a:ln/>
        </p:spPr>
        <p:txBody>
          <a:bodyPr wrap="square" lIns="0" tIns="0" rIns="0" bIns="0" rtlCol="0" anchor="t"/>
          <a:lstStyle/>
          <a:p>
            <a:pPr indent="0" marL="0">
              <a:buNone/>
            </a:pPr>
            <a:r>
              <a:rPr lang="en-US" sz="1600" dirty="0">
                <a:solidFill>
                  <a:schemeClr val="tx1"/>
                </a:solidFill>
              </a:rPr>
              <a:t>Wordle, Crossword and Word Search make the player recall and spell the words.</a:t>
            </a:r>
            <a:endParaRPr lang="en-US" sz="1600" dirty="0"/>
          </a:p>
        </p:txBody>
      </p:sp>
      <p:sp>
        <p:nvSpPr>
          <p:cNvPr id="13" name="Step card 3"/>
          <p:cNvSpPr/>
          <p:nvPr/>
        </p:nvSpPr>
        <p:spPr>
          <a:xfrm>
            <a:off x="6217920" y="1645920"/>
            <a:ext cx="2651760" cy="3291840"/>
          </a:xfrm>
          <a:prstGeom prst="roundRect">
            <a:avLst>
              <a:gd name="adj" fmla="val 5172"/>
            </a:avLst>
          </a:prstGeom>
          <a:solidFill>
            <a:schemeClr val="bg2"/>
          </a:solidFill>
          <a:ln w="12700">
            <a:solidFill>
              <a:schemeClr val="bg2"/>
            </a:solidFill>
            <a:prstDash val="solid"/>
          </a:ln>
        </p:spPr>
      </p:sp>
      <p:sp>
        <p:nvSpPr>
          <p:cNvPr id="14" name="Step 3 circle"/>
          <p:cNvSpPr/>
          <p:nvPr/>
        </p:nvSpPr>
        <p:spPr>
          <a:xfrm>
            <a:off x="6446520" y="1874520"/>
            <a:ext cx="868680" cy="868680"/>
          </a:xfrm>
          <a:prstGeom prst="ellipse">
            <a:avLst/>
          </a:prstGeom>
          <a:solidFill>
            <a:srgbClr val="1D9E75"/>
          </a:solidFill>
          <a:ln w="12700">
            <a:solidFill>
              <a:srgbClr val="1D9E75"/>
            </a:solidFill>
            <a:prstDash val="solid"/>
          </a:ln>
        </p:spPr>
      </p:sp>
      <p:pic>
        <p:nvPicPr>
          <p:cNvPr id="15" name="Step 3 icon" descr="Step 3">    </p:cNvPr>
          <p:cNvPicPr>
            <a:picLocks noChangeAspect="1"/>
          </p:cNvPicPr>
          <p:nvPr/>
        </p:nvPicPr>
        <p:blipFill>
          <a:blip r:embed="rId3"/>
          <a:stretch>
            <a:fillRect/>
          </a:stretch>
        </p:blipFill>
        <p:spPr>
          <a:xfrm>
            <a:off x="6681064" y="2109064"/>
            <a:ext cx="399593" cy="399593"/>
          </a:xfrm>
          <a:prstGeom prst="rect">
            <a:avLst/>
          </a:prstGeom>
        </p:spPr>
      </p:pic>
      <p:sp>
        <p:nvSpPr>
          <p:cNvPr id="16" name="Step title 3"/>
          <p:cNvSpPr txBox="1"/>
          <p:nvPr/>
        </p:nvSpPr>
        <p:spPr>
          <a:xfrm>
            <a:off x="6446520" y="2926080"/>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3. Use</a:t>
            </a:r>
            <a:endParaRPr lang="en-US" sz="2400" dirty="0"/>
          </a:p>
        </p:txBody>
      </p:sp>
      <p:sp>
        <p:nvSpPr>
          <p:cNvPr id="17" name="Step text 3"/>
          <p:cNvSpPr txBox="1"/>
          <p:nvPr/>
        </p:nvSpPr>
        <p:spPr>
          <a:xfrm>
            <a:off x="6446520" y="3474720"/>
            <a:ext cx="2240280" cy="1371600"/>
          </a:xfrm>
          <a:prstGeom prst="rect">
            <a:avLst/>
          </a:prstGeom>
          <a:noFill/>
          <a:ln/>
        </p:spPr>
        <p:txBody>
          <a:bodyPr wrap="square" lIns="0" tIns="0" rIns="0" bIns="0" rtlCol="0" anchor="t"/>
          <a:lstStyle/>
          <a:p>
            <a:pPr indent="0" marL="0">
              <a:buNone/>
            </a:pPr>
            <a:r>
              <a:rPr lang="en-US" sz="1600" dirty="0">
                <a:solidFill>
                  <a:schemeClr val="tx1"/>
                </a:solidFill>
              </a:rPr>
              <a:t>The Phrasebook and Sentence builder put the words into real sentences.</a:t>
            </a:r>
            <a:endParaRPr lang="en-US" sz="1600" dirty="0"/>
          </a:p>
        </p:txBody>
      </p:sp>
      <p:sp>
        <p:nvSpPr>
          <p:cNvPr id="18" name="Step card 4"/>
          <p:cNvSpPr/>
          <p:nvPr/>
        </p:nvSpPr>
        <p:spPr>
          <a:xfrm>
            <a:off x="9052560" y="1645920"/>
            <a:ext cx="2651760" cy="3291840"/>
          </a:xfrm>
          <a:prstGeom prst="roundRect">
            <a:avLst>
              <a:gd name="adj" fmla="val 5172"/>
            </a:avLst>
          </a:prstGeom>
          <a:solidFill>
            <a:schemeClr val="bg2"/>
          </a:solidFill>
          <a:ln w="12700">
            <a:solidFill>
              <a:schemeClr val="bg2"/>
            </a:solidFill>
            <a:prstDash val="solid"/>
          </a:ln>
        </p:spPr>
      </p:sp>
      <p:sp>
        <p:nvSpPr>
          <p:cNvPr id="19" name="Step 4 circle"/>
          <p:cNvSpPr/>
          <p:nvPr/>
        </p:nvSpPr>
        <p:spPr>
          <a:xfrm>
            <a:off x="9281160" y="1874520"/>
            <a:ext cx="868680" cy="868680"/>
          </a:xfrm>
          <a:prstGeom prst="ellipse">
            <a:avLst/>
          </a:prstGeom>
          <a:solidFill>
            <a:schemeClr val="accent5"/>
          </a:solidFill>
          <a:ln w="12700">
            <a:solidFill>
              <a:schemeClr val="accent5"/>
            </a:solidFill>
            <a:prstDash val="solid"/>
          </a:ln>
        </p:spPr>
      </p:sp>
      <p:pic>
        <p:nvPicPr>
          <p:cNvPr id="20" name="Step 4 icon" descr="Step 4">    </p:cNvPr>
          <p:cNvPicPr>
            <a:picLocks noChangeAspect="1"/>
          </p:cNvPicPr>
          <p:nvPr/>
        </p:nvPicPr>
        <p:blipFill>
          <a:blip r:embed="rId4"/>
          <a:stretch>
            <a:fillRect/>
          </a:stretch>
        </p:blipFill>
        <p:spPr>
          <a:xfrm>
            <a:off x="9515704" y="2109064"/>
            <a:ext cx="399593" cy="399593"/>
          </a:xfrm>
          <a:prstGeom prst="rect">
            <a:avLst/>
          </a:prstGeom>
        </p:spPr>
      </p:pic>
      <p:sp>
        <p:nvSpPr>
          <p:cNvPr id="21" name="Step title 4"/>
          <p:cNvSpPr txBox="1"/>
          <p:nvPr/>
        </p:nvSpPr>
        <p:spPr>
          <a:xfrm>
            <a:off x="9281160" y="2926080"/>
            <a:ext cx="228600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4. Look up</a:t>
            </a:r>
            <a:endParaRPr lang="en-US" sz="2400" dirty="0"/>
          </a:p>
        </p:txBody>
      </p:sp>
      <p:sp>
        <p:nvSpPr>
          <p:cNvPr id="22" name="Step text 4"/>
          <p:cNvSpPr txBox="1"/>
          <p:nvPr/>
        </p:nvSpPr>
        <p:spPr>
          <a:xfrm>
            <a:off x="9281160" y="3474720"/>
            <a:ext cx="2240280" cy="1371600"/>
          </a:xfrm>
          <a:prstGeom prst="rect">
            <a:avLst/>
          </a:prstGeom>
          <a:noFill/>
          <a:ln/>
        </p:spPr>
        <p:txBody>
          <a:bodyPr wrap="square" lIns="0" tIns="0" rIns="0" bIns="0" rtlCol="0" anchor="t"/>
          <a:lstStyle/>
          <a:p>
            <a:pPr indent="0" marL="0">
              <a:buNone/>
            </a:pPr>
            <a:r>
              <a:rPr lang="en-US" sz="1600" dirty="0">
                <a:solidFill>
                  <a:schemeClr val="tx1"/>
                </a:solidFill>
              </a:rPr>
              <a:t>The Library dictionary answers any word, with favorites to revisit.</a:t>
            </a:r>
            <a:endParaRPr lang="en-US" sz="1600" dirty="0"/>
          </a:p>
        </p:txBody>
      </p:sp>
      <p:sp>
        <p:nvSpPr>
          <p:cNvPr id="23" name="Idea callout"/>
          <p:cNvSpPr/>
          <p:nvPr/>
        </p:nvSpPr>
        <p:spPr>
          <a:xfrm>
            <a:off x="548640" y="5303520"/>
            <a:ext cx="11064240" cy="777240"/>
          </a:xfrm>
          <a:prstGeom prst="roundRect">
            <a:avLst>
              <a:gd name="adj" fmla="val 17647"/>
            </a:avLst>
          </a:prstGeom>
          <a:solidFill>
            <a:schemeClr val="tx2"/>
          </a:solidFill>
          <a:ln w="12700">
            <a:solidFill>
              <a:schemeClr val="tx2"/>
            </a:solidFill>
            <a:prstDash val="solid"/>
          </a:ln>
        </p:spPr>
      </p:sp>
      <p:sp>
        <p:nvSpPr>
          <p:cNvPr id="24" name="Idea callout text"/>
          <p:cNvSpPr txBox="1"/>
          <p:nvPr/>
        </p:nvSpPr>
        <p:spPr>
          <a:xfrm>
            <a:off x="777240" y="5303520"/>
            <a:ext cx="10607040" cy="777240"/>
          </a:xfrm>
          <a:prstGeom prst="rect">
            <a:avLst/>
          </a:prstGeom>
          <a:noFill/>
          <a:ln/>
        </p:spPr>
        <p:txBody>
          <a:bodyPr wrap="square" lIns="0" tIns="0" rIns="0" bIns="0" rtlCol="0" anchor="ctr"/>
          <a:lstStyle/>
          <a:p>
            <a:pPr algn="ctr" indent="0" marL="0">
              <a:buNone/>
            </a:pPr>
            <a:r>
              <a:rPr lang="en-US" sz="2200" b="1" dirty="0">
                <a:solidFill>
                  <a:schemeClr val="bg1"/>
                </a:solidFill>
              </a:rPr>
              <a:t>Teach the words first, then test them, then use them in a sentence</a:t>
            </a:r>
            <a:endParaRPr lang="en-US" sz="2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How the screens connect</a:t>
            </a:r>
            <a:endParaRPr lang="en-US" sz="3400" dirty="0"/>
          </a:p>
        </p:txBody>
      </p:sp>
      <p:sp>
        <p:nvSpPr>
          <p:cNvPr id="3" name="Menu box"/>
          <p:cNvSpPr/>
          <p:nvPr/>
        </p:nvSpPr>
        <p:spPr>
          <a:xfrm>
            <a:off x="548640" y="3063240"/>
            <a:ext cx="1737360" cy="914400"/>
          </a:xfrm>
          <a:prstGeom prst="roundRect">
            <a:avLst>
              <a:gd name="adj" fmla="val 15000"/>
            </a:avLst>
          </a:prstGeom>
          <a:solidFill>
            <a:schemeClr val="tx2"/>
          </a:solidFill>
          <a:ln w="12700">
            <a:solidFill>
              <a:schemeClr val="tx2"/>
            </a:solidFill>
            <a:prstDash val="solid"/>
          </a:ln>
        </p:spPr>
      </p:sp>
      <p:sp>
        <p:nvSpPr>
          <p:cNvPr id="4" name="Menu box text"/>
          <p:cNvSpPr txBox="1"/>
          <p:nvPr/>
        </p:nvSpPr>
        <p:spPr>
          <a:xfrm>
            <a:off x="548640" y="3063240"/>
            <a:ext cx="1737360" cy="914400"/>
          </a:xfrm>
          <a:prstGeom prst="rect">
            <a:avLst/>
          </a:prstGeom>
          <a:noFill/>
          <a:ln/>
        </p:spPr>
        <p:txBody>
          <a:bodyPr wrap="square" lIns="635" tIns="635" rIns="635" bIns="635" rtlCol="0" anchor="ctr"/>
          <a:lstStyle/>
          <a:p>
            <a:pPr algn="ctr" indent="0" marL="0">
              <a:buNone/>
            </a:pPr>
            <a:r>
              <a:rPr lang="en-US" sz="1500" b="1" dirty="0">
                <a:solidFill>
                  <a:schemeClr val="bg1"/>
                </a:solidFill>
              </a:rPr>
              <a:t>Main menu</a:t>
            </a:r>
            <a:endParaRPr lang="en-US" sz="1500" dirty="0"/>
          </a:p>
        </p:txBody>
      </p:sp>
      <p:sp>
        <p:nvSpPr>
          <p:cNvPr id="5" name="Play box"/>
          <p:cNvSpPr/>
          <p:nvPr/>
        </p:nvSpPr>
        <p:spPr>
          <a:xfrm>
            <a:off x="2926080" y="1600200"/>
            <a:ext cx="2011680" cy="822960"/>
          </a:xfrm>
          <a:prstGeom prst="roundRect">
            <a:avLst>
              <a:gd name="adj" fmla="val 16667"/>
            </a:avLst>
          </a:prstGeom>
          <a:solidFill>
            <a:schemeClr val="accent2"/>
          </a:solidFill>
          <a:ln w="12700">
            <a:solidFill>
              <a:schemeClr val="accent2"/>
            </a:solidFill>
            <a:prstDash val="solid"/>
          </a:ln>
        </p:spPr>
      </p:sp>
      <p:sp>
        <p:nvSpPr>
          <p:cNvPr id="6" name="Play box text"/>
          <p:cNvSpPr txBox="1"/>
          <p:nvPr/>
        </p:nvSpPr>
        <p:spPr>
          <a:xfrm>
            <a:off x="2926080" y="1600200"/>
            <a:ext cx="2011680" cy="822960"/>
          </a:xfrm>
          <a:prstGeom prst="rect">
            <a:avLst/>
          </a:prstGeom>
          <a:noFill/>
          <a:ln/>
        </p:spPr>
        <p:txBody>
          <a:bodyPr wrap="square" lIns="635" tIns="635" rIns="635" bIns="635" rtlCol="0" anchor="ctr"/>
          <a:lstStyle/>
          <a:p>
            <a:pPr algn="ctr" indent="0" marL="0">
              <a:buNone/>
            </a:pPr>
            <a:r>
              <a:rPr lang="en-US" sz="1500" b="1" dirty="0">
                <a:solidFill>
                  <a:schemeClr val="bg1"/>
                </a:solidFill>
              </a:rPr>
              <a:t>Play: language hub</a:t>
            </a:r>
            <a:endParaRPr lang="en-US" sz="1500" dirty="0"/>
          </a:p>
        </p:txBody>
      </p:sp>
      <p:sp>
        <p:nvSpPr>
          <p:cNvPr id="7" name="Library box"/>
          <p:cNvSpPr/>
          <p:nvPr/>
        </p:nvSpPr>
        <p:spPr>
          <a:xfrm>
            <a:off x="2926080" y="3108960"/>
            <a:ext cx="2011680" cy="822960"/>
          </a:xfrm>
          <a:prstGeom prst="roundRect">
            <a:avLst>
              <a:gd name="adj" fmla="val 16667"/>
            </a:avLst>
          </a:prstGeom>
          <a:solidFill>
            <a:schemeClr val="accent5"/>
          </a:solidFill>
          <a:ln w="12700">
            <a:solidFill>
              <a:schemeClr val="accent5"/>
            </a:solidFill>
            <a:prstDash val="solid"/>
          </a:ln>
        </p:spPr>
      </p:sp>
      <p:sp>
        <p:nvSpPr>
          <p:cNvPr id="8" name="Library box text"/>
          <p:cNvSpPr txBox="1"/>
          <p:nvPr/>
        </p:nvSpPr>
        <p:spPr>
          <a:xfrm>
            <a:off x="2926080" y="3108960"/>
            <a:ext cx="2011680" cy="822960"/>
          </a:xfrm>
          <a:prstGeom prst="rect">
            <a:avLst/>
          </a:prstGeom>
          <a:noFill/>
          <a:ln/>
        </p:spPr>
        <p:txBody>
          <a:bodyPr wrap="square" lIns="635" tIns="635" rIns="635" bIns="635" rtlCol="0" anchor="ctr"/>
          <a:lstStyle/>
          <a:p>
            <a:pPr algn="ctr" indent="0" marL="0">
              <a:buNone/>
            </a:pPr>
            <a:r>
              <a:rPr lang="en-US" sz="1500" b="1" dirty="0">
                <a:solidFill>
                  <a:schemeClr val="bg1"/>
                </a:solidFill>
              </a:rPr>
              <a:t>Library</a:t>
            </a:r>
            <a:endParaRPr lang="en-US" sz="1500" dirty="0"/>
          </a:p>
        </p:txBody>
      </p:sp>
      <p:sp>
        <p:nvSpPr>
          <p:cNvPr id="9" name="Phrase box"/>
          <p:cNvSpPr/>
          <p:nvPr/>
        </p:nvSpPr>
        <p:spPr>
          <a:xfrm>
            <a:off x="2926080" y="4526280"/>
            <a:ext cx="2011680" cy="822960"/>
          </a:xfrm>
          <a:prstGeom prst="roundRect">
            <a:avLst>
              <a:gd name="adj" fmla="val 16667"/>
            </a:avLst>
          </a:prstGeom>
          <a:solidFill>
            <a:srgbClr val="1D9E75"/>
          </a:solidFill>
          <a:ln w="12700">
            <a:solidFill>
              <a:srgbClr val="1D9E75"/>
            </a:solidFill>
            <a:prstDash val="solid"/>
          </a:ln>
        </p:spPr>
      </p:sp>
      <p:sp>
        <p:nvSpPr>
          <p:cNvPr id="10" name="Phrase box text"/>
          <p:cNvSpPr txBox="1"/>
          <p:nvPr/>
        </p:nvSpPr>
        <p:spPr>
          <a:xfrm>
            <a:off x="2926080" y="4526280"/>
            <a:ext cx="2011680" cy="822960"/>
          </a:xfrm>
          <a:prstGeom prst="rect">
            <a:avLst/>
          </a:prstGeom>
          <a:noFill/>
          <a:ln/>
        </p:spPr>
        <p:txBody>
          <a:bodyPr wrap="square" lIns="635" tIns="635" rIns="635" bIns="635" rtlCol="0" anchor="ctr"/>
          <a:lstStyle/>
          <a:p>
            <a:pPr algn="ctr" indent="0" marL="0">
              <a:buNone/>
            </a:pPr>
            <a:r>
              <a:rPr lang="en-US" sz="1500" b="1" dirty="0">
                <a:solidFill>
                  <a:schemeClr val="bg1"/>
                </a:solidFill>
              </a:rPr>
              <a:t>Phrasebook</a:t>
            </a:r>
            <a:endParaRPr lang="en-US" sz="1500" dirty="0"/>
          </a:p>
        </p:txBody>
      </p:sp>
      <p:sp>
        <p:nvSpPr>
          <p:cNvPr id="11" name="Profile box"/>
          <p:cNvSpPr/>
          <p:nvPr/>
        </p:nvSpPr>
        <p:spPr>
          <a:xfrm>
            <a:off x="2926080" y="5486400"/>
            <a:ext cx="2011680" cy="640080"/>
          </a:xfrm>
          <a:prstGeom prst="roundRect">
            <a:avLst>
              <a:gd name="adj" fmla="val 21429"/>
            </a:avLst>
          </a:prstGeom>
          <a:solidFill>
            <a:schemeClr val="accent6"/>
          </a:solidFill>
          <a:ln w="12700">
            <a:solidFill>
              <a:schemeClr val="accent6"/>
            </a:solidFill>
            <a:prstDash val="solid"/>
          </a:ln>
        </p:spPr>
      </p:sp>
      <p:sp>
        <p:nvSpPr>
          <p:cNvPr id="12" name="Profile box text"/>
          <p:cNvSpPr txBox="1"/>
          <p:nvPr/>
        </p:nvSpPr>
        <p:spPr>
          <a:xfrm>
            <a:off x="2926080" y="5486400"/>
            <a:ext cx="2011680" cy="640080"/>
          </a:xfrm>
          <a:prstGeom prst="rect">
            <a:avLst/>
          </a:prstGeom>
          <a:noFill/>
          <a:ln/>
        </p:spPr>
        <p:txBody>
          <a:bodyPr wrap="square" lIns="635" tIns="635" rIns="635" bIns="635" rtlCol="0" anchor="ctr"/>
          <a:lstStyle/>
          <a:p>
            <a:pPr algn="ctr" indent="0" marL="0">
              <a:buNone/>
            </a:pPr>
            <a:r>
              <a:rPr lang="en-US" sz="1500" b="1" dirty="0">
                <a:solidFill>
                  <a:schemeClr val="bg1"/>
                </a:solidFill>
              </a:rPr>
              <a:t>Profile  ·  Settings</a:t>
            </a:r>
            <a:endParaRPr lang="en-US" sz="1500" dirty="0"/>
          </a:p>
        </p:txBody>
      </p:sp>
      <p:sp>
        <p:nvSpPr>
          <p:cNvPr id="13" name="Arrow play"/>
          <p:cNvSpPr/>
          <p:nvPr/>
        </p:nvSpPr>
        <p:spPr>
          <a:xfrm flipV="1">
            <a:off x="2286000" y="2011680"/>
            <a:ext cx="640080" cy="1371600"/>
          </a:xfrm>
          <a:prstGeom prst="line">
            <a:avLst/>
          </a:prstGeom>
          <a:noFill/>
          <a:ln w="25400">
            <a:solidFill>
              <a:srgbClr val="8A6B47"/>
            </a:solidFill>
            <a:prstDash val="solid"/>
            <a:tailEnd type="triangle"/>
          </a:ln>
        </p:spPr>
      </p:sp>
      <p:sp>
        <p:nvSpPr>
          <p:cNvPr id="14" name="Arrow library"/>
          <p:cNvSpPr/>
          <p:nvPr/>
        </p:nvSpPr>
        <p:spPr>
          <a:xfrm>
            <a:off x="2286000" y="3520440"/>
            <a:ext cx="640080" cy="0"/>
          </a:xfrm>
          <a:prstGeom prst="line">
            <a:avLst/>
          </a:prstGeom>
          <a:noFill/>
          <a:ln w="25400">
            <a:solidFill>
              <a:srgbClr val="8A6B47"/>
            </a:solidFill>
            <a:prstDash val="solid"/>
            <a:tailEnd type="triangle"/>
          </a:ln>
        </p:spPr>
      </p:sp>
      <p:sp>
        <p:nvSpPr>
          <p:cNvPr id="15" name="Arrow phrase"/>
          <p:cNvSpPr/>
          <p:nvPr/>
        </p:nvSpPr>
        <p:spPr>
          <a:xfrm>
            <a:off x="2286000" y="3749040"/>
            <a:ext cx="640080" cy="1188720"/>
          </a:xfrm>
          <a:prstGeom prst="line">
            <a:avLst/>
          </a:prstGeom>
          <a:noFill/>
          <a:ln w="25400">
            <a:solidFill>
              <a:srgbClr val="8A6B47"/>
            </a:solidFill>
            <a:prstDash val="solid"/>
            <a:tailEnd type="triangle"/>
          </a:ln>
        </p:spPr>
      </p:sp>
      <p:sp>
        <p:nvSpPr>
          <p:cNvPr id="16" name="Arrow profile"/>
          <p:cNvSpPr/>
          <p:nvPr/>
        </p:nvSpPr>
        <p:spPr>
          <a:xfrm>
            <a:off x="2286000" y="3977640"/>
            <a:ext cx="640080" cy="1783080"/>
          </a:xfrm>
          <a:prstGeom prst="line">
            <a:avLst/>
          </a:prstGeom>
          <a:noFill/>
          <a:ln w="25400">
            <a:solidFill>
              <a:srgbClr val="8A6B47"/>
            </a:solidFill>
            <a:prstDash val="solid"/>
            <a:tailEnd type="triangle"/>
          </a:ln>
        </p:spPr>
      </p:sp>
      <p:sp>
        <p:nvSpPr>
          <p:cNvPr id="17" name="Wordle box"/>
          <p:cNvSpPr/>
          <p:nvPr/>
        </p:nvSpPr>
        <p:spPr>
          <a:xfrm>
            <a:off x="5577840" y="960120"/>
            <a:ext cx="1828800" cy="731520"/>
          </a:xfrm>
          <a:prstGeom prst="roundRect">
            <a:avLst>
              <a:gd name="adj" fmla="val 18750"/>
            </a:avLst>
          </a:prstGeom>
          <a:solidFill>
            <a:schemeClr val="accent3"/>
          </a:solidFill>
          <a:ln w="12700">
            <a:solidFill>
              <a:schemeClr val="accent3"/>
            </a:solidFill>
            <a:prstDash val="solid"/>
          </a:ln>
        </p:spPr>
      </p:sp>
      <p:sp>
        <p:nvSpPr>
          <p:cNvPr id="18" name="Wordle box text"/>
          <p:cNvSpPr txBox="1"/>
          <p:nvPr/>
        </p:nvSpPr>
        <p:spPr>
          <a:xfrm>
            <a:off x="5577840" y="960120"/>
            <a:ext cx="1828800" cy="731520"/>
          </a:xfrm>
          <a:prstGeom prst="rect">
            <a:avLst/>
          </a:prstGeom>
          <a:noFill/>
          <a:ln/>
        </p:spPr>
        <p:txBody>
          <a:bodyPr wrap="square" lIns="635" tIns="635" rIns="635" bIns="635" rtlCol="0" anchor="ctr"/>
          <a:lstStyle/>
          <a:p>
            <a:pPr algn="ctr" indent="0" marL="0">
              <a:buNone/>
            </a:pPr>
            <a:r>
              <a:rPr lang="en-US" sz="1500" b="1" dirty="0">
                <a:solidFill>
                  <a:schemeClr val="bg1"/>
                </a:solidFill>
              </a:rPr>
              <a:t>Wordle topics</a:t>
            </a:r>
            <a:endParaRPr lang="en-US" sz="1500" dirty="0"/>
          </a:p>
        </p:txBody>
      </p:sp>
      <p:sp>
        <p:nvSpPr>
          <p:cNvPr id="19" name="Cross box"/>
          <p:cNvSpPr/>
          <p:nvPr/>
        </p:nvSpPr>
        <p:spPr>
          <a:xfrm>
            <a:off x="5577840" y="1828800"/>
            <a:ext cx="1828800" cy="731520"/>
          </a:xfrm>
          <a:prstGeom prst="roundRect">
            <a:avLst>
              <a:gd name="adj" fmla="val 18750"/>
            </a:avLst>
          </a:prstGeom>
          <a:solidFill>
            <a:schemeClr val="accent3"/>
          </a:solidFill>
          <a:ln w="12700">
            <a:solidFill>
              <a:schemeClr val="accent3"/>
            </a:solidFill>
            <a:prstDash val="solid"/>
          </a:ln>
        </p:spPr>
      </p:sp>
      <p:sp>
        <p:nvSpPr>
          <p:cNvPr id="20" name="Cross box text"/>
          <p:cNvSpPr txBox="1"/>
          <p:nvPr/>
        </p:nvSpPr>
        <p:spPr>
          <a:xfrm>
            <a:off x="5577840" y="1828800"/>
            <a:ext cx="1828800" cy="731520"/>
          </a:xfrm>
          <a:prstGeom prst="rect">
            <a:avLst/>
          </a:prstGeom>
          <a:noFill/>
          <a:ln/>
        </p:spPr>
        <p:txBody>
          <a:bodyPr wrap="square" lIns="635" tIns="635" rIns="635" bIns="635" rtlCol="0" anchor="ctr"/>
          <a:lstStyle/>
          <a:p>
            <a:pPr algn="ctr" indent="0" marL="0">
              <a:buNone/>
            </a:pPr>
            <a:r>
              <a:rPr lang="en-US" sz="1500" b="1" dirty="0">
                <a:solidFill>
                  <a:schemeClr val="bg1"/>
                </a:solidFill>
              </a:rPr>
              <a:t>Crossword topics</a:t>
            </a:r>
            <a:endParaRPr lang="en-US" sz="1500" dirty="0"/>
          </a:p>
        </p:txBody>
      </p:sp>
      <p:sp>
        <p:nvSpPr>
          <p:cNvPr id="21" name="Search box"/>
          <p:cNvSpPr/>
          <p:nvPr/>
        </p:nvSpPr>
        <p:spPr>
          <a:xfrm>
            <a:off x="5577840" y="2697480"/>
            <a:ext cx="1828800" cy="731520"/>
          </a:xfrm>
          <a:prstGeom prst="roundRect">
            <a:avLst>
              <a:gd name="adj" fmla="val 18750"/>
            </a:avLst>
          </a:prstGeom>
          <a:solidFill>
            <a:schemeClr val="accent3"/>
          </a:solidFill>
          <a:ln w="12700">
            <a:solidFill>
              <a:schemeClr val="accent3"/>
            </a:solidFill>
            <a:prstDash val="solid"/>
          </a:ln>
        </p:spPr>
      </p:sp>
      <p:sp>
        <p:nvSpPr>
          <p:cNvPr id="22" name="Search box text"/>
          <p:cNvSpPr txBox="1"/>
          <p:nvPr/>
        </p:nvSpPr>
        <p:spPr>
          <a:xfrm>
            <a:off x="5577840" y="2697480"/>
            <a:ext cx="1828800" cy="731520"/>
          </a:xfrm>
          <a:prstGeom prst="rect">
            <a:avLst/>
          </a:prstGeom>
          <a:noFill/>
          <a:ln/>
        </p:spPr>
        <p:txBody>
          <a:bodyPr wrap="square" lIns="635" tIns="635" rIns="635" bIns="635" rtlCol="0" anchor="ctr"/>
          <a:lstStyle/>
          <a:p>
            <a:pPr algn="ctr" indent="0" marL="0">
              <a:buNone/>
            </a:pPr>
            <a:r>
              <a:rPr lang="en-US" sz="1500" b="1" dirty="0">
                <a:solidFill>
                  <a:schemeClr val="bg1"/>
                </a:solidFill>
              </a:rPr>
              <a:t>Word Search topics</a:t>
            </a:r>
            <a:endParaRPr lang="en-US" sz="1500" dirty="0"/>
          </a:p>
        </p:txBody>
      </p:sp>
      <p:sp>
        <p:nvSpPr>
          <p:cNvPr id="23" name="Arrow w"/>
          <p:cNvSpPr/>
          <p:nvPr/>
        </p:nvSpPr>
        <p:spPr>
          <a:xfrm flipV="1">
            <a:off x="4937760" y="1325880"/>
            <a:ext cx="640080" cy="502920"/>
          </a:xfrm>
          <a:prstGeom prst="line">
            <a:avLst/>
          </a:prstGeom>
          <a:noFill/>
          <a:ln w="25400">
            <a:solidFill>
              <a:srgbClr val="8A6B47"/>
            </a:solidFill>
            <a:prstDash val="solid"/>
            <a:tailEnd type="triangle"/>
          </a:ln>
        </p:spPr>
      </p:sp>
      <p:sp>
        <p:nvSpPr>
          <p:cNvPr id="24" name="Arrow c"/>
          <p:cNvSpPr/>
          <p:nvPr/>
        </p:nvSpPr>
        <p:spPr>
          <a:xfrm>
            <a:off x="4937760" y="2011680"/>
            <a:ext cx="640080" cy="182880"/>
          </a:xfrm>
          <a:prstGeom prst="line">
            <a:avLst/>
          </a:prstGeom>
          <a:noFill/>
          <a:ln w="25400">
            <a:solidFill>
              <a:srgbClr val="8A6B47"/>
            </a:solidFill>
            <a:prstDash val="solid"/>
            <a:tailEnd type="triangle"/>
          </a:ln>
        </p:spPr>
      </p:sp>
      <p:sp>
        <p:nvSpPr>
          <p:cNvPr id="25" name="Arrow s"/>
          <p:cNvSpPr/>
          <p:nvPr/>
        </p:nvSpPr>
        <p:spPr>
          <a:xfrm>
            <a:off x="4937760" y="2194560"/>
            <a:ext cx="640080" cy="868680"/>
          </a:xfrm>
          <a:prstGeom prst="line">
            <a:avLst/>
          </a:prstGeom>
          <a:noFill/>
          <a:ln w="25400">
            <a:solidFill>
              <a:srgbClr val="8A6B47"/>
            </a:solidFill>
            <a:prstDash val="solid"/>
            <a:tailEnd type="triangle"/>
          </a:ln>
        </p:spPr>
      </p:sp>
      <p:sp>
        <p:nvSpPr>
          <p:cNvPr id="26" name="Learn box"/>
          <p:cNvSpPr/>
          <p:nvPr/>
        </p:nvSpPr>
        <p:spPr>
          <a:xfrm>
            <a:off x="8046720" y="1417320"/>
            <a:ext cx="1645920" cy="731520"/>
          </a:xfrm>
          <a:prstGeom prst="roundRect">
            <a:avLst>
              <a:gd name="adj" fmla="val 18750"/>
            </a:avLst>
          </a:prstGeom>
          <a:solidFill>
            <a:schemeClr val="accent2"/>
          </a:solidFill>
          <a:ln w="12700">
            <a:solidFill>
              <a:schemeClr val="accent2"/>
            </a:solidFill>
            <a:prstDash val="solid"/>
          </a:ln>
        </p:spPr>
      </p:sp>
      <p:sp>
        <p:nvSpPr>
          <p:cNvPr id="27" name="Learn box text"/>
          <p:cNvSpPr txBox="1"/>
          <p:nvPr/>
        </p:nvSpPr>
        <p:spPr>
          <a:xfrm>
            <a:off x="8046720" y="1417320"/>
            <a:ext cx="1645920" cy="731520"/>
          </a:xfrm>
          <a:prstGeom prst="rect">
            <a:avLst/>
          </a:prstGeom>
          <a:noFill/>
          <a:ln/>
        </p:spPr>
        <p:txBody>
          <a:bodyPr wrap="square" lIns="635" tIns="635" rIns="635" bIns="635" rtlCol="0" anchor="ctr"/>
          <a:lstStyle/>
          <a:p>
            <a:pPr algn="ctr" indent="0" marL="0">
              <a:buNone/>
            </a:pPr>
            <a:r>
              <a:rPr lang="en-US" sz="1500" b="1" dirty="0">
                <a:solidFill>
                  <a:schemeClr val="bg1"/>
                </a:solidFill>
              </a:rPr>
              <a:t>Learn cards</a:t>
            </a:r>
            <a:endParaRPr lang="en-US" sz="1500" dirty="0"/>
          </a:p>
        </p:txBody>
      </p:sp>
      <p:sp>
        <p:nvSpPr>
          <p:cNvPr id="28" name="Puzzle box"/>
          <p:cNvSpPr/>
          <p:nvPr/>
        </p:nvSpPr>
        <p:spPr>
          <a:xfrm>
            <a:off x="8046720" y="2331720"/>
            <a:ext cx="1645920" cy="731520"/>
          </a:xfrm>
          <a:prstGeom prst="roundRect">
            <a:avLst>
              <a:gd name="adj" fmla="val 18750"/>
            </a:avLst>
          </a:prstGeom>
          <a:solidFill>
            <a:schemeClr val="accent1"/>
          </a:solidFill>
          <a:ln w="12700">
            <a:solidFill>
              <a:schemeClr val="accent1"/>
            </a:solidFill>
            <a:prstDash val="solid"/>
          </a:ln>
        </p:spPr>
      </p:sp>
      <p:sp>
        <p:nvSpPr>
          <p:cNvPr id="29" name="Puzzle box text"/>
          <p:cNvSpPr txBox="1"/>
          <p:nvPr/>
        </p:nvSpPr>
        <p:spPr>
          <a:xfrm>
            <a:off x="8046720" y="2331720"/>
            <a:ext cx="1645920" cy="731520"/>
          </a:xfrm>
          <a:prstGeom prst="rect">
            <a:avLst/>
          </a:prstGeom>
          <a:noFill/>
          <a:ln/>
        </p:spPr>
        <p:txBody>
          <a:bodyPr wrap="square" lIns="635" tIns="635" rIns="635" bIns="635" rtlCol="0" anchor="ctr"/>
          <a:lstStyle/>
          <a:p>
            <a:pPr algn="ctr" indent="0" marL="0">
              <a:buNone/>
            </a:pPr>
            <a:r>
              <a:rPr lang="en-US" sz="1500" b="1" dirty="0">
                <a:solidFill>
                  <a:schemeClr val="tx2"/>
                </a:solidFill>
              </a:rPr>
              <a:t>Puzzle</a:t>
            </a:r>
            <a:endParaRPr lang="en-US" sz="1500" dirty="0"/>
          </a:p>
        </p:txBody>
      </p:sp>
      <p:sp>
        <p:nvSpPr>
          <p:cNvPr id="30" name="Result box"/>
          <p:cNvSpPr/>
          <p:nvPr/>
        </p:nvSpPr>
        <p:spPr>
          <a:xfrm>
            <a:off x="10058400" y="1874520"/>
            <a:ext cx="1554480" cy="914400"/>
          </a:xfrm>
          <a:prstGeom prst="roundRect">
            <a:avLst>
              <a:gd name="adj" fmla="val 15000"/>
            </a:avLst>
          </a:prstGeom>
          <a:solidFill>
            <a:schemeClr val="accent4"/>
          </a:solidFill>
          <a:ln w="12700">
            <a:solidFill>
              <a:schemeClr val="accent4"/>
            </a:solidFill>
            <a:prstDash val="solid"/>
          </a:ln>
        </p:spPr>
      </p:sp>
      <p:sp>
        <p:nvSpPr>
          <p:cNvPr id="31" name="Result box text"/>
          <p:cNvSpPr txBox="1"/>
          <p:nvPr/>
        </p:nvSpPr>
        <p:spPr>
          <a:xfrm>
            <a:off x="10058400" y="1874520"/>
            <a:ext cx="1554480" cy="914400"/>
          </a:xfrm>
          <a:prstGeom prst="rect">
            <a:avLst/>
          </a:prstGeom>
          <a:noFill/>
          <a:ln/>
        </p:spPr>
        <p:txBody>
          <a:bodyPr wrap="square" lIns="635" tIns="635" rIns="635" bIns="635" rtlCol="0" anchor="ctr"/>
          <a:lstStyle/>
          <a:p>
            <a:pPr algn="ctr" indent="0" marL="0">
              <a:buNone/>
            </a:pPr>
            <a:r>
              <a:rPr lang="en-US" sz="1500" b="1" dirty="0">
                <a:solidFill>
                  <a:schemeClr val="bg1"/>
                </a:solidFill>
              </a:rPr>
              <a:t>Result and next level</a:t>
            </a:r>
            <a:endParaRPr lang="en-US" sz="1500" dirty="0"/>
          </a:p>
        </p:txBody>
      </p:sp>
      <p:sp>
        <p:nvSpPr>
          <p:cNvPr id="32" name="Arrow topics-learn"/>
          <p:cNvSpPr/>
          <p:nvPr/>
        </p:nvSpPr>
        <p:spPr>
          <a:xfrm>
            <a:off x="7406640" y="1463040"/>
            <a:ext cx="640080" cy="320040"/>
          </a:xfrm>
          <a:prstGeom prst="line">
            <a:avLst/>
          </a:prstGeom>
          <a:noFill/>
          <a:ln w="25400">
            <a:solidFill>
              <a:srgbClr val="8A6B47"/>
            </a:solidFill>
            <a:prstDash val="solid"/>
            <a:tailEnd type="triangle"/>
          </a:ln>
        </p:spPr>
      </p:sp>
      <p:sp>
        <p:nvSpPr>
          <p:cNvPr id="33" name="Arrow topics-puzzle"/>
          <p:cNvSpPr/>
          <p:nvPr/>
        </p:nvSpPr>
        <p:spPr>
          <a:xfrm flipV="1">
            <a:off x="7406640" y="2697480"/>
            <a:ext cx="640080" cy="137160"/>
          </a:xfrm>
          <a:prstGeom prst="line">
            <a:avLst/>
          </a:prstGeom>
          <a:noFill/>
          <a:ln w="25400">
            <a:solidFill>
              <a:srgbClr val="8A6B47"/>
            </a:solidFill>
            <a:prstDash val="solid"/>
            <a:tailEnd type="triangle"/>
          </a:ln>
        </p:spPr>
      </p:sp>
      <p:sp>
        <p:nvSpPr>
          <p:cNvPr id="34" name="Arrow puzzle-result"/>
          <p:cNvSpPr/>
          <p:nvPr/>
        </p:nvSpPr>
        <p:spPr>
          <a:xfrm flipV="1">
            <a:off x="9692640" y="2468880"/>
            <a:ext cx="365760" cy="228600"/>
          </a:xfrm>
          <a:prstGeom prst="line">
            <a:avLst/>
          </a:prstGeom>
          <a:noFill/>
          <a:ln w="25400">
            <a:solidFill>
              <a:srgbClr val="8A6B47"/>
            </a:solidFill>
            <a:prstDash val="solid"/>
            <a:tailEnd type="triangle"/>
          </a:ln>
        </p:spPr>
      </p:sp>
      <p:sp>
        <p:nvSpPr>
          <p:cNvPr id="35" name="Topics box"/>
          <p:cNvSpPr/>
          <p:nvPr/>
        </p:nvSpPr>
        <p:spPr>
          <a:xfrm>
            <a:off x="5577840" y="4526280"/>
            <a:ext cx="3017520" cy="822960"/>
          </a:xfrm>
          <a:prstGeom prst="roundRect">
            <a:avLst>
              <a:gd name="adj" fmla="val 16667"/>
            </a:avLst>
          </a:prstGeom>
          <a:solidFill>
            <a:srgbClr val="1D9E75"/>
          </a:solidFill>
          <a:ln w="12700">
            <a:solidFill>
              <a:srgbClr val="1D9E75"/>
            </a:solidFill>
            <a:prstDash val="solid"/>
          </a:ln>
        </p:spPr>
      </p:sp>
      <p:sp>
        <p:nvSpPr>
          <p:cNvPr id="36" name="Topics box text"/>
          <p:cNvSpPr txBox="1"/>
          <p:nvPr/>
        </p:nvSpPr>
        <p:spPr>
          <a:xfrm>
            <a:off x="5577840" y="4526280"/>
            <a:ext cx="3017520" cy="822960"/>
          </a:xfrm>
          <a:prstGeom prst="rect">
            <a:avLst/>
          </a:prstGeom>
          <a:noFill/>
          <a:ln/>
        </p:spPr>
        <p:txBody>
          <a:bodyPr wrap="square" lIns="635" tIns="635" rIns="635" bIns="635" rtlCol="0" anchor="ctr"/>
          <a:lstStyle/>
          <a:p>
            <a:pPr algn="ctr" indent="0" marL="0">
              <a:buNone/>
            </a:pPr>
            <a:r>
              <a:rPr lang="en-US" sz="1500" b="1" dirty="0">
                <a:solidFill>
                  <a:schemeClr val="bg1"/>
                </a:solidFill>
              </a:rPr>
              <a:t>Topics → Cards → Sentence builder</a:t>
            </a:r>
            <a:endParaRPr lang="en-US" sz="1500" dirty="0"/>
          </a:p>
        </p:txBody>
      </p:sp>
      <p:sp>
        <p:nvSpPr>
          <p:cNvPr id="37" name="Arrow phrase-topics"/>
          <p:cNvSpPr/>
          <p:nvPr/>
        </p:nvSpPr>
        <p:spPr>
          <a:xfrm>
            <a:off x="4937760" y="4937760"/>
            <a:ext cx="640080" cy="0"/>
          </a:xfrm>
          <a:prstGeom prst="line">
            <a:avLst/>
          </a:prstGeom>
          <a:noFill/>
          <a:ln w="25400">
            <a:solidFill>
              <a:srgbClr val="8A6B47"/>
            </a:solidFill>
            <a:prstDash val="solid"/>
            <a:tailEnd type="triangle"/>
          </a:ln>
        </p:spPr>
      </p:sp>
      <p:sp>
        <p:nvSpPr>
          <p:cNvPr id="38" name="Word list box"/>
          <p:cNvSpPr/>
          <p:nvPr/>
        </p:nvSpPr>
        <p:spPr>
          <a:xfrm>
            <a:off x="8046720" y="3611880"/>
            <a:ext cx="3566160" cy="731520"/>
          </a:xfrm>
          <a:prstGeom prst="roundRect">
            <a:avLst>
              <a:gd name="adj" fmla="val 18750"/>
            </a:avLst>
          </a:prstGeom>
          <a:solidFill>
            <a:schemeClr val="accent5"/>
          </a:solidFill>
          <a:ln w="12700">
            <a:solidFill>
              <a:schemeClr val="accent5"/>
            </a:solidFill>
            <a:prstDash val="solid"/>
          </a:ln>
        </p:spPr>
      </p:sp>
      <p:sp>
        <p:nvSpPr>
          <p:cNvPr id="39" name="Word list box text"/>
          <p:cNvSpPr txBox="1"/>
          <p:nvPr/>
        </p:nvSpPr>
        <p:spPr>
          <a:xfrm>
            <a:off x="8046720" y="3611880"/>
            <a:ext cx="3566160" cy="731520"/>
          </a:xfrm>
          <a:prstGeom prst="rect">
            <a:avLst/>
          </a:prstGeom>
          <a:noFill/>
          <a:ln/>
        </p:spPr>
        <p:txBody>
          <a:bodyPr wrap="square" lIns="635" tIns="635" rIns="635" bIns="635" rtlCol="0" anchor="ctr"/>
          <a:lstStyle/>
          <a:p>
            <a:pPr algn="ctr" indent="0" marL="0">
              <a:buNone/>
            </a:pPr>
            <a:r>
              <a:rPr lang="en-US" sz="1500" b="1" dirty="0">
                <a:solidFill>
                  <a:schemeClr val="bg1"/>
                </a:solidFill>
              </a:rPr>
              <a:t>Words you learned (saved favorites)</a:t>
            </a:r>
            <a:endParaRPr lang="en-US" sz="1500" dirty="0"/>
          </a:p>
        </p:txBody>
      </p:sp>
      <p:sp>
        <p:nvSpPr>
          <p:cNvPr id="40" name="Arrow result-list"/>
          <p:cNvSpPr/>
          <p:nvPr/>
        </p:nvSpPr>
        <p:spPr>
          <a:xfrm>
            <a:off x="10789920" y="2788920"/>
            <a:ext cx="0" cy="822960"/>
          </a:xfrm>
          <a:prstGeom prst="line">
            <a:avLst/>
          </a:prstGeom>
          <a:noFill/>
          <a:ln w="25400">
            <a:solidFill>
              <a:srgbClr val="8A6B47"/>
            </a:solidFill>
            <a:prstDash val="solid"/>
            <a:tailEnd type="triangle"/>
          </a:ln>
        </p:spPr>
      </p:sp>
      <p:sp>
        <p:nvSpPr>
          <p:cNvPr id="41" name="Flow note"/>
          <p:cNvSpPr txBox="1"/>
          <p:nvPr/>
        </p:nvSpPr>
        <p:spPr>
          <a:xfrm>
            <a:off x="5577840" y="5532120"/>
            <a:ext cx="6035040" cy="640080"/>
          </a:xfrm>
          <a:prstGeom prst="rect">
            <a:avLst/>
          </a:prstGeom>
          <a:noFill/>
          <a:ln/>
        </p:spPr>
        <p:txBody>
          <a:bodyPr wrap="square" lIns="0" tIns="0" rIns="0" bIns="0" rtlCol="0" anchor="t"/>
          <a:lstStyle/>
          <a:p>
            <a:pPr indent="0" marL="0">
              <a:buNone/>
            </a:pPr>
            <a:r>
              <a:rPr lang="en-US" sz="1500" i="1" dirty="0">
                <a:solidFill>
                  <a:schemeClr val="accent6"/>
                </a:solidFill>
              </a:rPr>
              <a:t>Every screen has a back button. Progress is saved after each puzzle, phrase and favorite.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Main menu and settings</a:t>
            </a:r>
            <a:endParaRPr lang="en-US" sz="3400" dirty="0"/>
          </a:p>
        </p:txBody>
      </p:sp>
      <p:sp>
        <p:nvSpPr>
          <p:cNvPr id="3" name="Menu screenshot frame"/>
          <p:cNvSpPr/>
          <p:nvPr/>
        </p:nvSpPr>
        <p:spPr>
          <a:xfrm>
            <a:off x="484632" y="1444752"/>
            <a:ext cx="5614416" cy="3214116"/>
          </a:xfrm>
          <a:prstGeom prst="roundRect">
            <a:avLst>
              <a:gd name="adj" fmla="val 2276"/>
            </a:avLst>
          </a:prstGeom>
          <a:solidFill>
            <a:schemeClr val="tx2"/>
          </a:solidFill>
          <a:ln w="12700">
            <a:solidFill>
              <a:schemeClr val="tx2"/>
            </a:solidFill>
            <a:prstDash val="solid"/>
          </a:ln>
        </p:spPr>
      </p:sp>
      <p:pic>
        <p:nvPicPr>
          <p:cNvPr id="4" name="Menu screenshot" descr="Main menu: Play, Library, Phrasebook">    </p:cNvPr>
          <p:cNvPicPr>
            <a:picLocks noChangeAspect="1"/>
          </p:cNvPicPr>
          <p:nvPr/>
        </p:nvPicPr>
        <p:blipFill>
          <a:blip r:embed="rId1"/>
          <a:stretch>
            <a:fillRect/>
          </a:stretch>
        </p:blipFill>
        <p:spPr>
          <a:xfrm>
            <a:off x="548640" y="1508760"/>
            <a:ext cx="5486400" cy="3086100"/>
          </a:xfrm>
          <a:prstGeom prst="rect">
            <a:avLst/>
          </a:prstGeom>
        </p:spPr>
      </p:pic>
      <p:sp>
        <p:nvSpPr>
          <p:cNvPr id="5" name="Menu screenshot caption"/>
          <p:cNvSpPr txBox="1"/>
          <p:nvPr/>
        </p:nvSpPr>
        <p:spPr>
          <a:xfrm>
            <a:off x="484632" y="4722876"/>
            <a:ext cx="5614416" cy="292608"/>
          </a:xfrm>
          <a:prstGeom prst="rect">
            <a:avLst/>
          </a:prstGeom>
          <a:noFill/>
          <a:ln/>
        </p:spPr>
        <p:txBody>
          <a:bodyPr wrap="square" lIns="0" tIns="0" rIns="0" bIns="0" rtlCol="0" anchor="t"/>
          <a:lstStyle/>
          <a:p>
            <a:pPr algn="ctr" indent="0" marL="0">
              <a:buNone/>
            </a:pPr>
            <a:r>
              <a:rPr lang="en-US" sz="1200" i="1" dirty="0">
                <a:solidFill>
                  <a:schemeClr val="accent6"/>
                </a:solidFill>
              </a:rPr>
              <a:t>Main menu: Play, Library, Phrasebook</a:t>
            </a:r>
            <a:endParaRPr lang="en-US" sz="1200" dirty="0"/>
          </a:p>
        </p:txBody>
      </p:sp>
      <p:sp>
        <p:nvSpPr>
          <p:cNvPr id="6" name="Settings screenshot frame"/>
          <p:cNvSpPr/>
          <p:nvPr/>
        </p:nvSpPr>
        <p:spPr>
          <a:xfrm>
            <a:off x="6199632" y="1444752"/>
            <a:ext cx="5614416" cy="3214116"/>
          </a:xfrm>
          <a:prstGeom prst="roundRect">
            <a:avLst>
              <a:gd name="adj" fmla="val 2276"/>
            </a:avLst>
          </a:prstGeom>
          <a:solidFill>
            <a:schemeClr val="tx2"/>
          </a:solidFill>
          <a:ln w="12700">
            <a:solidFill>
              <a:schemeClr val="tx2"/>
            </a:solidFill>
            <a:prstDash val="solid"/>
          </a:ln>
        </p:spPr>
      </p:sp>
      <p:pic>
        <p:nvPicPr>
          <p:cNvPr id="7" name="Settings screenshot" descr="Gear settings window">    </p:cNvPr>
          <p:cNvPicPr>
            <a:picLocks noChangeAspect="1"/>
          </p:cNvPicPr>
          <p:nvPr/>
        </p:nvPicPr>
        <p:blipFill>
          <a:blip r:embed="rId2"/>
          <a:stretch>
            <a:fillRect/>
          </a:stretch>
        </p:blipFill>
        <p:spPr>
          <a:xfrm>
            <a:off x="6263640" y="1508760"/>
            <a:ext cx="5486400" cy="3086100"/>
          </a:xfrm>
          <a:prstGeom prst="rect">
            <a:avLst/>
          </a:prstGeom>
        </p:spPr>
      </p:pic>
      <p:sp>
        <p:nvSpPr>
          <p:cNvPr id="8" name="Settings screenshot caption"/>
          <p:cNvSpPr txBox="1"/>
          <p:nvPr/>
        </p:nvSpPr>
        <p:spPr>
          <a:xfrm>
            <a:off x="6199632" y="4722876"/>
            <a:ext cx="5614416" cy="292608"/>
          </a:xfrm>
          <a:prstGeom prst="rect">
            <a:avLst/>
          </a:prstGeom>
          <a:noFill/>
          <a:ln/>
        </p:spPr>
        <p:txBody>
          <a:bodyPr wrap="square" lIns="0" tIns="0" rIns="0" bIns="0" rtlCol="0" anchor="t"/>
          <a:lstStyle/>
          <a:p>
            <a:pPr algn="ctr" indent="0" marL="0">
              <a:buNone/>
            </a:pPr>
            <a:r>
              <a:rPr lang="en-US" sz="1200" i="1" dirty="0">
                <a:solidFill>
                  <a:schemeClr val="accent6"/>
                </a:solidFill>
              </a:rPr>
              <a:t>Gear settings window</a:t>
            </a:r>
            <a:endParaRPr lang="en-US" sz="1200" dirty="0"/>
          </a:p>
        </p:txBody>
      </p:sp>
      <p:sp>
        <p:nvSpPr>
          <p:cNvPr id="9" name="Menu list"/>
          <p:cNvSpPr txBox="1"/>
          <p:nvPr/>
        </p:nvSpPr>
        <p:spPr>
          <a:xfrm>
            <a:off x="548640" y="5074920"/>
            <a:ext cx="11064240" cy="1234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Three big buttons: Play (3 minigames, 3 languages), Library (63,540 words) and Phrasebook (real sentences)</a:t>
            </a:r>
            <a:endParaRPr lang="en-US" sz="1600" dirty="0"/>
          </a:p>
          <a:p>
            <a:pPr marL="342900" indent="-342900">
              <a:spcAft>
                <a:spcPts val="800"/>
              </a:spcAft>
              <a:buSzPct val="100000"/>
              <a:buChar char="•"/>
            </a:pPr>
            <a:r>
              <a:rPr lang="en-US" sz="1600" dirty="0">
                <a:solidFill>
                  <a:schemeClr val="tx1"/>
                </a:solidFill>
              </a:rPr>
              <a:t>Profile shows the avatar and day streak; the gear opens settings</a:t>
            </a:r>
            <a:endParaRPr lang="en-US" sz="1600" dirty="0"/>
          </a:p>
          <a:p>
            <a:pPr marL="342900" indent="-342900">
              <a:spcAft>
                <a:spcPts val="800"/>
              </a:spcAft>
              <a:buSzPct val="100000"/>
              <a:buChar char="•"/>
            </a:pPr>
            <a:r>
              <a:rPr lang="en-US" sz="1600" dirty="0">
                <a:solidFill>
                  <a:schemeClr val="tx1"/>
                </a:solidFill>
              </a:rPr>
              <a:t>Settings: sound effects on or off, and a music volume slider</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Language hub and topic pickers</a:t>
            </a:r>
            <a:endParaRPr lang="en-US" sz="3400" dirty="0"/>
          </a:p>
        </p:txBody>
      </p:sp>
      <p:sp>
        <p:nvSpPr>
          <p:cNvPr id="3" name="Hub screenshot frame"/>
          <p:cNvSpPr/>
          <p:nvPr/>
        </p:nvSpPr>
        <p:spPr>
          <a:xfrm>
            <a:off x="484632" y="1444752"/>
            <a:ext cx="5614416" cy="3214116"/>
          </a:xfrm>
          <a:prstGeom prst="roundRect">
            <a:avLst>
              <a:gd name="adj" fmla="val 2276"/>
            </a:avLst>
          </a:prstGeom>
          <a:solidFill>
            <a:schemeClr val="tx2"/>
          </a:solidFill>
          <a:ln w="12700">
            <a:solidFill>
              <a:schemeClr val="tx2"/>
            </a:solidFill>
            <a:prstDash val="solid"/>
          </a:ln>
        </p:spPr>
      </p:sp>
      <p:pic>
        <p:nvPicPr>
          <p:cNvPr id="4" name="Hub screenshot" descr="Pick a game and a language">    </p:cNvPr>
          <p:cNvPicPr>
            <a:picLocks noChangeAspect="1"/>
          </p:cNvPicPr>
          <p:nvPr/>
        </p:nvPicPr>
        <p:blipFill>
          <a:blip r:embed="rId1"/>
          <a:stretch>
            <a:fillRect/>
          </a:stretch>
        </p:blipFill>
        <p:spPr>
          <a:xfrm>
            <a:off x="548640" y="1508760"/>
            <a:ext cx="5486400" cy="3086100"/>
          </a:xfrm>
          <a:prstGeom prst="rect">
            <a:avLst/>
          </a:prstGeom>
        </p:spPr>
      </p:pic>
      <p:sp>
        <p:nvSpPr>
          <p:cNvPr id="5" name="Hub screenshot caption"/>
          <p:cNvSpPr txBox="1"/>
          <p:nvPr/>
        </p:nvSpPr>
        <p:spPr>
          <a:xfrm>
            <a:off x="484632" y="4722876"/>
            <a:ext cx="5614416" cy="292608"/>
          </a:xfrm>
          <a:prstGeom prst="rect">
            <a:avLst/>
          </a:prstGeom>
          <a:noFill/>
          <a:ln/>
        </p:spPr>
        <p:txBody>
          <a:bodyPr wrap="square" lIns="0" tIns="0" rIns="0" bIns="0" rtlCol="0" anchor="t"/>
          <a:lstStyle/>
          <a:p>
            <a:pPr algn="ctr" indent="0" marL="0">
              <a:buNone/>
            </a:pPr>
            <a:r>
              <a:rPr lang="en-US" sz="1200" i="1" dirty="0">
                <a:solidFill>
                  <a:schemeClr val="accent6"/>
                </a:solidFill>
              </a:rPr>
              <a:t>Pick a game and a language</a:t>
            </a:r>
            <a:endParaRPr lang="en-US" sz="1200" dirty="0"/>
          </a:p>
        </p:txBody>
      </p:sp>
      <p:sp>
        <p:nvSpPr>
          <p:cNvPr id="6" name="Topics screenshot frame"/>
          <p:cNvSpPr/>
          <p:nvPr/>
        </p:nvSpPr>
        <p:spPr>
          <a:xfrm>
            <a:off x="6199632" y="1444752"/>
            <a:ext cx="5614416" cy="3214116"/>
          </a:xfrm>
          <a:prstGeom prst="roundRect">
            <a:avLst>
              <a:gd name="adj" fmla="val 2276"/>
            </a:avLst>
          </a:prstGeom>
          <a:solidFill>
            <a:schemeClr val="tx2"/>
          </a:solidFill>
          <a:ln w="12700">
            <a:solidFill>
              <a:schemeClr val="tx2"/>
            </a:solidFill>
            <a:prstDash val="solid"/>
          </a:ln>
        </p:spPr>
      </p:sp>
      <p:pic>
        <p:nvPicPr>
          <p:cNvPr id="7" name="Topics screenshot" descr="Seven topics, six levels each">    </p:cNvPr>
          <p:cNvPicPr>
            <a:picLocks noChangeAspect="1"/>
          </p:cNvPicPr>
          <p:nvPr/>
        </p:nvPicPr>
        <p:blipFill>
          <a:blip r:embed="rId2"/>
          <a:stretch>
            <a:fillRect/>
          </a:stretch>
        </p:blipFill>
        <p:spPr>
          <a:xfrm>
            <a:off x="6263640" y="1508760"/>
            <a:ext cx="5486400" cy="3086100"/>
          </a:xfrm>
          <a:prstGeom prst="rect">
            <a:avLst/>
          </a:prstGeom>
        </p:spPr>
      </p:pic>
      <p:sp>
        <p:nvSpPr>
          <p:cNvPr id="8" name="Topics screenshot caption"/>
          <p:cNvSpPr txBox="1"/>
          <p:nvPr/>
        </p:nvSpPr>
        <p:spPr>
          <a:xfrm>
            <a:off x="6199632" y="4722876"/>
            <a:ext cx="5614416" cy="292608"/>
          </a:xfrm>
          <a:prstGeom prst="rect">
            <a:avLst/>
          </a:prstGeom>
          <a:noFill/>
          <a:ln/>
        </p:spPr>
        <p:txBody>
          <a:bodyPr wrap="square" lIns="0" tIns="0" rIns="0" bIns="0" rtlCol="0" anchor="t"/>
          <a:lstStyle/>
          <a:p>
            <a:pPr algn="ctr" indent="0" marL="0">
              <a:buNone/>
            </a:pPr>
            <a:r>
              <a:rPr lang="en-US" sz="1200" i="1" dirty="0">
                <a:solidFill>
                  <a:schemeClr val="accent6"/>
                </a:solidFill>
              </a:rPr>
              <a:t>Seven topics, six levels each</a:t>
            </a:r>
            <a:endParaRPr lang="en-US" sz="1200" dirty="0"/>
          </a:p>
        </p:txBody>
      </p:sp>
      <p:sp>
        <p:nvSpPr>
          <p:cNvPr id="9" name="Hub list"/>
          <p:cNvSpPr txBox="1"/>
          <p:nvPr/>
        </p:nvSpPr>
        <p:spPr>
          <a:xfrm>
            <a:off x="548640" y="5074920"/>
            <a:ext cx="11064240" cy="1234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The hub shows all three games with how many puzzles are solved in the chosen language</a:t>
            </a:r>
            <a:endParaRPr lang="en-US" sz="1600" dirty="0"/>
          </a:p>
          <a:p>
            <a:pPr marL="342900" indent="-342900">
              <a:spcAft>
                <a:spcPts val="800"/>
              </a:spcAft>
              <a:buSzPct val="100000"/>
              <a:buChar char="•"/>
            </a:pPr>
            <a:r>
              <a:rPr lang="en-US" sz="1600" dirty="0">
                <a:solidFill>
                  <a:schemeClr val="tx1"/>
                </a:solidFill>
              </a:rPr>
              <a:t>Seven topics: Animals, Food and drink, Body, Family and people, Home and things, Nature and weather, Numbers</a:t>
            </a:r>
            <a:endParaRPr lang="en-US" sz="1600" dirty="0"/>
          </a:p>
          <a:p>
            <a:pPr marL="342900" indent="-342900">
              <a:spcAft>
                <a:spcPts val="800"/>
              </a:spcAft>
              <a:buSzPct val="100000"/>
              <a:buChar char="•"/>
            </a:pPr>
            <a:r>
              <a:rPr lang="en-US" sz="1600" dirty="0">
                <a:solidFill>
                  <a:schemeClr val="tx1"/>
                </a:solidFill>
              </a:rPr>
              <a:t>Each topic has Learn (word cards) and Play, with a level picker that gets harder</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Wordle: guess the hidden word</a:t>
            </a:r>
            <a:endParaRPr lang="en-US" sz="3400" dirty="0"/>
          </a:p>
        </p:txBody>
      </p:sp>
      <p:sp>
        <p:nvSpPr>
          <p:cNvPr id="3" name="Wordle circle"/>
          <p:cNvSpPr/>
          <p:nvPr/>
        </p:nvSpPr>
        <p:spPr>
          <a:xfrm>
            <a:off x="548640" y="1417320"/>
            <a:ext cx="640080" cy="640080"/>
          </a:xfrm>
          <a:prstGeom prst="ellipse">
            <a:avLst/>
          </a:prstGeom>
          <a:solidFill>
            <a:schemeClr val="accent2"/>
          </a:solidFill>
          <a:ln w="12700">
            <a:solidFill>
              <a:schemeClr val="accent2"/>
            </a:solidFill>
            <a:prstDash val="solid"/>
          </a:ln>
        </p:spPr>
      </p:sp>
      <p:pic>
        <p:nvPicPr>
          <p:cNvPr id="4" name="Wordle icon" descr="Wordle">    </p:cNvPr>
          <p:cNvPicPr>
            <a:picLocks noChangeAspect="1"/>
          </p:cNvPicPr>
          <p:nvPr/>
        </p:nvPicPr>
        <p:blipFill>
          <a:blip r:embed="rId1"/>
          <a:stretch>
            <a:fillRect/>
          </a:stretch>
        </p:blipFill>
        <p:spPr>
          <a:xfrm>
            <a:off x="721462" y="1590142"/>
            <a:ext cx="294437" cy="294437"/>
          </a:xfrm>
          <a:prstGeom prst="rect">
            <a:avLst/>
          </a:prstGeom>
        </p:spPr>
      </p:pic>
      <p:sp>
        <p:nvSpPr>
          <p:cNvPr id="5" name="Wordle intro"/>
          <p:cNvSpPr txBox="1"/>
          <p:nvPr/>
        </p:nvSpPr>
        <p:spPr>
          <a:xfrm>
            <a:off x="1371600" y="1417320"/>
            <a:ext cx="3017520" cy="640080"/>
          </a:xfrm>
          <a:prstGeom prst="rect">
            <a:avLst/>
          </a:prstGeom>
          <a:noFill/>
          <a:ln/>
        </p:spPr>
        <p:txBody>
          <a:bodyPr wrap="square" lIns="0" tIns="0" rIns="0" bIns="0" rtlCol="0" anchor="ctr"/>
          <a:lstStyle/>
          <a:p>
            <a:pPr indent="0" marL="0">
              <a:buNone/>
            </a:pPr>
            <a:r>
              <a:rPr lang="en-US" sz="1700" b="1" dirty="0">
                <a:solidFill>
                  <a:schemeClr val="tx1"/>
                </a:solidFill>
              </a:rPr>
              <a:t>Letter-by-letter feedback</a:t>
            </a:r>
            <a:endParaRPr lang="en-US" sz="1700" dirty="0"/>
          </a:p>
        </p:txBody>
      </p:sp>
      <p:sp>
        <p:nvSpPr>
          <p:cNvPr id="6" name="Wordle list"/>
          <p:cNvSpPr txBox="1"/>
          <p:nvPr/>
        </p:nvSpPr>
        <p:spPr>
          <a:xfrm>
            <a:off x="548640" y="2240280"/>
            <a:ext cx="3840480" cy="3657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English clue on top; limited tries and a timer</a:t>
            </a:r>
            <a:endParaRPr lang="en-US" sz="1600" dirty="0"/>
          </a:p>
          <a:p>
            <a:pPr marL="342900" indent="-342900">
              <a:spcAft>
                <a:spcPts val="800"/>
              </a:spcAft>
              <a:buSzPct val="100000"/>
              <a:buChar char="•"/>
            </a:pPr>
            <a:r>
              <a:rPr lang="en-US" sz="1600" dirty="0">
                <a:solidFill>
                  <a:schemeClr val="tx1"/>
                </a:solidFill>
              </a:rPr>
              <a:t>Green and yellow tiles show right letters</a:t>
            </a:r>
            <a:endParaRPr lang="en-US" sz="1600" dirty="0"/>
          </a:p>
          <a:p>
            <a:pPr marL="342900" indent="-342900">
              <a:spcAft>
                <a:spcPts val="800"/>
              </a:spcAft>
              <a:buSzPct val="100000"/>
              <a:buChar char="•"/>
            </a:pPr>
            <a:r>
              <a:rPr lang="en-US" sz="1600" dirty="0">
                <a:solidFill>
                  <a:schemeClr val="tx1"/>
                </a:solidFill>
              </a:rPr>
              <a:t>Hint button tells which column a letter is in</a:t>
            </a:r>
            <a:endParaRPr lang="en-US" sz="1600" dirty="0"/>
          </a:p>
          <a:p>
            <a:pPr marL="342900" indent="-342900">
              <a:spcAft>
                <a:spcPts val="800"/>
              </a:spcAft>
              <a:buSzPct val="100000"/>
              <a:buChar char="•"/>
            </a:pPr>
            <a:r>
              <a:rPr lang="en-US" sz="1600" dirty="0">
                <a:solidFill>
                  <a:schemeClr val="tx1"/>
                </a:solidFill>
              </a:rPr>
              <a:t>On-screen keypad, or the physical keyboard</a:t>
            </a:r>
            <a:endParaRPr lang="en-US" sz="1600" dirty="0"/>
          </a:p>
          <a:p>
            <a:pPr marL="342900" indent="-342900">
              <a:spcAft>
                <a:spcPts val="800"/>
              </a:spcAft>
              <a:buSzPct val="100000"/>
              <a:buChar char="•"/>
            </a:pPr>
            <a:r>
              <a:rPr lang="en-US" sz="1600" dirty="0">
                <a:solidFill>
                  <a:schemeClr val="tx1"/>
                </a:solidFill>
              </a:rPr>
              <a:t>42 levels per language (7 topics x 6 levels)</a:t>
            </a:r>
            <a:endParaRPr lang="en-US" sz="1600" dirty="0"/>
          </a:p>
          <a:p>
            <a:pPr marL="342900" indent="-342900">
              <a:spcAft>
                <a:spcPts val="800"/>
              </a:spcAft>
              <a:buSzPct val="100000"/>
              <a:buChar char="•"/>
            </a:pPr>
            <a:r>
              <a:rPr lang="en-US" sz="1600" dirty="0">
                <a:solidFill>
                  <a:schemeClr val="tx1"/>
                </a:solidFill>
              </a:rPr>
              <a:t>A solved level is saved; Next level moves straight on</a:t>
            </a:r>
            <a:endParaRPr lang="en-US" sz="1600" dirty="0"/>
          </a:p>
        </p:txBody>
      </p:sp>
      <p:sp>
        <p:nvSpPr>
          <p:cNvPr id="7" name="Wordle play frame"/>
          <p:cNvSpPr/>
          <p:nvPr/>
        </p:nvSpPr>
        <p:spPr>
          <a:xfrm>
            <a:off x="4553712" y="1536192"/>
            <a:ext cx="3557016" cy="2056829"/>
          </a:xfrm>
          <a:prstGeom prst="roundRect">
            <a:avLst>
              <a:gd name="adj" fmla="val 3557"/>
            </a:avLst>
          </a:prstGeom>
          <a:solidFill>
            <a:schemeClr val="tx2"/>
          </a:solidFill>
          <a:ln w="12700">
            <a:solidFill>
              <a:schemeClr val="tx2"/>
            </a:solidFill>
            <a:prstDash val="solid"/>
          </a:ln>
        </p:spPr>
      </p:sp>
      <p:pic>
        <p:nvPicPr>
          <p:cNvPr id="8" name="Wordle play" descr="Playing">    </p:cNvPr>
          <p:cNvPicPr>
            <a:picLocks noChangeAspect="1"/>
          </p:cNvPicPr>
          <p:nvPr/>
        </p:nvPicPr>
        <p:blipFill>
          <a:blip r:embed="rId2"/>
          <a:stretch>
            <a:fillRect/>
          </a:stretch>
        </p:blipFill>
        <p:spPr>
          <a:xfrm>
            <a:off x="4617720" y="1600200"/>
            <a:ext cx="3429000" cy="1928813"/>
          </a:xfrm>
          <a:prstGeom prst="rect">
            <a:avLst/>
          </a:prstGeom>
        </p:spPr>
      </p:pic>
      <p:sp>
        <p:nvSpPr>
          <p:cNvPr id="9" name="Wordle play caption"/>
          <p:cNvSpPr txBox="1"/>
          <p:nvPr/>
        </p:nvSpPr>
        <p:spPr>
          <a:xfrm>
            <a:off x="4553712" y="3657029"/>
            <a:ext cx="3557016" cy="292608"/>
          </a:xfrm>
          <a:prstGeom prst="rect">
            <a:avLst/>
          </a:prstGeom>
          <a:noFill/>
          <a:ln/>
        </p:spPr>
        <p:txBody>
          <a:bodyPr wrap="square" lIns="0" tIns="0" rIns="0" bIns="0" rtlCol="0" anchor="t"/>
          <a:lstStyle/>
          <a:p>
            <a:pPr algn="ctr" indent="0" marL="0">
              <a:buNone/>
            </a:pPr>
            <a:r>
              <a:rPr lang="en-US" sz="1200" i="1" dirty="0">
                <a:solidFill>
                  <a:schemeClr val="accent6"/>
                </a:solidFill>
              </a:rPr>
              <a:t>Playing</a:t>
            </a:r>
            <a:endParaRPr lang="en-US" sz="1200" dirty="0"/>
          </a:p>
        </p:txBody>
      </p:sp>
      <p:sp>
        <p:nvSpPr>
          <p:cNvPr id="10" name="Wordle result frame"/>
          <p:cNvSpPr/>
          <p:nvPr/>
        </p:nvSpPr>
        <p:spPr>
          <a:xfrm>
            <a:off x="8165592" y="1536192"/>
            <a:ext cx="3557016" cy="2056829"/>
          </a:xfrm>
          <a:prstGeom prst="roundRect">
            <a:avLst>
              <a:gd name="adj" fmla="val 3557"/>
            </a:avLst>
          </a:prstGeom>
          <a:solidFill>
            <a:schemeClr val="tx2"/>
          </a:solidFill>
          <a:ln w="12700">
            <a:solidFill>
              <a:schemeClr val="tx2"/>
            </a:solidFill>
            <a:prstDash val="solid"/>
          </a:ln>
        </p:spPr>
      </p:sp>
      <p:pic>
        <p:nvPicPr>
          <p:cNvPr id="11" name="Wordle result" descr="Result: time, tries, streak">    </p:cNvPr>
          <p:cNvPicPr>
            <a:picLocks noChangeAspect="1"/>
          </p:cNvPicPr>
          <p:nvPr/>
        </p:nvPicPr>
        <p:blipFill>
          <a:blip r:embed="rId3"/>
          <a:stretch>
            <a:fillRect/>
          </a:stretch>
        </p:blipFill>
        <p:spPr>
          <a:xfrm>
            <a:off x="8229600" y="1600200"/>
            <a:ext cx="3429000" cy="1928813"/>
          </a:xfrm>
          <a:prstGeom prst="rect">
            <a:avLst/>
          </a:prstGeom>
        </p:spPr>
      </p:pic>
      <p:sp>
        <p:nvSpPr>
          <p:cNvPr id="12" name="Wordle result caption"/>
          <p:cNvSpPr txBox="1"/>
          <p:nvPr/>
        </p:nvSpPr>
        <p:spPr>
          <a:xfrm>
            <a:off x="8165592" y="3657029"/>
            <a:ext cx="3557016" cy="292608"/>
          </a:xfrm>
          <a:prstGeom prst="rect">
            <a:avLst/>
          </a:prstGeom>
          <a:noFill/>
          <a:ln/>
        </p:spPr>
        <p:txBody>
          <a:bodyPr wrap="square" lIns="0" tIns="0" rIns="0" bIns="0" rtlCol="0" anchor="t"/>
          <a:lstStyle/>
          <a:p>
            <a:pPr algn="ctr" indent="0" marL="0">
              <a:buNone/>
            </a:pPr>
            <a:r>
              <a:rPr lang="en-US" sz="1200" i="1" dirty="0">
                <a:solidFill>
                  <a:schemeClr val="accent6"/>
                </a:solidFill>
              </a:rPr>
              <a:t>Result: time, tries, streak</a:t>
            </a:r>
            <a:endParaRPr lang="en-US" sz="1200" dirty="0"/>
          </a:p>
        </p:txBody>
      </p:sp>
      <p:sp>
        <p:nvSpPr>
          <p:cNvPr id="13" name="Wordle callout"/>
          <p:cNvSpPr/>
          <p:nvPr/>
        </p:nvSpPr>
        <p:spPr>
          <a:xfrm>
            <a:off x="4617720" y="4480560"/>
            <a:ext cx="7040880" cy="914400"/>
          </a:xfrm>
          <a:prstGeom prst="roundRect">
            <a:avLst>
              <a:gd name="adj" fmla="val 15000"/>
            </a:avLst>
          </a:prstGeom>
          <a:solidFill>
            <a:schemeClr val="tx2"/>
          </a:solidFill>
          <a:ln w="12700">
            <a:solidFill>
              <a:schemeClr val="tx2"/>
            </a:solidFill>
            <a:prstDash val="solid"/>
          </a:ln>
        </p:spPr>
      </p:sp>
      <p:sp>
        <p:nvSpPr>
          <p:cNvPr id="14" name="Wordle callout text"/>
          <p:cNvSpPr txBox="1"/>
          <p:nvPr/>
        </p:nvSpPr>
        <p:spPr>
          <a:xfrm>
            <a:off x="4846320" y="4480560"/>
            <a:ext cx="6583680" cy="914400"/>
          </a:xfrm>
          <a:prstGeom prst="rect">
            <a:avLst/>
          </a:prstGeom>
          <a:noFill/>
          <a:ln/>
        </p:spPr>
        <p:txBody>
          <a:bodyPr wrap="square" lIns="0" tIns="0" rIns="0" bIns="0" rtlCol="0" anchor="ctr"/>
          <a:lstStyle/>
          <a:p>
            <a:pPr algn="ctr" indent="0" marL="0">
              <a:buNone/>
            </a:pPr>
            <a:r>
              <a:rPr lang="en-US" sz="1900" b="1" dirty="0">
                <a:solidFill>
                  <a:schemeClr val="bg1"/>
                </a:solidFill>
              </a:rPr>
              <a:t>After every win: the word, its meaning and a star to save it to the Library</a:t>
            </a:r>
            <a:endParaRPr lang="en-US" sz="1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Crossword: clues across and down</a:t>
            </a:r>
            <a:endParaRPr lang="en-US" sz="3400" dirty="0"/>
          </a:p>
        </p:txBody>
      </p:sp>
      <p:sp>
        <p:nvSpPr>
          <p:cNvPr id="3" name="Feature circle"/>
          <p:cNvSpPr/>
          <p:nvPr/>
        </p:nvSpPr>
        <p:spPr>
          <a:xfrm>
            <a:off x="548640" y="1508760"/>
            <a:ext cx="731520" cy="731520"/>
          </a:xfrm>
          <a:prstGeom prst="ellipse">
            <a:avLst/>
          </a:prstGeom>
          <a:solidFill>
            <a:schemeClr val="accent3"/>
          </a:solidFill>
          <a:ln w="12700">
            <a:solidFill>
              <a:schemeClr val="accent3"/>
            </a:solidFill>
            <a:prstDash val="solid"/>
          </a:ln>
        </p:spPr>
      </p:sp>
      <p:pic>
        <p:nvPicPr>
          <p:cNvPr id="4" name="Feature icon" descr="Feature">    </p:cNvPr>
          <p:cNvPicPr>
            <a:picLocks noChangeAspect="1"/>
          </p:cNvPicPr>
          <p:nvPr/>
        </p:nvPicPr>
        <p:blipFill>
          <a:blip r:embed="rId1"/>
          <a:stretch>
            <a:fillRect/>
          </a:stretch>
        </p:blipFill>
        <p:spPr>
          <a:xfrm>
            <a:off x="746150" y="1706270"/>
            <a:ext cx="336499" cy="336499"/>
          </a:xfrm>
          <a:prstGeom prst="rect">
            <a:avLst/>
          </a:prstGeom>
        </p:spPr>
      </p:pic>
      <p:sp>
        <p:nvSpPr>
          <p:cNvPr id="5" name="Intro"/>
          <p:cNvSpPr txBox="1"/>
          <p:nvPr/>
        </p:nvSpPr>
        <p:spPr>
          <a:xfrm>
            <a:off x="1463040" y="1508760"/>
            <a:ext cx="3200400" cy="731520"/>
          </a:xfrm>
          <a:prstGeom prst="rect">
            <a:avLst/>
          </a:prstGeom>
          <a:noFill/>
          <a:ln/>
        </p:spPr>
        <p:txBody>
          <a:bodyPr wrap="square" lIns="0" tIns="0" rIns="0" bIns="0" rtlCol="0" anchor="ctr"/>
          <a:lstStyle/>
          <a:p>
            <a:pPr indent="0" marL="0">
              <a:buNone/>
            </a:pPr>
            <a:r>
              <a:rPr lang="en-US" sz="1700" b="1" dirty="0">
                <a:solidFill>
                  <a:schemeClr val="tx1"/>
                </a:solidFill>
              </a:rPr>
              <a:t>Fill the grid from clues</a:t>
            </a:r>
            <a:endParaRPr lang="en-US" sz="1700" dirty="0"/>
          </a:p>
        </p:txBody>
      </p:sp>
      <p:sp>
        <p:nvSpPr>
          <p:cNvPr id="6" name="Feature list"/>
          <p:cNvSpPr txBox="1"/>
          <p:nvPr/>
        </p:nvSpPr>
        <p:spPr>
          <a:xfrm>
            <a:off x="548640" y="2468880"/>
            <a:ext cx="411480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Across and Down clue lists; tap a clue or a cell</a:t>
            </a:r>
            <a:endParaRPr lang="en-US" sz="1600" dirty="0"/>
          </a:p>
          <a:p>
            <a:pPr marL="342900" indent="-342900">
              <a:spcAft>
                <a:spcPts val="800"/>
              </a:spcAft>
              <a:buSzPct val="100000"/>
              <a:buChar char="•"/>
            </a:pPr>
            <a:r>
              <a:rPr lang="en-US" sz="1600" dirty="0">
                <a:solidFill>
                  <a:schemeClr val="tx1"/>
                </a:solidFill>
              </a:rPr>
              <a:t>Check marks wrong letters; Reveal shows a word</a:t>
            </a:r>
            <a:endParaRPr lang="en-US" sz="1600" dirty="0"/>
          </a:p>
          <a:p>
            <a:pPr marL="342900" indent="-342900">
              <a:spcAft>
                <a:spcPts val="800"/>
              </a:spcAft>
              <a:buSzPct val="100000"/>
              <a:buChar char="•"/>
            </a:pPr>
            <a:r>
              <a:rPr lang="en-US" sz="1600" dirty="0">
                <a:solidFill>
                  <a:schemeClr val="tx1"/>
                </a:solidFill>
              </a:rPr>
              <a:t>Hint tells the next letter</a:t>
            </a:r>
            <a:endParaRPr lang="en-US" sz="1600" dirty="0"/>
          </a:p>
          <a:p>
            <a:pPr marL="342900" indent="-342900">
              <a:spcAft>
                <a:spcPts val="800"/>
              </a:spcAft>
              <a:buSzPct val="100000"/>
              <a:buChar char="•"/>
            </a:pPr>
            <a:r>
              <a:rPr lang="en-US" sz="1600" dirty="0">
                <a:solidFill>
                  <a:schemeClr val="tx1"/>
                </a:solidFill>
              </a:rPr>
              <a:t>Clue text is the shared English meaning</a:t>
            </a:r>
            <a:endParaRPr lang="en-US" sz="1600" dirty="0"/>
          </a:p>
          <a:p>
            <a:pPr marL="342900" indent="-342900">
              <a:spcAft>
                <a:spcPts val="800"/>
              </a:spcAft>
              <a:buSzPct val="100000"/>
              <a:buChar char="•"/>
            </a:pPr>
            <a:r>
              <a:rPr lang="en-US" sz="1600" dirty="0">
                <a:solidFill>
                  <a:schemeClr val="tx1"/>
                </a:solidFill>
              </a:rPr>
              <a:t>21 puzzles per language in three sizes</a:t>
            </a:r>
            <a:endParaRPr lang="en-US" sz="1600" dirty="0"/>
          </a:p>
        </p:txBody>
      </p:sp>
      <p:sp>
        <p:nvSpPr>
          <p:cNvPr id="7" name="Screenshot frame"/>
          <p:cNvSpPr/>
          <p:nvPr/>
        </p:nvSpPr>
        <p:spPr>
          <a:xfrm>
            <a:off x="4965192" y="1536192"/>
            <a:ext cx="6711696" cy="3831336"/>
          </a:xfrm>
          <a:prstGeom prst="roundRect">
            <a:avLst>
              <a:gd name="adj" fmla="val 1909"/>
            </a:avLst>
          </a:prstGeom>
          <a:solidFill>
            <a:schemeClr val="tx2"/>
          </a:solidFill>
          <a:ln w="12700">
            <a:solidFill>
              <a:schemeClr val="tx2"/>
            </a:solidFill>
            <a:prstDash val="solid"/>
          </a:ln>
        </p:spPr>
      </p:sp>
      <p:pic>
        <p:nvPicPr>
          <p:cNvPr id="8" name="Screenshot" descr="Crossword puzzle in play">    </p:cNvPr>
          <p:cNvPicPr>
            <a:picLocks noChangeAspect="1"/>
          </p:cNvPicPr>
          <p:nvPr/>
        </p:nvPicPr>
        <p:blipFill>
          <a:blip r:embed="rId2"/>
          <a:stretch>
            <a:fillRect/>
          </a:stretch>
        </p:blipFill>
        <p:spPr>
          <a:xfrm>
            <a:off x="5029200" y="1600200"/>
            <a:ext cx="6583680" cy="3703320"/>
          </a:xfrm>
          <a:prstGeom prst="rect">
            <a:avLst/>
          </a:prstGeom>
        </p:spPr>
      </p:pic>
      <p:sp>
        <p:nvSpPr>
          <p:cNvPr id="9" name="Screenshot caption"/>
          <p:cNvSpPr txBox="1"/>
          <p:nvPr/>
        </p:nvSpPr>
        <p:spPr>
          <a:xfrm>
            <a:off x="4965192" y="5431536"/>
            <a:ext cx="6711696" cy="292608"/>
          </a:xfrm>
          <a:prstGeom prst="rect">
            <a:avLst/>
          </a:prstGeom>
          <a:noFill/>
          <a:ln/>
        </p:spPr>
        <p:txBody>
          <a:bodyPr wrap="square" lIns="0" tIns="0" rIns="0" bIns="0" rtlCol="0" anchor="t"/>
          <a:lstStyle/>
          <a:p>
            <a:pPr algn="ctr" indent="0" marL="0">
              <a:buNone/>
            </a:pPr>
            <a:r>
              <a:rPr lang="en-US" sz="1200" i="1" dirty="0">
                <a:solidFill>
                  <a:schemeClr val="accent6"/>
                </a:solidFill>
              </a:rPr>
              <a:t>Crossword puzzle in play</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Word Search: spot native words</a:t>
            </a:r>
            <a:endParaRPr lang="en-US" sz="3400" dirty="0"/>
          </a:p>
        </p:txBody>
      </p:sp>
      <p:sp>
        <p:nvSpPr>
          <p:cNvPr id="3" name="Feature circle"/>
          <p:cNvSpPr/>
          <p:nvPr/>
        </p:nvSpPr>
        <p:spPr>
          <a:xfrm>
            <a:off x="548640" y="1508760"/>
            <a:ext cx="731520" cy="731520"/>
          </a:xfrm>
          <a:prstGeom prst="ellipse">
            <a:avLst/>
          </a:prstGeom>
          <a:solidFill>
            <a:schemeClr val="accent4"/>
          </a:solidFill>
          <a:ln w="12700">
            <a:solidFill>
              <a:schemeClr val="accent4"/>
            </a:solidFill>
            <a:prstDash val="solid"/>
          </a:ln>
        </p:spPr>
      </p:sp>
      <p:pic>
        <p:nvPicPr>
          <p:cNvPr id="4" name="Feature icon" descr="Feature">    </p:cNvPr>
          <p:cNvPicPr>
            <a:picLocks noChangeAspect="1"/>
          </p:cNvPicPr>
          <p:nvPr/>
        </p:nvPicPr>
        <p:blipFill>
          <a:blip r:embed="rId1"/>
          <a:stretch>
            <a:fillRect/>
          </a:stretch>
        </p:blipFill>
        <p:spPr>
          <a:xfrm>
            <a:off x="746150" y="1706270"/>
            <a:ext cx="336499" cy="336499"/>
          </a:xfrm>
          <a:prstGeom prst="rect">
            <a:avLst/>
          </a:prstGeom>
        </p:spPr>
      </p:pic>
      <p:sp>
        <p:nvSpPr>
          <p:cNvPr id="5" name="Intro"/>
          <p:cNvSpPr txBox="1"/>
          <p:nvPr/>
        </p:nvSpPr>
        <p:spPr>
          <a:xfrm>
            <a:off x="1463040" y="1508760"/>
            <a:ext cx="3200400" cy="731520"/>
          </a:xfrm>
          <a:prstGeom prst="rect">
            <a:avLst/>
          </a:prstGeom>
          <a:noFill/>
          <a:ln/>
        </p:spPr>
        <p:txBody>
          <a:bodyPr wrap="square" lIns="0" tIns="0" rIns="0" bIns="0" rtlCol="0" anchor="ctr"/>
          <a:lstStyle/>
          <a:p>
            <a:pPr indent="0" marL="0">
              <a:buNone/>
            </a:pPr>
            <a:r>
              <a:rPr lang="en-US" sz="1700" b="1" dirty="0">
                <a:solidFill>
                  <a:schemeClr val="tx1"/>
                </a:solidFill>
              </a:rPr>
              <a:t>Drag across the letters</a:t>
            </a:r>
            <a:endParaRPr lang="en-US" sz="1700" dirty="0"/>
          </a:p>
        </p:txBody>
      </p:sp>
      <p:sp>
        <p:nvSpPr>
          <p:cNvPr id="6" name="Feature list"/>
          <p:cNvSpPr txBox="1"/>
          <p:nvPr/>
        </p:nvSpPr>
        <p:spPr>
          <a:xfrm>
            <a:off x="548640" y="2468880"/>
            <a:ext cx="411480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Drag to select a word in any direction</a:t>
            </a:r>
            <a:endParaRPr lang="en-US" sz="1600" dirty="0"/>
          </a:p>
          <a:p>
            <a:pPr marL="342900" indent="-342900">
              <a:spcAft>
                <a:spcPts val="800"/>
              </a:spcAft>
              <a:buSzPct val="100000"/>
              <a:buChar char="•"/>
            </a:pPr>
            <a:r>
              <a:rPr lang="en-US" sz="1600" dirty="0">
                <a:solidFill>
                  <a:schemeClr val="tx1"/>
                </a:solidFill>
              </a:rPr>
              <a:t>Found words are crossed out and show the English meaning</a:t>
            </a:r>
            <a:endParaRPr lang="en-US" sz="1600" dirty="0"/>
          </a:p>
          <a:p>
            <a:pPr marL="342900" indent="-342900">
              <a:spcAft>
                <a:spcPts val="800"/>
              </a:spcAft>
              <a:buSzPct val="100000"/>
              <a:buChar char="•"/>
            </a:pPr>
            <a:r>
              <a:rPr lang="en-US" sz="1600" dirty="0">
                <a:solidFill>
                  <a:schemeClr val="tx1"/>
                </a:solidFill>
              </a:rPr>
              <a:t>Hint highlights the first letter of a word</a:t>
            </a:r>
            <a:endParaRPr lang="en-US" sz="1600" dirty="0"/>
          </a:p>
          <a:p>
            <a:pPr marL="342900" indent="-342900">
              <a:spcAft>
                <a:spcPts val="800"/>
              </a:spcAft>
              <a:buSzPct val="100000"/>
              <a:buChar char="•"/>
            </a:pPr>
            <a:r>
              <a:rPr lang="en-US" sz="1600" dirty="0">
                <a:solidFill>
                  <a:schemeClr val="tx1"/>
                </a:solidFill>
              </a:rPr>
              <a:t>Counter shows 'Found 4 of 8'</a:t>
            </a:r>
            <a:endParaRPr lang="en-US" sz="1600" dirty="0"/>
          </a:p>
          <a:p>
            <a:pPr marL="342900" indent="-342900">
              <a:spcAft>
                <a:spcPts val="800"/>
              </a:spcAft>
              <a:buSzPct val="100000"/>
              <a:buChar char="•"/>
            </a:pPr>
            <a:r>
              <a:rPr lang="en-US" sz="1600" dirty="0">
                <a:solidFill>
                  <a:schemeClr val="tx1"/>
                </a:solidFill>
              </a:rPr>
              <a:t>21 puzzles per language, 8 words each</a:t>
            </a:r>
            <a:endParaRPr lang="en-US" sz="1600" dirty="0"/>
          </a:p>
        </p:txBody>
      </p:sp>
      <p:sp>
        <p:nvSpPr>
          <p:cNvPr id="7" name="Screenshot frame"/>
          <p:cNvSpPr/>
          <p:nvPr/>
        </p:nvSpPr>
        <p:spPr>
          <a:xfrm>
            <a:off x="4965192" y="1536192"/>
            <a:ext cx="6711696" cy="3831336"/>
          </a:xfrm>
          <a:prstGeom prst="roundRect">
            <a:avLst>
              <a:gd name="adj" fmla="val 1909"/>
            </a:avLst>
          </a:prstGeom>
          <a:solidFill>
            <a:schemeClr val="tx2"/>
          </a:solidFill>
          <a:ln w="12700">
            <a:solidFill>
              <a:schemeClr val="tx2"/>
            </a:solidFill>
            <a:prstDash val="solid"/>
          </a:ln>
        </p:spPr>
      </p:sp>
      <p:pic>
        <p:nvPicPr>
          <p:cNvPr id="8" name="Screenshot" descr="Word Search with four words found">    </p:cNvPr>
          <p:cNvPicPr>
            <a:picLocks noChangeAspect="1"/>
          </p:cNvPicPr>
          <p:nvPr/>
        </p:nvPicPr>
        <p:blipFill>
          <a:blip r:embed="rId2"/>
          <a:stretch>
            <a:fillRect/>
          </a:stretch>
        </p:blipFill>
        <p:spPr>
          <a:xfrm>
            <a:off x="5029200" y="1600200"/>
            <a:ext cx="6583680" cy="3703320"/>
          </a:xfrm>
          <a:prstGeom prst="rect">
            <a:avLst/>
          </a:prstGeom>
        </p:spPr>
      </p:pic>
      <p:sp>
        <p:nvSpPr>
          <p:cNvPr id="9" name="Screenshot caption"/>
          <p:cNvSpPr txBox="1"/>
          <p:nvPr/>
        </p:nvSpPr>
        <p:spPr>
          <a:xfrm>
            <a:off x="4965192" y="5431536"/>
            <a:ext cx="6711696" cy="292608"/>
          </a:xfrm>
          <a:prstGeom prst="rect">
            <a:avLst/>
          </a:prstGeom>
          <a:noFill/>
          <a:ln/>
        </p:spPr>
        <p:txBody>
          <a:bodyPr wrap="square" lIns="0" tIns="0" rIns="0" bIns="0" rtlCol="0" anchor="t"/>
          <a:lstStyle/>
          <a:p>
            <a:pPr algn="ctr" indent="0" marL="0">
              <a:buNone/>
            </a:pPr>
            <a:r>
              <a:rPr lang="en-US" sz="1200" i="1" dirty="0">
                <a:solidFill>
                  <a:schemeClr val="accent6"/>
                </a:solidFill>
              </a:rPr>
              <a:t>Word Search with four words found</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Learn cards: see the word first</a:t>
            </a:r>
            <a:endParaRPr lang="en-US" sz="3400" dirty="0"/>
          </a:p>
        </p:txBody>
      </p:sp>
      <p:sp>
        <p:nvSpPr>
          <p:cNvPr id="3" name="Feature circle"/>
          <p:cNvSpPr/>
          <p:nvPr/>
        </p:nvSpPr>
        <p:spPr>
          <a:xfrm>
            <a:off x="548640" y="1508760"/>
            <a:ext cx="731520" cy="731520"/>
          </a:xfrm>
          <a:prstGeom prst="ellipse">
            <a:avLst/>
          </a:prstGeom>
          <a:solidFill>
            <a:schemeClr val="accent2"/>
          </a:solidFill>
          <a:ln w="12700">
            <a:solidFill>
              <a:schemeClr val="accent2"/>
            </a:solidFill>
            <a:prstDash val="solid"/>
          </a:ln>
        </p:spPr>
      </p:sp>
      <p:pic>
        <p:nvPicPr>
          <p:cNvPr id="4" name="Feature icon" descr="Feature">    </p:cNvPr>
          <p:cNvPicPr>
            <a:picLocks noChangeAspect="1"/>
          </p:cNvPicPr>
          <p:nvPr/>
        </p:nvPicPr>
        <p:blipFill>
          <a:blip r:embed="rId1"/>
          <a:stretch>
            <a:fillRect/>
          </a:stretch>
        </p:blipFill>
        <p:spPr>
          <a:xfrm>
            <a:off x="746150" y="1706270"/>
            <a:ext cx="336499" cy="336499"/>
          </a:xfrm>
          <a:prstGeom prst="rect">
            <a:avLst/>
          </a:prstGeom>
        </p:spPr>
      </p:pic>
      <p:sp>
        <p:nvSpPr>
          <p:cNvPr id="5" name="Intro"/>
          <p:cNvSpPr txBox="1"/>
          <p:nvPr/>
        </p:nvSpPr>
        <p:spPr>
          <a:xfrm>
            <a:off x="1463040" y="1508760"/>
            <a:ext cx="3200400" cy="731520"/>
          </a:xfrm>
          <a:prstGeom prst="rect">
            <a:avLst/>
          </a:prstGeom>
          <a:noFill/>
          <a:ln/>
        </p:spPr>
        <p:txBody>
          <a:bodyPr wrap="square" lIns="0" tIns="0" rIns="0" bIns="0" rtlCol="0" anchor="ctr"/>
          <a:lstStyle/>
          <a:p>
            <a:pPr indent="0" marL="0">
              <a:buNone/>
            </a:pPr>
            <a:r>
              <a:rPr lang="en-US" sz="1700" b="1" dirty="0">
                <a:solidFill>
                  <a:schemeClr val="tx1"/>
                </a:solidFill>
              </a:rPr>
              <a:t>Teach before testing</a:t>
            </a:r>
            <a:endParaRPr lang="en-US" sz="1700" dirty="0"/>
          </a:p>
        </p:txBody>
      </p:sp>
      <p:sp>
        <p:nvSpPr>
          <p:cNvPr id="6" name="Feature list"/>
          <p:cNvSpPr txBox="1"/>
          <p:nvPr/>
        </p:nvSpPr>
        <p:spPr>
          <a:xfrm>
            <a:off x="548640" y="2468880"/>
            <a:ext cx="411480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One card per word: the word big, the English below</a:t>
            </a:r>
            <a:endParaRPr lang="en-US" sz="1600" dirty="0"/>
          </a:p>
          <a:p>
            <a:pPr marL="342900" indent="-342900">
              <a:spcAft>
                <a:spcPts val="800"/>
              </a:spcAft>
              <a:buSzPct val="100000"/>
              <a:buChar char="•"/>
            </a:pPr>
            <a:r>
              <a:rPr lang="en-US" sz="1600" dirty="0">
                <a:solidFill>
                  <a:schemeClr val="tx1"/>
                </a:solidFill>
              </a:rPr>
              <a:t>Next / Back, and a progress dot for each word</a:t>
            </a:r>
            <a:endParaRPr lang="en-US" sz="1600" dirty="0"/>
          </a:p>
          <a:p>
            <a:pPr marL="342900" indent="-342900">
              <a:spcAft>
                <a:spcPts val="800"/>
              </a:spcAft>
              <a:buSzPct val="100000"/>
              <a:buChar char="•"/>
            </a:pPr>
            <a:r>
              <a:rPr lang="en-US" sz="1600" dirty="0">
                <a:solidFill>
                  <a:schemeClr val="tx1"/>
                </a:solidFill>
              </a:rPr>
              <a:t>Start puzzle goes straight into the game</a:t>
            </a:r>
            <a:endParaRPr lang="en-US" sz="1600" dirty="0"/>
          </a:p>
          <a:p>
            <a:pPr marL="342900" indent="-342900">
              <a:spcAft>
                <a:spcPts val="800"/>
              </a:spcAft>
              <a:buSzPct val="100000"/>
              <a:buChar char="•"/>
            </a:pPr>
            <a:r>
              <a:rPr lang="en-US" sz="1600" dirty="0">
                <a:solidFill>
                  <a:schemeClr val="tx1"/>
                </a:solidFill>
              </a:rPr>
              <a:t>Every topic has Learn and Play, so cards are optional</a:t>
            </a:r>
            <a:endParaRPr lang="en-US" sz="1600" dirty="0"/>
          </a:p>
          <a:p>
            <a:pPr marL="342900" indent="-342900">
              <a:spcAft>
                <a:spcPts val="800"/>
              </a:spcAft>
              <a:buSzPct val="100000"/>
              <a:buChar char="•"/>
            </a:pPr>
            <a:r>
              <a:rPr lang="en-US" sz="1600" dirty="0">
                <a:solidFill>
                  <a:schemeClr val="tx1"/>
                </a:solidFill>
              </a:rPr>
              <a:t>Cards cover the same words the puzzle uses</a:t>
            </a:r>
            <a:endParaRPr lang="en-US" sz="1600" dirty="0"/>
          </a:p>
        </p:txBody>
      </p:sp>
      <p:sp>
        <p:nvSpPr>
          <p:cNvPr id="7" name="Screenshot frame"/>
          <p:cNvSpPr/>
          <p:nvPr/>
        </p:nvSpPr>
        <p:spPr>
          <a:xfrm>
            <a:off x="4965192" y="1536192"/>
            <a:ext cx="6711696" cy="3831336"/>
          </a:xfrm>
          <a:prstGeom prst="roundRect">
            <a:avLst>
              <a:gd name="adj" fmla="val 1909"/>
            </a:avLst>
          </a:prstGeom>
          <a:solidFill>
            <a:schemeClr val="tx2"/>
          </a:solidFill>
          <a:ln w="12700">
            <a:solidFill>
              <a:schemeClr val="tx2"/>
            </a:solidFill>
            <a:prstDash val="solid"/>
          </a:ln>
        </p:spPr>
      </p:sp>
      <p:pic>
        <p:nvPicPr>
          <p:cNvPr id="8" name="Screenshot" descr="Learn card for a Cebuano word">    </p:cNvPr>
          <p:cNvPicPr>
            <a:picLocks noChangeAspect="1"/>
          </p:cNvPicPr>
          <p:nvPr/>
        </p:nvPicPr>
        <p:blipFill>
          <a:blip r:embed="rId2"/>
          <a:stretch>
            <a:fillRect/>
          </a:stretch>
        </p:blipFill>
        <p:spPr>
          <a:xfrm>
            <a:off x="5029200" y="1600200"/>
            <a:ext cx="6583680" cy="3703320"/>
          </a:xfrm>
          <a:prstGeom prst="rect">
            <a:avLst/>
          </a:prstGeom>
        </p:spPr>
      </p:pic>
      <p:sp>
        <p:nvSpPr>
          <p:cNvPr id="9" name="Screenshot caption"/>
          <p:cNvSpPr txBox="1"/>
          <p:nvPr/>
        </p:nvSpPr>
        <p:spPr>
          <a:xfrm>
            <a:off x="4965192" y="5431536"/>
            <a:ext cx="6711696" cy="292608"/>
          </a:xfrm>
          <a:prstGeom prst="rect">
            <a:avLst/>
          </a:prstGeom>
          <a:noFill/>
          <a:ln/>
        </p:spPr>
        <p:txBody>
          <a:bodyPr wrap="square" lIns="0" tIns="0" rIns="0" bIns="0" rtlCol="0" anchor="t"/>
          <a:lstStyle/>
          <a:p>
            <a:pPr algn="ctr" indent="0" marL="0">
              <a:buNone/>
            </a:pPr>
            <a:r>
              <a:rPr lang="en-US" sz="1200" i="1" dirty="0">
                <a:solidFill>
                  <a:schemeClr val="accent6"/>
                </a:solidFill>
              </a:rPr>
              <a:t>Learn card for a Cebuano word</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Phrasebook and Sentence builder</a:t>
            </a:r>
            <a:endParaRPr lang="en-US" sz="3400" dirty="0"/>
          </a:p>
        </p:txBody>
      </p:sp>
      <p:sp>
        <p:nvSpPr>
          <p:cNvPr id="3" name="Topics shot frame"/>
          <p:cNvSpPr/>
          <p:nvPr/>
        </p:nvSpPr>
        <p:spPr>
          <a:xfrm>
            <a:off x="484632" y="1399032"/>
            <a:ext cx="3785616" cy="2185416"/>
          </a:xfrm>
          <a:prstGeom prst="roundRect">
            <a:avLst>
              <a:gd name="adj" fmla="val 3347"/>
            </a:avLst>
          </a:prstGeom>
          <a:solidFill>
            <a:schemeClr val="tx2"/>
          </a:solidFill>
          <a:ln w="12700">
            <a:solidFill>
              <a:schemeClr val="tx2"/>
            </a:solidFill>
            <a:prstDash val="solid"/>
          </a:ln>
        </p:spPr>
      </p:sp>
      <p:pic>
        <p:nvPicPr>
          <p:cNvPr id="4" name="Topics shot" descr="Topics, with its own language chips">    </p:cNvPr>
          <p:cNvPicPr>
            <a:picLocks noChangeAspect="1"/>
          </p:cNvPicPr>
          <p:nvPr/>
        </p:nvPicPr>
        <p:blipFill>
          <a:blip r:embed="rId1"/>
          <a:stretch>
            <a:fillRect/>
          </a:stretch>
        </p:blipFill>
        <p:spPr>
          <a:xfrm>
            <a:off x="548640" y="1463040"/>
            <a:ext cx="3657600" cy="2057400"/>
          </a:xfrm>
          <a:prstGeom prst="rect">
            <a:avLst/>
          </a:prstGeom>
        </p:spPr>
      </p:pic>
      <p:sp>
        <p:nvSpPr>
          <p:cNvPr id="5" name="Topics shot caption"/>
          <p:cNvSpPr txBox="1"/>
          <p:nvPr/>
        </p:nvSpPr>
        <p:spPr>
          <a:xfrm>
            <a:off x="484632" y="3648456"/>
            <a:ext cx="3785616" cy="292608"/>
          </a:xfrm>
          <a:prstGeom prst="rect">
            <a:avLst/>
          </a:prstGeom>
          <a:noFill/>
          <a:ln/>
        </p:spPr>
        <p:txBody>
          <a:bodyPr wrap="square" lIns="0" tIns="0" rIns="0" bIns="0" rtlCol="0" anchor="t"/>
          <a:lstStyle/>
          <a:p>
            <a:pPr algn="ctr" indent="0" marL="0">
              <a:buNone/>
            </a:pPr>
            <a:r>
              <a:rPr lang="en-US" sz="1200" i="1" dirty="0">
                <a:solidFill>
                  <a:schemeClr val="accent6"/>
                </a:solidFill>
              </a:rPr>
              <a:t>Topics, with its own language chips</a:t>
            </a:r>
            <a:endParaRPr lang="en-US" sz="1200" dirty="0"/>
          </a:p>
        </p:txBody>
      </p:sp>
      <p:sp>
        <p:nvSpPr>
          <p:cNvPr id="6" name="Card shot frame"/>
          <p:cNvSpPr/>
          <p:nvPr/>
        </p:nvSpPr>
        <p:spPr>
          <a:xfrm>
            <a:off x="4325112" y="1399032"/>
            <a:ext cx="3785616" cy="2185416"/>
          </a:xfrm>
          <a:prstGeom prst="roundRect">
            <a:avLst>
              <a:gd name="adj" fmla="val 3347"/>
            </a:avLst>
          </a:prstGeom>
          <a:solidFill>
            <a:schemeClr val="tx2"/>
          </a:solidFill>
          <a:ln w="12700">
            <a:solidFill>
              <a:schemeClr val="tx2"/>
            </a:solidFill>
            <a:prstDash val="solid"/>
          </a:ln>
        </p:spPr>
      </p:sp>
      <p:pic>
        <p:nvPicPr>
          <p:cNvPr id="7" name="Card shot" descr="Phrase card">    </p:cNvPr>
          <p:cNvPicPr>
            <a:picLocks noChangeAspect="1"/>
          </p:cNvPicPr>
          <p:nvPr/>
        </p:nvPicPr>
        <p:blipFill>
          <a:blip r:embed="rId2"/>
          <a:stretch>
            <a:fillRect/>
          </a:stretch>
        </p:blipFill>
        <p:spPr>
          <a:xfrm>
            <a:off x="4389120" y="1463040"/>
            <a:ext cx="3657600" cy="2057400"/>
          </a:xfrm>
          <a:prstGeom prst="rect">
            <a:avLst/>
          </a:prstGeom>
        </p:spPr>
      </p:pic>
      <p:sp>
        <p:nvSpPr>
          <p:cNvPr id="8" name="Card shot caption"/>
          <p:cNvSpPr txBox="1"/>
          <p:nvPr/>
        </p:nvSpPr>
        <p:spPr>
          <a:xfrm>
            <a:off x="4325112" y="3648456"/>
            <a:ext cx="3785616" cy="292608"/>
          </a:xfrm>
          <a:prstGeom prst="rect">
            <a:avLst/>
          </a:prstGeom>
          <a:noFill/>
          <a:ln/>
        </p:spPr>
        <p:txBody>
          <a:bodyPr wrap="square" lIns="0" tIns="0" rIns="0" bIns="0" rtlCol="0" anchor="t"/>
          <a:lstStyle/>
          <a:p>
            <a:pPr algn="ctr" indent="0" marL="0">
              <a:buNone/>
            </a:pPr>
            <a:r>
              <a:rPr lang="en-US" sz="1200" i="1" dirty="0">
                <a:solidFill>
                  <a:schemeClr val="accent6"/>
                </a:solidFill>
              </a:rPr>
              <a:t>Phrase card</a:t>
            </a:r>
            <a:endParaRPr lang="en-US" sz="1200" dirty="0"/>
          </a:p>
        </p:txBody>
      </p:sp>
      <p:sp>
        <p:nvSpPr>
          <p:cNvPr id="9" name="Builder shot frame"/>
          <p:cNvSpPr/>
          <p:nvPr/>
        </p:nvSpPr>
        <p:spPr>
          <a:xfrm>
            <a:off x="8165592" y="1399032"/>
            <a:ext cx="3785616" cy="2185416"/>
          </a:xfrm>
          <a:prstGeom prst="roundRect">
            <a:avLst>
              <a:gd name="adj" fmla="val 3347"/>
            </a:avLst>
          </a:prstGeom>
          <a:solidFill>
            <a:schemeClr val="tx2"/>
          </a:solidFill>
          <a:ln w="12700">
            <a:solidFill>
              <a:schemeClr val="tx2"/>
            </a:solidFill>
            <a:prstDash val="solid"/>
          </a:ln>
        </p:spPr>
      </p:sp>
      <p:pic>
        <p:nvPicPr>
          <p:cNvPr id="10" name="Builder shot" descr="Sentence builder">    </p:cNvPr>
          <p:cNvPicPr>
            <a:picLocks noChangeAspect="1"/>
          </p:cNvPicPr>
          <p:nvPr/>
        </p:nvPicPr>
        <p:blipFill>
          <a:blip r:embed="rId3"/>
          <a:stretch>
            <a:fillRect/>
          </a:stretch>
        </p:blipFill>
        <p:spPr>
          <a:xfrm>
            <a:off x="8229600" y="1463040"/>
            <a:ext cx="3657600" cy="2057400"/>
          </a:xfrm>
          <a:prstGeom prst="rect">
            <a:avLst/>
          </a:prstGeom>
        </p:spPr>
      </p:pic>
      <p:sp>
        <p:nvSpPr>
          <p:cNvPr id="11" name="Builder shot caption"/>
          <p:cNvSpPr txBox="1"/>
          <p:nvPr/>
        </p:nvSpPr>
        <p:spPr>
          <a:xfrm>
            <a:off x="8165592" y="3648456"/>
            <a:ext cx="3785616" cy="292608"/>
          </a:xfrm>
          <a:prstGeom prst="rect">
            <a:avLst/>
          </a:prstGeom>
          <a:noFill/>
          <a:ln/>
        </p:spPr>
        <p:txBody>
          <a:bodyPr wrap="square" lIns="0" tIns="0" rIns="0" bIns="0" rtlCol="0" anchor="t"/>
          <a:lstStyle/>
          <a:p>
            <a:pPr algn="ctr" indent="0" marL="0">
              <a:buNone/>
            </a:pPr>
            <a:r>
              <a:rPr lang="en-US" sz="1200" i="1" dirty="0">
                <a:solidFill>
                  <a:schemeClr val="accent6"/>
                </a:solidFill>
              </a:rPr>
              <a:t>Sentence builder</a:t>
            </a:r>
            <a:endParaRPr lang="en-US" sz="1200" dirty="0"/>
          </a:p>
        </p:txBody>
      </p:sp>
      <p:sp>
        <p:nvSpPr>
          <p:cNvPr id="12" name="Phrase list"/>
          <p:cNvSpPr txBox="1"/>
          <p:nvPr/>
        </p:nvSpPr>
        <p:spPr>
          <a:xfrm>
            <a:off x="548640" y="4251960"/>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Seven topics: Greetings, Thanks and sorry, About me, Food and market, Directions, Numbers and time, Help and safety</a:t>
            </a:r>
            <a:endParaRPr lang="en-US" sz="1600" dirty="0"/>
          </a:p>
          <a:p>
            <a:pPr marL="342900" indent="-342900">
              <a:spcAft>
                <a:spcPts val="800"/>
              </a:spcAft>
              <a:buSzPct val="100000"/>
              <a:buChar char="•"/>
            </a:pPr>
            <a:r>
              <a:rPr lang="en-US" sz="1600" dirty="0">
                <a:solidFill>
                  <a:schemeClr val="tx1"/>
                </a:solidFill>
              </a:rPr>
              <a:t>53 phrases in total: 18 Cebuano, 17 Ilonggo, 18 Tagalog</a:t>
            </a:r>
            <a:endParaRPr lang="en-US" sz="1600" dirty="0"/>
          </a:p>
          <a:p>
            <a:pPr marL="342900" indent="-342900">
              <a:spcAft>
                <a:spcPts val="800"/>
              </a:spcAft>
              <a:buSzPct val="100000"/>
              <a:buChar char="•"/>
            </a:pPr>
            <a:r>
              <a:rPr lang="en-US" sz="1600" dirty="0">
                <a:solidFill>
                  <a:schemeClr val="tx1"/>
                </a:solidFill>
              </a:rPr>
              <a:t>Learn shows a phrase word by word; Build puts the words in order from a tile bank</a:t>
            </a:r>
            <a:endParaRPr lang="en-US" sz="1600" dirty="0"/>
          </a:p>
          <a:p>
            <a:pPr marL="342900" indent="-342900">
              <a:spcAft>
                <a:spcPts val="800"/>
              </a:spcAft>
              <a:buSzPct val="100000"/>
              <a:buChar char="•"/>
            </a:pPr>
            <a:r>
              <a:rPr lang="en-US" sz="1600" dirty="0">
                <a:solidFill>
                  <a:schemeClr val="tx1"/>
                </a:solidFill>
              </a:rPr>
              <a:t>Phrases the player builds correctly count as learned and show on the Profile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Library: a 63,540-word dictionary</a:t>
            </a:r>
            <a:endParaRPr lang="en-US" sz="3400" dirty="0"/>
          </a:p>
        </p:txBody>
      </p:sp>
      <p:sp>
        <p:nvSpPr>
          <p:cNvPr id="3" name="Feature circle"/>
          <p:cNvSpPr/>
          <p:nvPr/>
        </p:nvSpPr>
        <p:spPr>
          <a:xfrm>
            <a:off x="548640" y="1508760"/>
            <a:ext cx="731520" cy="731520"/>
          </a:xfrm>
          <a:prstGeom prst="ellipse">
            <a:avLst/>
          </a:prstGeom>
          <a:solidFill>
            <a:schemeClr val="accent5"/>
          </a:solidFill>
          <a:ln w="12700">
            <a:solidFill>
              <a:schemeClr val="accent5"/>
            </a:solidFill>
            <a:prstDash val="solid"/>
          </a:ln>
        </p:spPr>
      </p:sp>
      <p:pic>
        <p:nvPicPr>
          <p:cNvPr id="4" name="Feature icon" descr="Feature">    </p:cNvPr>
          <p:cNvPicPr>
            <a:picLocks noChangeAspect="1"/>
          </p:cNvPicPr>
          <p:nvPr/>
        </p:nvPicPr>
        <p:blipFill>
          <a:blip r:embed="rId1"/>
          <a:stretch>
            <a:fillRect/>
          </a:stretch>
        </p:blipFill>
        <p:spPr>
          <a:xfrm>
            <a:off x="746150" y="1706270"/>
            <a:ext cx="336499" cy="336499"/>
          </a:xfrm>
          <a:prstGeom prst="rect">
            <a:avLst/>
          </a:prstGeom>
        </p:spPr>
      </p:pic>
      <p:sp>
        <p:nvSpPr>
          <p:cNvPr id="5" name="Intro"/>
          <p:cNvSpPr txBox="1"/>
          <p:nvPr/>
        </p:nvSpPr>
        <p:spPr>
          <a:xfrm>
            <a:off x="1463040" y="1508760"/>
            <a:ext cx="3200400" cy="731520"/>
          </a:xfrm>
          <a:prstGeom prst="rect">
            <a:avLst/>
          </a:prstGeom>
          <a:noFill/>
          <a:ln/>
        </p:spPr>
        <p:txBody>
          <a:bodyPr wrap="square" lIns="0" tIns="0" rIns="0" bIns="0" rtlCol="0" anchor="ctr"/>
          <a:lstStyle/>
          <a:p>
            <a:pPr indent="0" marL="0">
              <a:buNone/>
            </a:pPr>
            <a:r>
              <a:rPr lang="en-US" sz="1700" b="1" dirty="0">
                <a:solidFill>
                  <a:schemeClr val="tx1"/>
                </a:solidFill>
              </a:rPr>
              <a:t>Look up any word</a:t>
            </a:r>
            <a:endParaRPr lang="en-US" sz="1700" dirty="0"/>
          </a:p>
        </p:txBody>
      </p:sp>
      <p:sp>
        <p:nvSpPr>
          <p:cNvPr id="6" name="Feature list"/>
          <p:cNvSpPr txBox="1"/>
          <p:nvPr/>
        </p:nvSpPr>
        <p:spPr>
          <a:xfrm>
            <a:off x="548640" y="2468880"/>
            <a:ext cx="411480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Search English or native words (for example: house or ama)</a:t>
            </a:r>
            <a:endParaRPr lang="en-US" sz="1600" dirty="0"/>
          </a:p>
          <a:p>
            <a:pPr marL="342900" indent="-342900">
              <a:spcAft>
                <a:spcPts val="800"/>
              </a:spcAft>
              <a:buSzPct val="100000"/>
              <a:buChar char="•"/>
            </a:pPr>
            <a:r>
              <a:rPr lang="en-US" sz="1600" dirty="0">
                <a:solidFill>
                  <a:schemeClr val="tx1"/>
                </a:solidFill>
              </a:rPr>
              <a:t>Filter by Cebuano, Hiligaynon, Tagalog or all three</a:t>
            </a:r>
            <a:endParaRPr lang="en-US" sz="1600" dirty="0"/>
          </a:p>
          <a:p>
            <a:pPr marL="342900" indent="-342900">
              <a:spcAft>
                <a:spcPts val="800"/>
              </a:spcAft>
              <a:buSzPct val="100000"/>
              <a:buChar char="•"/>
            </a:pPr>
            <a:r>
              <a:rPr lang="en-US" sz="1600" dirty="0">
                <a:solidFill>
                  <a:schemeClr val="tx1"/>
                </a:solidFill>
              </a:rPr>
              <a:t>A to Z index and a word of the day</a:t>
            </a:r>
            <a:endParaRPr lang="en-US" sz="1600" dirty="0"/>
          </a:p>
          <a:p>
            <a:pPr marL="342900" indent="-342900">
              <a:spcAft>
                <a:spcPts val="800"/>
              </a:spcAft>
              <a:buSzPct val="100000"/>
              <a:buChar char="•"/>
            </a:pPr>
            <a:r>
              <a:rPr lang="en-US" sz="1600" dirty="0">
                <a:solidFill>
                  <a:schemeClr val="tx1"/>
                </a:solidFill>
              </a:rPr>
              <a:t>Same meaning in other languages shown side by side</a:t>
            </a:r>
            <a:endParaRPr lang="en-US" sz="1600" dirty="0"/>
          </a:p>
          <a:p>
            <a:pPr marL="342900" indent="-342900">
              <a:spcAft>
                <a:spcPts val="800"/>
              </a:spcAft>
              <a:buSzPct val="100000"/>
              <a:buChar char="•"/>
            </a:pPr>
            <a:r>
              <a:rPr lang="en-US" sz="1600" dirty="0">
                <a:solidFill>
                  <a:schemeClr val="tx1"/>
                </a:solidFill>
              </a:rPr>
              <a:t>Star words to keep favorites; recent searches are remembered</a:t>
            </a:r>
            <a:endParaRPr lang="en-US" sz="1600" dirty="0"/>
          </a:p>
        </p:txBody>
      </p:sp>
      <p:sp>
        <p:nvSpPr>
          <p:cNvPr id="7" name="Screenshot frame"/>
          <p:cNvSpPr/>
          <p:nvPr/>
        </p:nvSpPr>
        <p:spPr>
          <a:xfrm>
            <a:off x="4965192" y="1536192"/>
            <a:ext cx="6711696" cy="3831336"/>
          </a:xfrm>
          <a:prstGeom prst="roundRect">
            <a:avLst>
              <a:gd name="adj" fmla="val 1909"/>
            </a:avLst>
          </a:prstGeom>
          <a:solidFill>
            <a:schemeClr val="tx2"/>
          </a:solidFill>
          <a:ln w="12700">
            <a:solidFill>
              <a:schemeClr val="tx2"/>
            </a:solidFill>
            <a:prstDash val="solid"/>
          </a:ln>
        </p:spPr>
      </p:sp>
      <p:pic>
        <p:nvPicPr>
          <p:cNvPr id="8" name="Screenshot" descr="Library with the word of the day">    </p:cNvPr>
          <p:cNvPicPr>
            <a:picLocks noChangeAspect="1"/>
          </p:cNvPicPr>
          <p:nvPr/>
        </p:nvPicPr>
        <p:blipFill>
          <a:blip r:embed="rId2"/>
          <a:stretch>
            <a:fillRect/>
          </a:stretch>
        </p:blipFill>
        <p:spPr>
          <a:xfrm>
            <a:off x="5029200" y="1600200"/>
            <a:ext cx="6583680" cy="3703320"/>
          </a:xfrm>
          <a:prstGeom prst="rect">
            <a:avLst/>
          </a:prstGeom>
        </p:spPr>
      </p:pic>
      <p:sp>
        <p:nvSpPr>
          <p:cNvPr id="9" name="Screenshot caption"/>
          <p:cNvSpPr txBox="1"/>
          <p:nvPr/>
        </p:nvSpPr>
        <p:spPr>
          <a:xfrm>
            <a:off x="4965192" y="5431536"/>
            <a:ext cx="6711696" cy="292608"/>
          </a:xfrm>
          <a:prstGeom prst="rect">
            <a:avLst/>
          </a:prstGeom>
          <a:noFill/>
          <a:ln/>
        </p:spPr>
        <p:txBody>
          <a:bodyPr wrap="square" lIns="0" tIns="0" rIns="0" bIns="0" rtlCol="0" anchor="t"/>
          <a:lstStyle/>
          <a:p>
            <a:pPr algn="ctr" indent="0" marL="0">
              <a:buNone/>
            </a:pPr>
            <a:r>
              <a:rPr lang="en-US" sz="1200" i="1" dirty="0">
                <a:solidFill>
                  <a:schemeClr val="accent6"/>
                </a:solidFill>
              </a:rPr>
              <a:t>Library with the word of the day</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Profile: progress at a glance</a:t>
            </a:r>
            <a:endParaRPr lang="en-US" sz="3400" dirty="0"/>
          </a:p>
        </p:txBody>
      </p:sp>
      <p:sp>
        <p:nvSpPr>
          <p:cNvPr id="3" name="Feature circle"/>
          <p:cNvSpPr/>
          <p:nvPr/>
        </p:nvSpPr>
        <p:spPr>
          <a:xfrm>
            <a:off x="548640" y="1508760"/>
            <a:ext cx="731520" cy="731520"/>
          </a:xfrm>
          <a:prstGeom prst="ellipse">
            <a:avLst/>
          </a:prstGeom>
          <a:solidFill>
            <a:schemeClr val="accent6"/>
          </a:solidFill>
          <a:ln w="12700">
            <a:solidFill>
              <a:schemeClr val="accent6"/>
            </a:solidFill>
            <a:prstDash val="solid"/>
          </a:ln>
        </p:spPr>
      </p:sp>
      <p:pic>
        <p:nvPicPr>
          <p:cNvPr id="4" name="Feature icon" descr="Feature">    </p:cNvPr>
          <p:cNvPicPr>
            <a:picLocks noChangeAspect="1"/>
          </p:cNvPicPr>
          <p:nvPr/>
        </p:nvPicPr>
        <p:blipFill>
          <a:blip r:embed="rId1"/>
          <a:stretch>
            <a:fillRect/>
          </a:stretch>
        </p:blipFill>
        <p:spPr>
          <a:xfrm>
            <a:off x="746150" y="1706270"/>
            <a:ext cx="336499" cy="336499"/>
          </a:xfrm>
          <a:prstGeom prst="rect">
            <a:avLst/>
          </a:prstGeom>
        </p:spPr>
      </p:pic>
      <p:sp>
        <p:nvSpPr>
          <p:cNvPr id="5" name="Intro"/>
          <p:cNvSpPr txBox="1"/>
          <p:nvPr/>
        </p:nvSpPr>
        <p:spPr>
          <a:xfrm>
            <a:off x="1463040" y="1508760"/>
            <a:ext cx="3200400" cy="731520"/>
          </a:xfrm>
          <a:prstGeom prst="rect">
            <a:avLst/>
          </a:prstGeom>
          <a:noFill/>
          <a:ln/>
        </p:spPr>
        <p:txBody>
          <a:bodyPr wrap="square" lIns="0" tIns="0" rIns="0" bIns="0" rtlCol="0" anchor="ctr"/>
          <a:lstStyle/>
          <a:p>
            <a:pPr indent="0" marL="0">
              <a:buNone/>
            </a:pPr>
            <a:r>
              <a:rPr lang="en-US" sz="1700" b="1" dirty="0">
                <a:solidFill>
                  <a:schemeClr val="tx1"/>
                </a:solidFill>
              </a:rPr>
              <a:t>Track what you have done</a:t>
            </a:r>
            <a:endParaRPr lang="en-US" sz="1700" dirty="0"/>
          </a:p>
        </p:txBody>
      </p:sp>
      <p:sp>
        <p:nvSpPr>
          <p:cNvPr id="6" name="Feature list"/>
          <p:cNvSpPr txBox="1"/>
          <p:nvPr/>
        </p:nvSpPr>
        <p:spPr>
          <a:xfrm>
            <a:off x="548640" y="2468880"/>
            <a:ext cx="411480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Name, avatar and learning-since date</a:t>
            </a:r>
            <a:endParaRPr lang="en-US" sz="1600" dirty="0"/>
          </a:p>
          <a:p>
            <a:pPr marL="342900" indent="-342900">
              <a:spcAft>
                <a:spcPts val="800"/>
              </a:spcAft>
              <a:buSzPct val="100000"/>
              <a:buChar char="•"/>
            </a:pPr>
            <a:r>
              <a:rPr lang="en-US" sz="1600" dirty="0">
                <a:solidFill>
                  <a:schemeClr val="tx1"/>
                </a:solidFill>
              </a:rPr>
              <a:t>Day streak counts days played in a row</a:t>
            </a:r>
            <a:endParaRPr lang="en-US" sz="1600" dirty="0"/>
          </a:p>
          <a:p>
            <a:pPr marL="342900" indent="-342900">
              <a:spcAft>
                <a:spcPts val="800"/>
              </a:spcAft>
              <a:buSzPct val="100000"/>
              <a:buChar char="•"/>
            </a:pPr>
            <a:r>
              <a:rPr lang="en-US" sz="1600" dirty="0">
                <a:solidFill>
                  <a:schemeClr val="tx1"/>
                </a:solidFill>
              </a:rPr>
              <a:t>One row per game with a bar for each language</a:t>
            </a:r>
            <a:endParaRPr lang="en-US" sz="1600" dirty="0"/>
          </a:p>
          <a:p>
            <a:pPr marL="342900" indent="-342900">
              <a:spcAft>
                <a:spcPts val="800"/>
              </a:spcAft>
              <a:buSzPct val="100000"/>
              <a:buChar char="•"/>
            </a:pPr>
            <a:r>
              <a:rPr lang="en-US" sz="1600" dirty="0">
                <a:solidFill>
                  <a:schemeClr val="tx1"/>
                </a:solidFill>
              </a:rPr>
              <a:t>Words learned and Favorites cards</a:t>
            </a:r>
            <a:endParaRPr lang="en-US" sz="1600" dirty="0"/>
          </a:p>
          <a:p>
            <a:pPr marL="342900" indent="-342900">
              <a:spcAft>
                <a:spcPts val="800"/>
              </a:spcAft>
              <a:buSzPct val="100000"/>
              <a:buChar char="•"/>
            </a:pPr>
            <a:r>
              <a:rPr lang="en-US" sz="1600" dirty="0">
                <a:solidFill>
                  <a:schemeClr val="tx1"/>
                </a:solidFill>
              </a:rPr>
              <a:t>Edit profile, or Reset progress</a:t>
            </a:r>
            <a:endParaRPr lang="en-US" sz="1600" dirty="0"/>
          </a:p>
        </p:txBody>
      </p:sp>
      <p:sp>
        <p:nvSpPr>
          <p:cNvPr id="7" name="Screenshot frame"/>
          <p:cNvSpPr/>
          <p:nvPr/>
        </p:nvSpPr>
        <p:spPr>
          <a:xfrm>
            <a:off x="4965192" y="1536192"/>
            <a:ext cx="6711696" cy="3831336"/>
          </a:xfrm>
          <a:prstGeom prst="roundRect">
            <a:avLst>
              <a:gd name="adj" fmla="val 1909"/>
            </a:avLst>
          </a:prstGeom>
          <a:solidFill>
            <a:schemeClr val="tx2"/>
          </a:solidFill>
          <a:ln w="12700">
            <a:solidFill>
              <a:schemeClr val="tx2"/>
            </a:solidFill>
            <a:prstDash val="solid"/>
          </a:ln>
        </p:spPr>
      </p:sp>
      <p:pic>
        <p:nvPicPr>
          <p:cNvPr id="8" name="Screenshot" descr="Profile with sample progress">    </p:cNvPr>
          <p:cNvPicPr>
            <a:picLocks noChangeAspect="1"/>
          </p:cNvPicPr>
          <p:nvPr/>
        </p:nvPicPr>
        <p:blipFill>
          <a:blip r:embed="rId2"/>
          <a:stretch>
            <a:fillRect/>
          </a:stretch>
        </p:blipFill>
        <p:spPr>
          <a:xfrm>
            <a:off x="5029200" y="1600200"/>
            <a:ext cx="6583680" cy="3703320"/>
          </a:xfrm>
          <a:prstGeom prst="rect">
            <a:avLst/>
          </a:prstGeom>
        </p:spPr>
      </p:pic>
      <p:sp>
        <p:nvSpPr>
          <p:cNvPr id="9" name="Screenshot caption"/>
          <p:cNvSpPr txBox="1"/>
          <p:nvPr/>
        </p:nvSpPr>
        <p:spPr>
          <a:xfrm>
            <a:off x="4965192" y="5431536"/>
            <a:ext cx="6711696" cy="292608"/>
          </a:xfrm>
          <a:prstGeom prst="rect">
            <a:avLst/>
          </a:prstGeom>
          <a:noFill/>
          <a:ln/>
        </p:spPr>
        <p:txBody>
          <a:bodyPr wrap="square" lIns="0" tIns="0" rIns="0" bIns="0" rtlCol="0" anchor="t"/>
          <a:lstStyle/>
          <a:p>
            <a:pPr algn="ctr" indent="0" marL="0">
              <a:buNone/>
            </a:pPr>
            <a:r>
              <a:rPr lang="en-US" sz="1200" i="1" dirty="0">
                <a:solidFill>
                  <a:schemeClr val="accent6"/>
                </a:solidFill>
              </a:rPr>
              <a:t>Profile with sample progress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Sound and settings</a:t>
            </a:r>
            <a:endParaRPr lang="en-US" sz="3400" dirty="0"/>
          </a:p>
        </p:txBody>
      </p:sp>
      <p:sp>
        <p:nvSpPr>
          <p:cNvPr id="3" name="Sound card 1"/>
          <p:cNvSpPr/>
          <p:nvPr/>
        </p:nvSpPr>
        <p:spPr>
          <a:xfrm>
            <a:off x="548640" y="1554480"/>
            <a:ext cx="2651760" cy="2743200"/>
          </a:xfrm>
          <a:prstGeom prst="roundRect">
            <a:avLst>
              <a:gd name="adj" fmla="val 5172"/>
            </a:avLst>
          </a:prstGeom>
          <a:solidFill>
            <a:schemeClr val="bg2"/>
          </a:solidFill>
          <a:ln w="12700">
            <a:solidFill>
              <a:schemeClr val="bg2"/>
            </a:solidFill>
            <a:prstDash val="solid"/>
          </a:ln>
        </p:spPr>
      </p:sp>
      <p:sp>
        <p:nvSpPr>
          <p:cNvPr id="4" name="Sound 1 circle"/>
          <p:cNvSpPr/>
          <p:nvPr/>
        </p:nvSpPr>
        <p:spPr>
          <a:xfrm>
            <a:off x="777240" y="1783080"/>
            <a:ext cx="731520" cy="731520"/>
          </a:xfrm>
          <a:prstGeom prst="ellipse">
            <a:avLst/>
          </a:prstGeom>
          <a:solidFill>
            <a:schemeClr val="accent5"/>
          </a:solidFill>
          <a:ln w="12700">
            <a:solidFill>
              <a:schemeClr val="accent5"/>
            </a:solidFill>
            <a:prstDash val="solid"/>
          </a:ln>
        </p:spPr>
      </p:sp>
      <p:pic>
        <p:nvPicPr>
          <p:cNvPr id="5" name="Sound 1 icon" descr="Sound 1">    </p:cNvPr>
          <p:cNvPicPr>
            <a:picLocks noChangeAspect="1"/>
          </p:cNvPicPr>
          <p:nvPr/>
        </p:nvPicPr>
        <p:blipFill>
          <a:blip r:embed="rId1"/>
          <a:stretch>
            <a:fillRect/>
          </a:stretch>
        </p:blipFill>
        <p:spPr>
          <a:xfrm>
            <a:off x="974750" y="1980590"/>
            <a:ext cx="336499" cy="336499"/>
          </a:xfrm>
          <a:prstGeom prst="rect">
            <a:avLst/>
          </a:prstGeom>
        </p:spPr>
      </p:pic>
      <p:sp>
        <p:nvSpPr>
          <p:cNvPr id="6" name="Sound value 1"/>
          <p:cNvSpPr txBox="1"/>
          <p:nvPr/>
        </p:nvSpPr>
        <p:spPr>
          <a:xfrm>
            <a:off x="1645920" y="1783080"/>
            <a:ext cx="1371600" cy="731520"/>
          </a:xfrm>
          <a:prstGeom prst="rect">
            <a:avLst/>
          </a:prstGeom>
          <a:noFill/>
          <a:ln/>
        </p:spPr>
        <p:txBody>
          <a:bodyPr wrap="square" lIns="0" tIns="0" rIns="0" bIns="0" rtlCol="0" anchor="ctr"/>
          <a:lstStyle/>
          <a:p>
            <a:pPr indent="0" marL="0">
              <a:buNone/>
            </a:pPr>
            <a:r>
              <a:rPr lang="en-US" sz="3400" b="1" dirty="0">
                <a:solidFill>
                  <a:schemeClr val="accent5"/>
                </a:solidFill>
                <a:latin typeface="Cambria" pitchFamily="34" charset="0"/>
                <a:ea typeface="Cambria" pitchFamily="34" charset="-122"/>
                <a:cs typeface="Cambria" pitchFamily="34" charset="-120"/>
              </a:rPr>
              <a:t>7</a:t>
            </a:r>
            <a:endParaRPr lang="en-US" sz="3400" dirty="0"/>
          </a:p>
        </p:txBody>
      </p:sp>
      <p:sp>
        <p:nvSpPr>
          <p:cNvPr id="7" name="Sound label 1"/>
          <p:cNvSpPr txBox="1"/>
          <p:nvPr/>
        </p:nvSpPr>
        <p:spPr>
          <a:xfrm>
            <a:off x="777240" y="2743200"/>
            <a:ext cx="2286000" cy="365760"/>
          </a:xfrm>
          <a:prstGeom prst="rect">
            <a:avLst/>
          </a:prstGeom>
          <a:noFill/>
          <a:ln/>
        </p:spPr>
        <p:txBody>
          <a:bodyPr wrap="square" lIns="0" tIns="0" rIns="0" bIns="0" rtlCol="0" anchor="t"/>
          <a:lstStyle/>
          <a:p>
            <a:pPr indent="0" marL="0">
              <a:buNone/>
            </a:pPr>
            <a:r>
              <a:rPr lang="en-US" sz="1800" b="1" dirty="0">
                <a:solidFill>
                  <a:schemeClr val="tx1"/>
                </a:solidFill>
              </a:rPr>
              <a:t>music tracks</a:t>
            </a:r>
            <a:endParaRPr lang="en-US" sz="1800" dirty="0"/>
          </a:p>
        </p:txBody>
      </p:sp>
      <p:sp>
        <p:nvSpPr>
          <p:cNvPr id="8" name="Sound detail 1"/>
          <p:cNvSpPr txBox="1"/>
          <p:nvPr/>
        </p:nvSpPr>
        <p:spPr>
          <a:xfrm>
            <a:off x="777240" y="3154680"/>
            <a:ext cx="2240280" cy="1005840"/>
          </a:xfrm>
          <a:prstGeom prst="rect">
            <a:avLst/>
          </a:prstGeom>
          <a:noFill/>
          <a:ln/>
        </p:spPr>
        <p:txBody>
          <a:bodyPr wrap="square" lIns="0" tIns="0" rIns="0" bIns="0" rtlCol="0" anchor="t"/>
          <a:lstStyle/>
          <a:p>
            <a:pPr indent="0" marL="0">
              <a:buNone/>
            </a:pPr>
            <a:r>
              <a:rPr lang="en-US" sz="1400" dirty="0">
                <a:solidFill>
                  <a:schemeClr val="tx1"/>
                </a:solidFill>
              </a:rPr>
              <a:t>background music with a volume slider</a:t>
            </a:r>
            <a:endParaRPr lang="en-US" sz="1400" dirty="0"/>
          </a:p>
        </p:txBody>
      </p:sp>
      <p:sp>
        <p:nvSpPr>
          <p:cNvPr id="9" name="Sound card 2"/>
          <p:cNvSpPr/>
          <p:nvPr/>
        </p:nvSpPr>
        <p:spPr>
          <a:xfrm>
            <a:off x="3383280" y="1554480"/>
            <a:ext cx="2651760" cy="2743200"/>
          </a:xfrm>
          <a:prstGeom prst="roundRect">
            <a:avLst>
              <a:gd name="adj" fmla="val 5172"/>
            </a:avLst>
          </a:prstGeom>
          <a:solidFill>
            <a:schemeClr val="bg2"/>
          </a:solidFill>
          <a:ln w="12700">
            <a:solidFill>
              <a:schemeClr val="bg2"/>
            </a:solidFill>
            <a:prstDash val="solid"/>
          </a:ln>
        </p:spPr>
      </p:sp>
      <p:sp>
        <p:nvSpPr>
          <p:cNvPr id="10" name="Sound 2 circle"/>
          <p:cNvSpPr/>
          <p:nvPr/>
        </p:nvSpPr>
        <p:spPr>
          <a:xfrm>
            <a:off x="3611880" y="1783080"/>
            <a:ext cx="731520" cy="731520"/>
          </a:xfrm>
          <a:prstGeom prst="ellipse">
            <a:avLst/>
          </a:prstGeom>
          <a:solidFill>
            <a:schemeClr val="accent3"/>
          </a:solidFill>
          <a:ln w="12700">
            <a:solidFill>
              <a:schemeClr val="accent3"/>
            </a:solidFill>
            <a:prstDash val="solid"/>
          </a:ln>
        </p:spPr>
      </p:sp>
      <p:pic>
        <p:nvPicPr>
          <p:cNvPr id="11" name="Sound 2 icon" descr="Sound 2">    </p:cNvPr>
          <p:cNvPicPr>
            <a:picLocks noChangeAspect="1"/>
          </p:cNvPicPr>
          <p:nvPr/>
        </p:nvPicPr>
        <p:blipFill>
          <a:blip r:embed="rId2"/>
          <a:stretch>
            <a:fillRect/>
          </a:stretch>
        </p:blipFill>
        <p:spPr>
          <a:xfrm>
            <a:off x="3809390" y="1980590"/>
            <a:ext cx="336499" cy="336499"/>
          </a:xfrm>
          <a:prstGeom prst="rect">
            <a:avLst/>
          </a:prstGeom>
        </p:spPr>
      </p:pic>
      <p:sp>
        <p:nvSpPr>
          <p:cNvPr id="12" name="Sound value 2"/>
          <p:cNvSpPr txBox="1"/>
          <p:nvPr/>
        </p:nvSpPr>
        <p:spPr>
          <a:xfrm>
            <a:off x="4480560" y="1783080"/>
            <a:ext cx="1371600" cy="73152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25</a:t>
            </a:r>
            <a:endParaRPr lang="en-US" sz="3400" dirty="0"/>
          </a:p>
        </p:txBody>
      </p:sp>
      <p:sp>
        <p:nvSpPr>
          <p:cNvPr id="13" name="Sound label 2"/>
          <p:cNvSpPr txBox="1"/>
          <p:nvPr/>
        </p:nvSpPr>
        <p:spPr>
          <a:xfrm>
            <a:off x="3611880" y="2743200"/>
            <a:ext cx="2286000" cy="365760"/>
          </a:xfrm>
          <a:prstGeom prst="rect">
            <a:avLst/>
          </a:prstGeom>
          <a:noFill/>
          <a:ln/>
        </p:spPr>
        <p:txBody>
          <a:bodyPr wrap="square" lIns="0" tIns="0" rIns="0" bIns="0" rtlCol="0" anchor="t"/>
          <a:lstStyle/>
          <a:p>
            <a:pPr indent="0" marL="0">
              <a:buNone/>
            </a:pPr>
            <a:r>
              <a:rPr lang="en-US" sz="1800" b="1" dirty="0">
                <a:solidFill>
                  <a:schemeClr val="tx1"/>
                </a:solidFill>
              </a:rPr>
              <a:t>sound effects</a:t>
            </a:r>
            <a:endParaRPr lang="en-US" sz="1800" dirty="0"/>
          </a:p>
        </p:txBody>
      </p:sp>
      <p:sp>
        <p:nvSpPr>
          <p:cNvPr id="14" name="Sound detail 2"/>
          <p:cNvSpPr txBox="1"/>
          <p:nvPr/>
        </p:nvSpPr>
        <p:spPr>
          <a:xfrm>
            <a:off x="3611880" y="3154680"/>
            <a:ext cx="2240280" cy="1005840"/>
          </a:xfrm>
          <a:prstGeom prst="rect">
            <a:avLst/>
          </a:prstGeom>
          <a:noFill/>
          <a:ln/>
        </p:spPr>
        <p:txBody>
          <a:bodyPr wrap="square" lIns="0" tIns="0" rIns="0" bIns="0" rtlCol="0" anchor="t"/>
          <a:lstStyle/>
          <a:p>
            <a:pPr indent="0" marL="0">
              <a:buNone/>
            </a:pPr>
            <a:r>
              <a:rPr lang="en-US" sz="1400" dirty="0">
                <a:solidFill>
                  <a:schemeClr val="tx1"/>
                </a:solidFill>
              </a:rPr>
              <a:t>plus a click on every button</a:t>
            </a:r>
            <a:endParaRPr lang="en-US" sz="1400" dirty="0"/>
          </a:p>
        </p:txBody>
      </p:sp>
      <p:sp>
        <p:nvSpPr>
          <p:cNvPr id="15" name="Sound card 3"/>
          <p:cNvSpPr/>
          <p:nvPr/>
        </p:nvSpPr>
        <p:spPr>
          <a:xfrm>
            <a:off x="6217920" y="1554480"/>
            <a:ext cx="2651760" cy="2743200"/>
          </a:xfrm>
          <a:prstGeom prst="roundRect">
            <a:avLst>
              <a:gd name="adj" fmla="val 5172"/>
            </a:avLst>
          </a:prstGeom>
          <a:solidFill>
            <a:schemeClr val="bg2"/>
          </a:solidFill>
          <a:ln w="12700">
            <a:solidFill>
              <a:schemeClr val="bg2"/>
            </a:solidFill>
            <a:prstDash val="solid"/>
          </a:ln>
        </p:spPr>
      </p:sp>
      <p:sp>
        <p:nvSpPr>
          <p:cNvPr id="16" name="Sound 3 circle"/>
          <p:cNvSpPr/>
          <p:nvPr/>
        </p:nvSpPr>
        <p:spPr>
          <a:xfrm>
            <a:off x="6446520" y="1783080"/>
            <a:ext cx="731520" cy="731520"/>
          </a:xfrm>
          <a:prstGeom prst="ellipse">
            <a:avLst/>
          </a:prstGeom>
          <a:solidFill>
            <a:schemeClr val="accent6"/>
          </a:solidFill>
          <a:ln w="12700">
            <a:solidFill>
              <a:schemeClr val="accent6"/>
            </a:solidFill>
            <a:prstDash val="solid"/>
          </a:ln>
        </p:spPr>
      </p:sp>
      <p:pic>
        <p:nvPicPr>
          <p:cNvPr id="17" name="Sound 3 icon" descr="Sound 3">    </p:cNvPr>
          <p:cNvPicPr>
            <a:picLocks noChangeAspect="1"/>
          </p:cNvPicPr>
          <p:nvPr/>
        </p:nvPicPr>
        <p:blipFill>
          <a:blip r:embed="rId3"/>
          <a:stretch>
            <a:fillRect/>
          </a:stretch>
        </p:blipFill>
        <p:spPr>
          <a:xfrm>
            <a:off x="6644030" y="1980590"/>
            <a:ext cx="336499" cy="336499"/>
          </a:xfrm>
          <a:prstGeom prst="rect">
            <a:avLst/>
          </a:prstGeom>
        </p:spPr>
      </p:pic>
      <p:sp>
        <p:nvSpPr>
          <p:cNvPr id="18" name="Sound value 3"/>
          <p:cNvSpPr txBox="1"/>
          <p:nvPr/>
        </p:nvSpPr>
        <p:spPr>
          <a:xfrm>
            <a:off x="7315200" y="1783080"/>
            <a:ext cx="1371600" cy="731520"/>
          </a:xfrm>
          <a:prstGeom prst="rect">
            <a:avLst/>
          </a:prstGeom>
          <a:noFill/>
          <a:ln/>
        </p:spPr>
        <p:txBody>
          <a:bodyPr wrap="square" lIns="0" tIns="0" rIns="0" bIns="0" rtlCol="0" anchor="ctr"/>
          <a:lstStyle/>
          <a:p>
            <a:pPr indent="0" marL="0">
              <a:buNone/>
            </a:pPr>
            <a:r>
              <a:rPr lang="en-US" sz="3400" b="1" dirty="0">
                <a:solidFill>
                  <a:schemeClr val="accent6"/>
                </a:solidFill>
                <a:latin typeface="Cambria" pitchFamily="34" charset="0"/>
                <a:ea typeface="Cambria" pitchFamily="34" charset="-122"/>
                <a:cs typeface="Cambria" pitchFamily="34" charset="-120"/>
              </a:rPr>
              <a:t>2</a:t>
            </a:r>
            <a:endParaRPr lang="en-US" sz="3400" dirty="0"/>
          </a:p>
        </p:txBody>
      </p:sp>
      <p:sp>
        <p:nvSpPr>
          <p:cNvPr id="19" name="Sound label 3"/>
          <p:cNvSpPr txBox="1"/>
          <p:nvPr/>
        </p:nvSpPr>
        <p:spPr>
          <a:xfrm>
            <a:off x="6446520" y="2743200"/>
            <a:ext cx="2286000" cy="365760"/>
          </a:xfrm>
          <a:prstGeom prst="rect">
            <a:avLst/>
          </a:prstGeom>
          <a:noFill/>
          <a:ln/>
        </p:spPr>
        <p:txBody>
          <a:bodyPr wrap="square" lIns="0" tIns="0" rIns="0" bIns="0" rtlCol="0" anchor="t"/>
          <a:lstStyle/>
          <a:p>
            <a:pPr indent="0" marL="0">
              <a:buNone/>
            </a:pPr>
            <a:r>
              <a:rPr lang="en-US" sz="1800" b="1" dirty="0">
                <a:solidFill>
                  <a:schemeClr val="tx1"/>
                </a:solidFill>
              </a:rPr>
              <a:t>switches</a:t>
            </a:r>
            <a:endParaRPr lang="en-US" sz="1800" dirty="0"/>
          </a:p>
        </p:txBody>
      </p:sp>
      <p:sp>
        <p:nvSpPr>
          <p:cNvPr id="20" name="Sound detail 3"/>
          <p:cNvSpPr txBox="1"/>
          <p:nvPr/>
        </p:nvSpPr>
        <p:spPr>
          <a:xfrm>
            <a:off x="6446520" y="3154680"/>
            <a:ext cx="2240280" cy="1005840"/>
          </a:xfrm>
          <a:prstGeom prst="rect">
            <a:avLst/>
          </a:prstGeom>
          <a:noFill/>
          <a:ln/>
        </p:spPr>
        <p:txBody>
          <a:bodyPr wrap="square" lIns="0" tIns="0" rIns="0" bIns="0" rtlCol="0" anchor="t"/>
          <a:lstStyle/>
          <a:p>
            <a:pPr indent="0" marL="0">
              <a:buNone/>
            </a:pPr>
            <a:r>
              <a:rPr lang="en-US" sz="1400" dirty="0">
                <a:solidFill>
                  <a:schemeClr val="tx1"/>
                </a:solidFill>
              </a:rPr>
              <a:t>sound effects on/off and music volume</a:t>
            </a:r>
            <a:endParaRPr lang="en-US" sz="1400" dirty="0"/>
          </a:p>
        </p:txBody>
      </p:sp>
      <p:sp>
        <p:nvSpPr>
          <p:cNvPr id="21" name="Sound card 4"/>
          <p:cNvSpPr/>
          <p:nvPr/>
        </p:nvSpPr>
        <p:spPr>
          <a:xfrm>
            <a:off x="9052560" y="1554480"/>
            <a:ext cx="2651760" cy="2743200"/>
          </a:xfrm>
          <a:prstGeom prst="roundRect">
            <a:avLst>
              <a:gd name="adj" fmla="val 5172"/>
            </a:avLst>
          </a:prstGeom>
          <a:solidFill>
            <a:schemeClr val="bg2"/>
          </a:solidFill>
          <a:ln w="12700">
            <a:solidFill>
              <a:schemeClr val="bg2"/>
            </a:solidFill>
            <a:prstDash val="solid"/>
          </a:ln>
        </p:spPr>
      </p:sp>
      <p:sp>
        <p:nvSpPr>
          <p:cNvPr id="22" name="Sound 4 circle"/>
          <p:cNvSpPr/>
          <p:nvPr/>
        </p:nvSpPr>
        <p:spPr>
          <a:xfrm>
            <a:off x="9281160" y="1783080"/>
            <a:ext cx="731520" cy="731520"/>
          </a:xfrm>
          <a:prstGeom prst="ellipse">
            <a:avLst/>
          </a:prstGeom>
          <a:solidFill>
            <a:schemeClr val="accent4"/>
          </a:solidFill>
          <a:ln w="12700">
            <a:solidFill>
              <a:schemeClr val="accent4"/>
            </a:solidFill>
            <a:prstDash val="solid"/>
          </a:ln>
        </p:spPr>
      </p:sp>
      <p:pic>
        <p:nvPicPr>
          <p:cNvPr id="23" name="Sound 4 icon" descr="Sound 4">    </p:cNvPr>
          <p:cNvPicPr>
            <a:picLocks noChangeAspect="1"/>
          </p:cNvPicPr>
          <p:nvPr/>
        </p:nvPicPr>
        <p:blipFill>
          <a:blip r:embed="rId4"/>
          <a:stretch>
            <a:fillRect/>
          </a:stretch>
        </p:blipFill>
        <p:spPr>
          <a:xfrm>
            <a:off x="9478670" y="1980590"/>
            <a:ext cx="336499" cy="336499"/>
          </a:xfrm>
          <a:prstGeom prst="rect">
            <a:avLst/>
          </a:prstGeom>
        </p:spPr>
      </p:pic>
      <p:sp>
        <p:nvSpPr>
          <p:cNvPr id="24" name="Sound value 4"/>
          <p:cNvSpPr txBox="1"/>
          <p:nvPr/>
        </p:nvSpPr>
        <p:spPr>
          <a:xfrm>
            <a:off x="10149840" y="1783080"/>
            <a:ext cx="1371600" cy="731520"/>
          </a:xfrm>
          <a:prstGeom prst="rect">
            <a:avLst/>
          </a:prstGeom>
          <a:noFill/>
          <a:ln/>
        </p:spPr>
        <p:txBody>
          <a:bodyPr wrap="square" lIns="0" tIns="0" rIns="0" bIns="0" rtlCol="0" anchor="ctr"/>
          <a:lstStyle/>
          <a:p>
            <a:pPr indent="0" marL="0">
              <a:buNone/>
            </a:pPr>
            <a:r>
              <a:rPr lang="en-US" sz="3400" b="1" dirty="0">
                <a:solidFill>
                  <a:schemeClr val="accent4"/>
                </a:solidFill>
                <a:latin typeface="Cambria" pitchFamily="34" charset="0"/>
                <a:ea typeface="Cambria" pitchFamily="34" charset="-122"/>
                <a:cs typeface="Cambria" pitchFamily="34" charset="-120"/>
              </a:rPr>
              <a:t>Off</a:t>
            </a:r>
            <a:endParaRPr lang="en-US" sz="3400" dirty="0"/>
          </a:p>
        </p:txBody>
      </p:sp>
      <p:sp>
        <p:nvSpPr>
          <p:cNvPr id="25" name="Sound label 4"/>
          <p:cNvSpPr txBox="1"/>
          <p:nvPr/>
        </p:nvSpPr>
        <p:spPr>
          <a:xfrm>
            <a:off x="9281160" y="2743200"/>
            <a:ext cx="2286000" cy="365760"/>
          </a:xfrm>
          <a:prstGeom prst="rect">
            <a:avLst/>
          </a:prstGeom>
          <a:noFill/>
          <a:ln/>
        </p:spPr>
        <p:txBody>
          <a:bodyPr wrap="square" lIns="0" tIns="0" rIns="0" bIns="0" rtlCol="0" anchor="t"/>
          <a:lstStyle/>
          <a:p>
            <a:pPr indent="0" marL="0">
              <a:buNone/>
            </a:pPr>
            <a:r>
              <a:rPr lang="en-US" sz="1800" b="1" dirty="0">
                <a:solidFill>
                  <a:schemeClr val="tx1"/>
                </a:solidFill>
              </a:rPr>
              <a:t>Tap to hear</a:t>
            </a:r>
            <a:endParaRPr lang="en-US" sz="1800" dirty="0"/>
          </a:p>
        </p:txBody>
      </p:sp>
      <p:sp>
        <p:nvSpPr>
          <p:cNvPr id="26" name="Sound detail 4"/>
          <p:cNvSpPr txBox="1"/>
          <p:nvPr/>
        </p:nvSpPr>
        <p:spPr>
          <a:xfrm>
            <a:off x="9281160" y="3154680"/>
            <a:ext cx="2240280" cy="1005840"/>
          </a:xfrm>
          <a:prstGeom prst="rect">
            <a:avLst/>
          </a:prstGeom>
          <a:noFill/>
          <a:ln/>
        </p:spPr>
        <p:txBody>
          <a:bodyPr wrap="square" lIns="0" tIns="0" rIns="0" bIns="0" rtlCol="0" anchor="t"/>
          <a:lstStyle/>
          <a:p>
            <a:pPr indent="0" marL="0">
              <a:buNone/>
            </a:pPr>
            <a:r>
              <a:rPr lang="en-US" sz="1400" dirty="0">
                <a:solidFill>
                  <a:schemeClr val="tx1"/>
                </a:solidFill>
              </a:rPr>
              <a:t>built, waiting for voice recordings</a:t>
            </a:r>
            <a:endParaRPr lang="en-US" sz="1400" dirty="0"/>
          </a:p>
        </p:txBody>
      </p:sp>
      <p:sp>
        <p:nvSpPr>
          <p:cNvPr id="27" name="Sound list"/>
          <p:cNvSpPr txBox="1"/>
          <p:nvPr/>
        </p:nvSpPr>
        <p:spPr>
          <a:xfrm>
            <a:off x="548640" y="457200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Button sounds are added by one self-creating script, so every button in every scene gets one</a:t>
            </a:r>
            <a:endParaRPr lang="en-US" sz="1600" dirty="0"/>
          </a:p>
          <a:p>
            <a:pPr marL="342900" indent="-342900">
              <a:spcAft>
                <a:spcPts val="800"/>
              </a:spcAft>
              <a:buSzPct val="100000"/>
              <a:buChar char="•"/>
            </a:pPr>
            <a:r>
              <a:rPr lang="en-US" sz="1600" dirty="0">
                <a:solidFill>
                  <a:schemeClr val="tx1"/>
                </a:solidFill>
              </a:rPr>
              <a:t>Tap to hear plays a word's recording when the player taps it. It needs 551 recordings, so it is switched off until they exist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Content and data</a:t>
            </a:r>
            <a:endParaRPr lang="en-US" sz="3400" dirty="0"/>
          </a:p>
        </p:txBody>
      </p:sp>
      <p:sp>
        <p:nvSpPr>
          <p:cNvPr id="3" name="Data card"/>
          <p:cNvSpPr/>
          <p:nvPr/>
        </p:nvSpPr>
        <p:spPr>
          <a:xfrm>
            <a:off x="548640" y="1463040"/>
            <a:ext cx="5486400" cy="3749040"/>
          </a:xfrm>
          <a:prstGeom prst="roundRect">
            <a:avLst>
              <a:gd name="adj" fmla="val 3659"/>
            </a:avLst>
          </a:prstGeom>
          <a:solidFill>
            <a:schemeClr val="bg2"/>
          </a:solidFill>
          <a:ln w="12700">
            <a:solidFill>
              <a:schemeClr val="bg2"/>
            </a:solidFill>
            <a:prstDash val="solid"/>
          </a:ln>
        </p:spPr>
      </p:sp>
      <p:sp>
        <p:nvSpPr>
          <p:cNvPr id="4" name="Data circle"/>
          <p:cNvSpPr/>
          <p:nvPr/>
        </p:nvSpPr>
        <p:spPr>
          <a:xfrm>
            <a:off x="822960" y="1691640"/>
            <a:ext cx="640080" cy="640080"/>
          </a:xfrm>
          <a:prstGeom prst="ellipse">
            <a:avLst/>
          </a:prstGeom>
          <a:solidFill>
            <a:schemeClr val="accent3"/>
          </a:solidFill>
          <a:ln w="12700">
            <a:solidFill>
              <a:schemeClr val="accent3"/>
            </a:solidFill>
            <a:prstDash val="solid"/>
          </a:ln>
        </p:spPr>
      </p:sp>
      <p:pic>
        <p:nvPicPr>
          <p:cNvPr id="5" name="Data icon" descr="Data">    </p:cNvPr>
          <p:cNvPicPr>
            <a:picLocks noChangeAspect="1"/>
          </p:cNvPicPr>
          <p:nvPr/>
        </p:nvPicPr>
        <p:blipFill>
          <a:blip r:embed="rId1"/>
          <a:stretch>
            <a:fillRect/>
          </a:stretch>
        </p:blipFill>
        <p:spPr>
          <a:xfrm>
            <a:off x="995782" y="1864462"/>
            <a:ext cx="294437" cy="294437"/>
          </a:xfrm>
          <a:prstGeom prst="rect">
            <a:avLst/>
          </a:prstGeom>
        </p:spPr>
      </p:pic>
      <p:sp>
        <p:nvSpPr>
          <p:cNvPr id="6" name="Data title"/>
          <p:cNvSpPr txBox="1"/>
          <p:nvPr/>
        </p:nvSpPr>
        <p:spPr>
          <a:xfrm>
            <a:off x="1645920" y="1691640"/>
            <a:ext cx="4206240" cy="640080"/>
          </a:xfrm>
          <a:prstGeom prst="rect">
            <a:avLst/>
          </a:prstGeom>
          <a:noFill/>
          <a:ln/>
        </p:spPr>
        <p:txBody>
          <a:bodyPr wrap="square" lIns="0" tIns="0" rIns="0" bIns="0" rtlCol="0" anchor="ctr"/>
          <a:lstStyle/>
          <a:p>
            <a:pPr indent="0" marL="0">
              <a:buNone/>
            </a:pPr>
            <a:r>
              <a:rPr lang="en-US" sz="2200" b="1" dirty="0">
                <a:solidFill>
                  <a:schemeClr val="tx1"/>
                </a:solidFill>
              </a:rPr>
              <a:t>Data-driven</a:t>
            </a:r>
            <a:endParaRPr lang="en-US" sz="2200" dirty="0"/>
          </a:p>
        </p:txBody>
      </p:sp>
      <p:sp>
        <p:nvSpPr>
          <p:cNvPr id="7" name="Data list"/>
          <p:cNvSpPr txBox="1"/>
          <p:nvPr/>
        </p:nvSpPr>
        <p:spPr>
          <a:xfrm>
            <a:off x="868680" y="251460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Every puzzle and phrase lives in a JSON file, not in code</a:t>
            </a:r>
            <a:endParaRPr lang="en-US" sz="1600" dirty="0"/>
          </a:p>
          <a:p>
            <a:pPr marL="342900" indent="-342900">
              <a:spcAft>
                <a:spcPts val="800"/>
              </a:spcAft>
              <a:buSzPct val="100000"/>
              <a:buChar char="•"/>
            </a:pPr>
            <a:r>
              <a:rPr lang="en-US" sz="1600" dirty="0">
                <a:solidFill>
                  <a:schemeClr val="tx1"/>
                </a:solidFill>
              </a:rPr>
              <a:t>One registry lists which files each game loads</a:t>
            </a:r>
            <a:endParaRPr lang="en-US" sz="1600" dirty="0"/>
          </a:p>
          <a:p>
            <a:pPr marL="342900" indent="-342900">
              <a:spcAft>
                <a:spcPts val="800"/>
              </a:spcAft>
              <a:buSzPct val="100000"/>
              <a:buChar char="•"/>
            </a:pPr>
            <a:r>
              <a:rPr lang="en-US" sz="1600" dirty="0">
                <a:solidFill>
                  <a:schemeClr val="tx1"/>
                </a:solidFill>
              </a:rPr>
              <a:t>Wordle, Crossword and Word Search share one 133-word list per language</a:t>
            </a:r>
            <a:endParaRPr lang="en-US" sz="1600" dirty="0"/>
          </a:p>
          <a:p>
            <a:pPr marL="342900" indent="-342900">
              <a:spcAft>
                <a:spcPts val="800"/>
              </a:spcAft>
              <a:buSzPct val="100000"/>
              <a:buChar char="•"/>
            </a:pPr>
            <a:r>
              <a:rPr lang="en-US" sz="1600" dirty="0">
                <a:solidFill>
                  <a:schemeClr val="tx1"/>
                </a:solidFill>
              </a:rPr>
              <a:t>Adding a level or a language means adding data, not rebuilding scenes</a:t>
            </a:r>
            <a:endParaRPr lang="en-US" sz="1600" dirty="0"/>
          </a:p>
        </p:txBody>
      </p:sp>
      <p:sp>
        <p:nvSpPr>
          <p:cNvPr id="8" name="Review card"/>
          <p:cNvSpPr/>
          <p:nvPr/>
        </p:nvSpPr>
        <p:spPr>
          <a:xfrm>
            <a:off x="6309360" y="1463040"/>
            <a:ext cx="5303520" cy="3749040"/>
          </a:xfrm>
          <a:prstGeom prst="roundRect">
            <a:avLst>
              <a:gd name="adj" fmla="val 3659"/>
            </a:avLst>
          </a:prstGeom>
          <a:solidFill>
            <a:schemeClr val="bg2"/>
          </a:solidFill>
          <a:ln w="12700">
            <a:solidFill>
              <a:schemeClr val="bg2"/>
            </a:solidFill>
            <a:prstDash val="solid"/>
          </a:ln>
        </p:spPr>
      </p:sp>
      <p:sp>
        <p:nvSpPr>
          <p:cNvPr id="9" name="Review circle"/>
          <p:cNvSpPr/>
          <p:nvPr/>
        </p:nvSpPr>
        <p:spPr>
          <a:xfrm>
            <a:off x="6583680" y="1691640"/>
            <a:ext cx="640080" cy="640080"/>
          </a:xfrm>
          <a:prstGeom prst="ellipse">
            <a:avLst/>
          </a:prstGeom>
          <a:solidFill>
            <a:schemeClr val="accent4"/>
          </a:solidFill>
          <a:ln w="12700">
            <a:solidFill>
              <a:schemeClr val="accent4"/>
            </a:solidFill>
            <a:prstDash val="solid"/>
          </a:ln>
        </p:spPr>
      </p:sp>
      <p:pic>
        <p:nvPicPr>
          <p:cNvPr id="10" name="Review icon" descr="Review">    </p:cNvPr>
          <p:cNvPicPr>
            <a:picLocks noChangeAspect="1"/>
          </p:cNvPicPr>
          <p:nvPr/>
        </p:nvPicPr>
        <p:blipFill>
          <a:blip r:embed="rId2"/>
          <a:stretch>
            <a:fillRect/>
          </a:stretch>
        </p:blipFill>
        <p:spPr>
          <a:xfrm>
            <a:off x="6756502" y="1864462"/>
            <a:ext cx="294437" cy="294437"/>
          </a:xfrm>
          <a:prstGeom prst="rect">
            <a:avLst/>
          </a:prstGeom>
        </p:spPr>
      </p:pic>
      <p:sp>
        <p:nvSpPr>
          <p:cNvPr id="11" name="Review title"/>
          <p:cNvSpPr txBox="1"/>
          <p:nvPr/>
        </p:nvSpPr>
        <p:spPr>
          <a:xfrm>
            <a:off x="7406640" y="1691640"/>
            <a:ext cx="4023360" cy="640080"/>
          </a:xfrm>
          <a:prstGeom prst="rect">
            <a:avLst/>
          </a:prstGeom>
          <a:noFill/>
          <a:ln/>
        </p:spPr>
        <p:txBody>
          <a:bodyPr wrap="square" lIns="0" tIns="0" rIns="0" bIns="0" rtlCol="0" anchor="ctr"/>
          <a:lstStyle/>
          <a:p>
            <a:pPr indent="0" marL="0">
              <a:buNone/>
            </a:pPr>
            <a:r>
              <a:rPr lang="en-US" sz="2200" b="1" dirty="0">
                <a:solidFill>
                  <a:schemeClr val="tx1"/>
                </a:solidFill>
              </a:rPr>
              <a:t>Needs a native speaker</a:t>
            </a:r>
            <a:endParaRPr lang="en-US" sz="2200" dirty="0"/>
          </a:p>
        </p:txBody>
      </p:sp>
      <p:sp>
        <p:nvSpPr>
          <p:cNvPr id="12" name="Review list"/>
          <p:cNvSpPr txBox="1"/>
          <p:nvPr/>
        </p:nvSpPr>
        <p:spPr>
          <a:xfrm>
            <a:off x="6629400" y="2514600"/>
            <a:ext cx="475488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Word lists and Phrasebook phrases are drafts and have not been checked by a native speaker</a:t>
            </a:r>
            <a:endParaRPr lang="en-US" sz="1600" dirty="0"/>
          </a:p>
          <a:p>
            <a:pPr marL="342900" indent="-342900">
              <a:spcAft>
                <a:spcPts val="800"/>
              </a:spcAft>
              <a:buSzPct val="100000"/>
              <a:buChar char="•"/>
            </a:pPr>
            <a:r>
              <a:rPr lang="en-US" sz="1600" dirty="0">
                <a:solidFill>
                  <a:schemeClr val="tx1"/>
                </a:solidFill>
              </a:rPr>
              <a:t>Some clues come straight from the dictionary and read roughly</a:t>
            </a:r>
            <a:endParaRPr lang="en-US" sz="1600" dirty="0"/>
          </a:p>
          <a:p>
            <a:pPr marL="342900" indent="-342900">
              <a:spcAft>
                <a:spcPts val="800"/>
              </a:spcAft>
              <a:buSzPct val="100000"/>
              <a:buChar char="•"/>
            </a:pPr>
            <a:r>
              <a:rPr lang="en-US" sz="1600" dirty="0">
                <a:solidFill>
                  <a:schemeClr val="tx1"/>
                </a:solidFill>
              </a:rPr>
              <a:t>Answer lists are saved in the Mockups folder for review</a:t>
            </a:r>
            <a:endParaRPr lang="en-US" sz="1600" dirty="0"/>
          </a:p>
        </p:txBody>
      </p:sp>
      <p:sp>
        <p:nvSpPr>
          <p:cNvPr id="13" name="Data callout"/>
          <p:cNvSpPr/>
          <p:nvPr/>
        </p:nvSpPr>
        <p:spPr>
          <a:xfrm>
            <a:off x="548640" y="5486400"/>
            <a:ext cx="11064240" cy="731520"/>
          </a:xfrm>
          <a:prstGeom prst="roundRect">
            <a:avLst>
              <a:gd name="adj" fmla="val 18750"/>
            </a:avLst>
          </a:prstGeom>
          <a:solidFill>
            <a:schemeClr val="tx2"/>
          </a:solidFill>
          <a:ln w="12700">
            <a:solidFill>
              <a:schemeClr val="tx2"/>
            </a:solidFill>
            <a:prstDash val="solid"/>
          </a:ln>
        </p:spPr>
      </p:sp>
      <p:sp>
        <p:nvSpPr>
          <p:cNvPr id="14" name="Data callout text"/>
          <p:cNvSpPr txBox="1"/>
          <p:nvPr/>
        </p:nvSpPr>
        <p:spPr>
          <a:xfrm>
            <a:off x="777240" y="5486400"/>
            <a:ext cx="10607040" cy="731520"/>
          </a:xfrm>
          <a:prstGeom prst="rect">
            <a:avLst/>
          </a:prstGeom>
          <a:noFill/>
          <a:ln/>
        </p:spPr>
        <p:txBody>
          <a:bodyPr wrap="square" lIns="0" tIns="0" rIns="0" bIns="0" rtlCol="0" anchor="ctr"/>
          <a:lstStyle/>
          <a:p>
            <a:pPr algn="ctr" indent="0" marL="0">
              <a:buNone/>
            </a:pPr>
            <a:r>
              <a:rPr lang="en-US" sz="1800" b="1" dirty="0">
                <a:solidFill>
                  <a:schemeClr val="bg1"/>
                </a:solidFill>
              </a:rPr>
              <a:t>Quality of the language is the most important thing to check before release</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Under the hood</a:t>
            </a:r>
            <a:endParaRPr lang="en-US" sz="3400" dirty="0"/>
          </a:p>
        </p:txBody>
      </p:sp>
      <p:sp>
        <p:nvSpPr>
          <p:cNvPr id="3" name="Layer card 1"/>
          <p:cNvSpPr/>
          <p:nvPr/>
        </p:nvSpPr>
        <p:spPr>
          <a:xfrm>
            <a:off x="548640" y="1463040"/>
            <a:ext cx="7498080" cy="868680"/>
          </a:xfrm>
          <a:prstGeom prst="roundRect">
            <a:avLst>
              <a:gd name="adj" fmla="val 15789"/>
            </a:avLst>
          </a:prstGeom>
          <a:solidFill>
            <a:schemeClr val="bg2"/>
          </a:solidFill>
          <a:ln w="12700">
            <a:solidFill>
              <a:schemeClr val="bg2"/>
            </a:solidFill>
            <a:prstDash val="solid"/>
          </a:ln>
        </p:spPr>
      </p:sp>
      <p:sp>
        <p:nvSpPr>
          <p:cNvPr id="4" name="Layer bar 1"/>
          <p:cNvSpPr/>
          <p:nvPr/>
        </p:nvSpPr>
        <p:spPr>
          <a:xfrm>
            <a:off x="548640" y="1463040"/>
            <a:ext cx="128016" cy="868680"/>
          </a:xfrm>
          <a:prstGeom prst="rect">
            <a:avLst/>
          </a:prstGeom>
          <a:solidFill>
            <a:schemeClr val="accent3"/>
          </a:solidFill>
          <a:ln w="12700">
            <a:solidFill>
              <a:schemeClr val="accent3"/>
            </a:solidFill>
            <a:prstDash val="solid"/>
          </a:ln>
        </p:spPr>
      </p:sp>
      <p:sp>
        <p:nvSpPr>
          <p:cNvPr id="5" name="Layer name 1"/>
          <p:cNvSpPr txBox="1"/>
          <p:nvPr/>
        </p:nvSpPr>
        <p:spPr>
          <a:xfrm>
            <a:off x="868680" y="1463040"/>
            <a:ext cx="1554480" cy="868680"/>
          </a:xfrm>
          <a:prstGeom prst="rect">
            <a:avLst/>
          </a:prstGeom>
          <a:noFill/>
          <a:ln/>
        </p:spPr>
        <p:txBody>
          <a:bodyPr wrap="square" lIns="0" tIns="0" rIns="0" bIns="0" rtlCol="0" anchor="ctr"/>
          <a:lstStyle/>
          <a:p>
            <a:pPr indent="0" marL="0">
              <a:buNone/>
            </a:pPr>
            <a:r>
              <a:rPr lang="en-US" sz="1800" b="1" dirty="0">
                <a:solidFill>
                  <a:schemeClr val="tx1"/>
                </a:solidFill>
              </a:rPr>
              <a:t>Scenes</a:t>
            </a:r>
            <a:endParaRPr lang="en-US" sz="1800" dirty="0"/>
          </a:p>
        </p:txBody>
      </p:sp>
      <p:sp>
        <p:nvSpPr>
          <p:cNvPr id="6" name="Layer text 1"/>
          <p:cNvSpPr txBox="1"/>
          <p:nvPr/>
        </p:nvSpPr>
        <p:spPr>
          <a:xfrm>
            <a:off x="2468880" y="1463040"/>
            <a:ext cx="5440680" cy="868680"/>
          </a:xfrm>
          <a:prstGeom prst="rect">
            <a:avLst/>
          </a:prstGeom>
          <a:noFill/>
          <a:ln/>
        </p:spPr>
        <p:txBody>
          <a:bodyPr wrap="square" lIns="0" tIns="0" rIns="0" bIns="0" rtlCol="0" anchor="ctr"/>
          <a:lstStyle/>
          <a:p>
            <a:pPr indent="0" marL="0">
              <a:buNone/>
            </a:pPr>
            <a:r>
              <a:rPr lang="en-US" sz="1400" dirty="0">
                <a:solidFill>
                  <a:schemeClr val="tx1"/>
                </a:solidFill>
              </a:rPr>
              <a:t>15 scenes: menu, hub, three games (topic pickers and play), Library, Profile, Learn, Phrasebook x3</a:t>
            </a:r>
            <a:endParaRPr lang="en-US" sz="1400" dirty="0"/>
          </a:p>
        </p:txBody>
      </p:sp>
      <p:sp>
        <p:nvSpPr>
          <p:cNvPr id="7" name="Layer card 2"/>
          <p:cNvSpPr/>
          <p:nvPr/>
        </p:nvSpPr>
        <p:spPr>
          <a:xfrm>
            <a:off x="548640" y="2468880"/>
            <a:ext cx="7498080" cy="868680"/>
          </a:xfrm>
          <a:prstGeom prst="roundRect">
            <a:avLst>
              <a:gd name="adj" fmla="val 15789"/>
            </a:avLst>
          </a:prstGeom>
          <a:solidFill>
            <a:schemeClr val="bg2"/>
          </a:solidFill>
          <a:ln w="12700">
            <a:solidFill>
              <a:schemeClr val="bg2"/>
            </a:solidFill>
            <a:prstDash val="solid"/>
          </a:ln>
        </p:spPr>
      </p:sp>
      <p:sp>
        <p:nvSpPr>
          <p:cNvPr id="8" name="Layer bar 2"/>
          <p:cNvSpPr/>
          <p:nvPr/>
        </p:nvSpPr>
        <p:spPr>
          <a:xfrm>
            <a:off x="548640" y="2468880"/>
            <a:ext cx="128016" cy="868680"/>
          </a:xfrm>
          <a:prstGeom prst="rect">
            <a:avLst/>
          </a:prstGeom>
          <a:solidFill>
            <a:schemeClr val="accent2"/>
          </a:solidFill>
          <a:ln w="12700">
            <a:solidFill>
              <a:schemeClr val="accent2"/>
            </a:solidFill>
            <a:prstDash val="solid"/>
          </a:ln>
        </p:spPr>
      </p:sp>
      <p:sp>
        <p:nvSpPr>
          <p:cNvPr id="9" name="Layer name 2"/>
          <p:cNvSpPr txBox="1"/>
          <p:nvPr/>
        </p:nvSpPr>
        <p:spPr>
          <a:xfrm>
            <a:off x="868680" y="2468880"/>
            <a:ext cx="1554480" cy="868680"/>
          </a:xfrm>
          <a:prstGeom prst="rect">
            <a:avLst/>
          </a:prstGeom>
          <a:noFill/>
          <a:ln/>
        </p:spPr>
        <p:txBody>
          <a:bodyPr wrap="square" lIns="0" tIns="0" rIns="0" bIns="0" rtlCol="0" anchor="ctr"/>
          <a:lstStyle/>
          <a:p>
            <a:pPr indent="0" marL="0">
              <a:buNone/>
            </a:pPr>
            <a:r>
              <a:rPr lang="en-US" sz="1800" b="1" dirty="0">
                <a:solidFill>
                  <a:schemeClr val="tx1"/>
                </a:solidFill>
              </a:rPr>
              <a:t>Scripts</a:t>
            </a:r>
            <a:endParaRPr lang="en-US" sz="1800" dirty="0"/>
          </a:p>
        </p:txBody>
      </p:sp>
      <p:sp>
        <p:nvSpPr>
          <p:cNvPr id="10" name="Layer text 2"/>
          <p:cNvSpPr txBox="1"/>
          <p:nvPr/>
        </p:nvSpPr>
        <p:spPr>
          <a:xfrm>
            <a:off x="2468880" y="2468880"/>
            <a:ext cx="5440680" cy="868680"/>
          </a:xfrm>
          <a:prstGeom prst="rect">
            <a:avLst/>
          </a:prstGeom>
          <a:noFill/>
          <a:ln/>
        </p:spPr>
        <p:txBody>
          <a:bodyPr wrap="square" lIns="0" tIns="0" rIns="0" bIns="0" rtlCol="0" anchor="ctr"/>
          <a:lstStyle/>
          <a:p>
            <a:pPr indent="0" marL="0">
              <a:buNone/>
            </a:pPr>
            <a:r>
              <a:rPr lang="en-US" sz="1400" dirty="0">
                <a:solidFill>
                  <a:schemeClr val="tx1"/>
                </a:solidFill>
              </a:rPr>
              <a:t>97 C# scripts, grouped by feature: Core, Menu, Wordle, Crossword, Word Search, Learn, Phrasebook, Audio</a:t>
            </a:r>
            <a:endParaRPr lang="en-US" sz="1400" dirty="0"/>
          </a:p>
        </p:txBody>
      </p:sp>
      <p:sp>
        <p:nvSpPr>
          <p:cNvPr id="11" name="Layer card 3"/>
          <p:cNvSpPr/>
          <p:nvPr/>
        </p:nvSpPr>
        <p:spPr>
          <a:xfrm>
            <a:off x="548640" y="3474720"/>
            <a:ext cx="7498080" cy="868680"/>
          </a:xfrm>
          <a:prstGeom prst="roundRect">
            <a:avLst>
              <a:gd name="adj" fmla="val 15789"/>
            </a:avLst>
          </a:prstGeom>
          <a:solidFill>
            <a:schemeClr val="bg2"/>
          </a:solidFill>
          <a:ln w="12700">
            <a:solidFill>
              <a:schemeClr val="bg2"/>
            </a:solidFill>
            <a:prstDash val="solid"/>
          </a:ln>
        </p:spPr>
      </p:sp>
      <p:sp>
        <p:nvSpPr>
          <p:cNvPr id="12" name="Layer bar 3"/>
          <p:cNvSpPr/>
          <p:nvPr/>
        </p:nvSpPr>
        <p:spPr>
          <a:xfrm>
            <a:off x="548640" y="3474720"/>
            <a:ext cx="128016" cy="868680"/>
          </a:xfrm>
          <a:prstGeom prst="rect">
            <a:avLst/>
          </a:prstGeom>
          <a:solidFill>
            <a:schemeClr val="accent5"/>
          </a:solidFill>
          <a:ln w="12700">
            <a:solidFill>
              <a:schemeClr val="accent5"/>
            </a:solidFill>
            <a:prstDash val="solid"/>
          </a:ln>
        </p:spPr>
      </p:sp>
      <p:sp>
        <p:nvSpPr>
          <p:cNvPr id="13" name="Layer name 3"/>
          <p:cNvSpPr txBox="1"/>
          <p:nvPr/>
        </p:nvSpPr>
        <p:spPr>
          <a:xfrm>
            <a:off x="868680" y="3474720"/>
            <a:ext cx="1554480" cy="868680"/>
          </a:xfrm>
          <a:prstGeom prst="rect">
            <a:avLst/>
          </a:prstGeom>
          <a:noFill/>
          <a:ln/>
        </p:spPr>
        <p:txBody>
          <a:bodyPr wrap="square" lIns="0" tIns="0" rIns="0" bIns="0" rtlCol="0" anchor="ctr"/>
          <a:lstStyle/>
          <a:p>
            <a:pPr indent="0" marL="0">
              <a:buNone/>
            </a:pPr>
            <a:r>
              <a:rPr lang="en-US" sz="1800" b="1" dirty="0">
                <a:solidFill>
                  <a:schemeClr val="tx1"/>
                </a:solidFill>
              </a:rPr>
              <a:t>Data</a:t>
            </a:r>
            <a:endParaRPr lang="en-US" sz="1800" dirty="0"/>
          </a:p>
        </p:txBody>
      </p:sp>
      <p:sp>
        <p:nvSpPr>
          <p:cNvPr id="14" name="Layer text 3"/>
          <p:cNvSpPr txBox="1"/>
          <p:nvPr/>
        </p:nvSpPr>
        <p:spPr>
          <a:xfrm>
            <a:off x="2468880" y="3474720"/>
            <a:ext cx="5440680" cy="868680"/>
          </a:xfrm>
          <a:prstGeom prst="rect">
            <a:avLst/>
          </a:prstGeom>
          <a:noFill/>
          <a:ln/>
        </p:spPr>
        <p:txBody>
          <a:bodyPr wrap="square" lIns="0" tIns="0" rIns="0" bIns="0" rtlCol="0" anchor="ctr"/>
          <a:lstStyle/>
          <a:p>
            <a:pPr indent="0" marL="0">
              <a:buNone/>
            </a:pPr>
            <a:r>
              <a:rPr lang="en-US" sz="1400" dirty="0">
                <a:solidFill>
                  <a:schemeClr val="tx1"/>
                </a:solidFill>
              </a:rPr>
              <a:t>JSON puzzle files, LevelDataRegistry, the 63,540-word dictionary, saved progress in PlayerPrefs and player_data.json</a:t>
            </a:r>
            <a:endParaRPr lang="en-US" sz="1400" dirty="0"/>
          </a:p>
        </p:txBody>
      </p:sp>
      <p:sp>
        <p:nvSpPr>
          <p:cNvPr id="15" name="Layer card 4"/>
          <p:cNvSpPr/>
          <p:nvPr/>
        </p:nvSpPr>
        <p:spPr>
          <a:xfrm>
            <a:off x="548640" y="4480560"/>
            <a:ext cx="7498080" cy="868680"/>
          </a:xfrm>
          <a:prstGeom prst="roundRect">
            <a:avLst>
              <a:gd name="adj" fmla="val 15789"/>
            </a:avLst>
          </a:prstGeom>
          <a:solidFill>
            <a:schemeClr val="bg2"/>
          </a:solidFill>
          <a:ln w="12700">
            <a:solidFill>
              <a:schemeClr val="bg2"/>
            </a:solidFill>
            <a:prstDash val="solid"/>
          </a:ln>
        </p:spPr>
      </p:sp>
      <p:sp>
        <p:nvSpPr>
          <p:cNvPr id="16" name="Layer bar 4"/>
          <p:cNvSpPr/>
          <p:nvPr/>
        </p:nvSpPr>
        <p:spPr>
          <a:xfrm>
            <a:off x="548640" y="4480560"/>
            <a:ext cx="128016" cy="868680"/>
          </a:xfrm>
          <a:prstGeom prst="rect">
            <a:avLst/>
          </a:prstGeom>
          <a:solidFill>
            <a:schemeClr val="accent4"/>
          </a:solidFill>
          <a:ln w="12700">
            <a:solidFill>
              <a:schemeClr val="accent4"/>
            </a:solidFill>
            <a:prstDash val="solid"/>
          </a:ln>
        </p:spPr>
      </p:sp>
      <p:sp>
        <p:nvSpPr>
          <p:cNvPr id="17" name="Layer name 4"/>
          <p:cNvSpPr txBox="1"/>
          <p:nvPr/>
        </p:nvSpPr>
        <p:spPr>
          <a:xfrm>
            <a:off x="868680" y="4480560"/>
            <a:ext cx="1554480" cy="868680"/>
          </a:xfrm>
          <a:prstGeom prst="rect">
            <a:avLst/>
          </a:prstGeom>
          <a:noFill/>
          <a:ln/>
        </p:spPr>
        <p:txBody>
          <a:bodyPr wrap="square" lIns="0" tIns="0" rIns="0" bIns="0" rtlCol="0" anchor="ctr"/>
          <a:lstStyle/>
          <a:p>
            <a:pPr indent="0" marL="0">
              <a:buNone/>
            </a:pPr>
            <a:r>
              <a:rPr lang="en-US" sz="1800" b="1" dirty="0">
                <a:solidFill>
                  <a:schemeClr val="tx1"/>
                </a:solidFill>
              </a:rPr>
              <a:t>Editor tools</a:t>
            </a:r>
            <a:endParaRPr lang="en-US" sz="1800" dirty="0"/>
          </a:p>
        </p:txBody>
      </p:sp>
      <p:sp>
        <p:nvSpPr>
          <p:cNvPr id="18" name="Layer text 4"/>
          <p:cNvSpPr txBox="1"/>
          <p:nvPr/>
        </p:nvSpPr>
        <p:spPr>
          <a:xfrm>
            <a:off x="2468880" y="4480560"/>
            <a:ext cx="5440680" cy="868680"/>
          </a:xfrm>
          <a:prstGeom prst="rect">
            <a:avLst/>
          </a:prstGeom>
          <a:noFill/>
          <a:ln/>
        </p:spPr>
        <p:txBody>
          <a:bodyPr wrap="square" lIns="0" tIns="0" rIns="0" bIns="0" rtlCol="0" anchor="ctr"/>
          <a:lstStyle/>
          <a:p>
            <a:pPr indent="0" marL="0">
              <a:buNone/>
            </a:pPr>
            <a:r>
              <a:rPr lang="en-US" sz="1400" dirty="0">
                <a:solidFill>
                  <a:schemeClr val="tx1"/>
                </a:solidFill>
              </a:rPr>
              <a:t>Builder scripts rebuild screens from code, so a design change is one menu click</a:t>
            </a:r>
            <a:endParaRPr lang="en-US" sz="1400" dirty="0"/>
          </a:p>
        </p:txBody>
      </p:sp>
      <p:sp>
        <p:nvSpPr>
          <p:cNvPr id="19" name="Tech card"/>
          <p:cNvSpPr/>
          <p:nvPr/>
        </p:nvSpPr>
        <p:spPr>
          <a:xfrm>
            <a:off x="8321040" y="1463040"/>
            <a:ext cx="3291840" cy="3840480"/>
          </a:xfrm>
          <a:prstGeom prst="roundRect">
            <a:avLst>
              <a:gd name="adj" fmla="val 4167"/>
            </a:avLst>
          </a:prstGeom>
          <a:solidFill>
            <a:schemeClr val="tx2"/>
          </a:solidFill>
          <a:ln w="12700">
            <a:solidFill>
              <a:schemeClr val="tx2"/>
            </a:solidFill>
            <a:prstDash val="solid"/>
          </a:ln>
        </p:spPr>
      </p:sp>
      <p:sp>
        <p:nvSpPr>
          <p:cNvPr id="20" name="Tech title"/>
          <p:cNvSpPr txBox="1"/>
          <p:nvPr/>
        </p:nvSpPr>
        <p:spPr>
          <a:xfrm>
            <a:off x="8595360" y="1645920"/>
            <a:ext cx="27432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Tech</a:t>
            </a:r>
            <a:endParaRPr lang="en-US" sz="2200" dirty="0"/>
          </a:p>
        </p:txBody>
      </p:sp>
      <p:sp>
        <p:nvSpPr>
          <p:cNvPr id="21" name="Tech list"/>
          <p:cNvSpPr txBox="1"/>
          <p:nvPr/>
        </p:nvSpPr>
        <p:spPr>
          <a:xfrm>
            <a:off x="8595360" y="2194560"/>
            <a:ext cx="283464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Unity 2021.3.45f2</a:t>
            </a:r>
            <a:endParaRPr lang="en-US" sz="1600" dirty="0"/>
          </a:p>
          <a:p>
            <a:pPr marL="342900" indent="-342900">
              <a:spcAft>
                <a:spcPts val="800"/>
              </a:spcAft>
              <a:buSzPct val="100000"/>
              <a:buChar char="•"/>
            </a:pPr>
            <a:r>
              <a:rPr lang="en-US" sz="1500" dirty="0">
                <a:solidFill>
                  <a:schemeClr val="bg1"/>
                </a:solidFill>
              </a:rPr>
              <a:t>uGUI and TextMeshPro</a:t>
            </a:r>
            <a:endParaRPr lang="en-US" sz="1600" dirty="0"/>
          </a:p>
          <a:p>
            <a:pPr marL="342900" indent="-342900">
              <a:spcAft>
                <a:spcPts val="800"/>
              </a:spcAft>
              <a:buSzPct val="100000"/>
              <a:buChar char="•"/>
            </a:pPr>
            <a:r>
              <a:rPr lang="en-US" sz="1500" dirty="0">
                <a:solidFill>
                  <a:schemeClr val="bg1"/>
                </a:solidFill>
              </a:rPr>
              <a:t>Windows build: Lakbay-Salita.exe</a:t>
            </a:r>
            <a:endParaRPr lang="en-US" sz="1600" dirty="0"/>
          </a:p>
          <a:p>
            <a:pPr marL="342900" indent="-342900">
              <a:spcAft>
                <a:spcPts val="800"/>
              </a:spcAft>
              <a:buSzPct val="100000"/>
              <a:buChar char="•"/>
            </a:pPr>
            <a:r>
              <a:rPr lang="en-US" sz="1500" dirty="0">
                <a:solidFill>
                  <a:schemeClr val="bg1"/>
                </a:solidFill>
              </a:rPr>
              <a:t>GitHub: main and sub branches</a:t>
            </a:r>
            <a:endParaRPr lang="en-US" sz="1600" dirty="0"/>
          </a:p>
        </p:txBody>
      </p:sp>
      <p:sp>
        <p:nvSpPr>
          <p:cNvPr id="22" name="Hood note"/>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500" i="1" dirty="0">
                <a:solidFill>
                  <a:schemeClr val="accent6"/>
                </a:solidFill>
              </a:rPr>
              <a:t>Progress stays on the player's computer; the game needs no internet connection.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Screen sizes: windowed and maximized</a:t>
            </a:r>
            <a:endParaRPr lang="en-US" sz="3400" dirty="0"/>
          </a:p>
        </p:txBody>
      </p:sp>
      <p:sp>
        <p:nvSpPr>
          <p:cNvPr id="3" name="Max size"/>
          <p:cNvSpPr/>
          <p:nvPr/>
        </p:nvSpPr>
        <p:spPr>
          <a:xfrm>
            <a:off x="548640" y="1554480"/>
            <a:ext cx="5266944" cy="2962656"/>
          </a:xfrm>
          <a:prstGeom prst="rect">
            <a:avLst/>
          </a:prstGeom>
          <a:solidFill>
            <a:schemeClr val="tx2"/>
          </a:solidFill>
          <a:ln w="19050">
            <a:solidFill>
              <a:schemeClr val="tx2"/>
            </a:solidFill>
            <a:prstDash val="solid"/>
          </a:ln>
        </p:spPr>
      </p:sp>
      <p:sp>
        <p:nvSpPr>
          <p:cNvPr id="4" name="Max size text"/>
          <p:cNvSpPr txBox="1"/>
          <p:nvPr/>
        </p:nvSpPr>
        <p:spPr>
          <a:xfrm>
            <a:off x="548640" y="1554480"/>
            <a:ext cx="5266944" cy="2962656"/>
          </a:xfrm>
          <a:prstGeom prst="rect">
            <a:avLst/>
          </a:prstGeom>
          <a:noFill/>
          <a:ln/>
        </p:spPr>
        <p:txBody>
          <a:bodyPr wrap="square" lIns="635" tIns="635" rIns="635" bIns="635" rtlCol="0" anchor="ctr"/>
          <a:lstStyle/>
          <a:p>
            <a:pPr algn="ctr" indent="0" marL="0">
              <a:buNone/>
            </a:pPr>
            <a:r>
              <a:rPr lang="en-US" sz="1400" b="1" dirty="0">
                <a:solidFill>
                  <a:schemeClr val="bg1"/>
                </a:solidFill>
              </a:rPr>
              <a:t>Maximize</a:t>
            </a:r>
            <a:endParaRPr lang="en-US" sz="1400" dirty="0"/>
          </a:p>
          <a:p>
            <a:pPr algn="ctr" indent="0" marL="0">
              <a:buNone/>
            </a:pPr>
            <a:r>
              <a:rPr lang="en-US" sz="1400" b="1" dirty="0">
                <a:solidFill>
                  <a:schemeClr val="bg1"/>
                </a:solidFill>
              </a:rPr>
              <a:t>1920 x 1080 full screen window</a:t>
            </a:r>
            <a:endParaRPr lang="en-US" sz="1400" dirty="0"/>
          </a:p>
        </p:txBody>
      </p:sp>
      <p:sp>
        <p:nvSpPr>
          <p:cNvPr id="5" name="Default size"/>
          <p:cNvSpPr/>
          <p:nvPr/>
        </p:nvSpPr>
        <p:spPr>
          <a:xfrm>
            <a:off x="6263640" y="1554480"/>
            <a:ext cx="2809037" cy="2106778"/>
          </a:xfrm>
          <a:prstGeom prst="rect">
            <a:avLst/>
          </a:prstGeom>
          <a:solidFill>
            <a:schemeClr val="accent2"/>
          </a:solidFill>
          <a:ln w="19050">
            <a:solidFill>
              <a:schemeClr val="tx2"/>
            </a:solidFill>
            <a:prstDash val="solid"/>
          </a:ln>
        </p:spPr>
      </p:sp>
      <p:sp>
        <p:nvSpPr>
          <p:cNvPr id="6" name="Default size text"/>
          <p:cNvSpPr txBox="1"/>
          <p:nvPr/>
        </p:nvSpPr>
        <p:spPr>
          <a:xfrm>
            <a:off x="6263640" y="1554480"/>
            <a:ext cx="2809037" cy="2106778"/>
          </a:xfrm>
          <a:prstGeom prst="rect">
            <a:avLst/>
          </a:prstGeom>
          <a:noFill/>
          <a:ln/>
        </p:spPr>
        <p:txBody>
          <a:bodyPr wrap="square" lIns="635" tIns="635" rIns="635" bIns="635" rtlCol="0" anchor="ctr"/>
          <a:lstStyle/>
          <a:p>
            <a:pPr algn="ctr" indent="0" marL="0">
              <a:buNone/>
            </a:pPr>
            <a:r>
              <a:rPr lang="en-US" sz="1400" b="1" dirty="0">
                <a:solidFill>
                  <a:schemeClr val="bg1"/>
                </a:solidFill>
              </a:rPr>
              <a:t>Default and largest window</a:t>
            </a:r>
            <a:endParaRPr lang="en-US" sz="1400" dirty="0"/>
          </a:p>
          <a:p>
            <a:pPr algn="ctr" indent="0" marL="0">
              <a:buNone/>
            </a:pPr>
            <a:r>
              <a:rPr lang="en-US" sz="1400" b="1" dirty="0">
                <a:solidFill>
                  <a:schemeClr val="bg1"/>
                </a:solidFill>
              </a:rPr>
              <a:t>1024 x 768</a:t>
            </a:r>
            <a:endParaRPr lang="en-US" sz="1400" dirty="0"/>
          </a:p>
        </p:txBody>
      </p:sp>
      <p:sp>
        <p:nvSpPr>
          <p:cNvPr id="7" name="Min size"/>
          <p:cNvSpPr/>
          <p:nvPr/>
        </p:nvSpPr>
        <p:spPr>
          <a:xfrm>
            <a:off x="9438437" y="1554480"/>
            <a:ext cx="2194560" cy="1645920"/>
          </a:xfrm>
          <a:prstGeom prst="rect">
            <a:avLst/>
          </a:prstGeom>
          <a:solidFill>
            <a:schemeClr val="accent1"/>
          </a:solidFill>
          <a:ln w="19050">
            <a:solidFill>
              <a:schemeClr val="tx2"/>
            </a:solidFill>
            <a:prstDash val="solid"/>
          </a:ln>
        </p:spPr>
      </p:sp>
      <p:sp>
        <p:nvSpPr>
          <p:cNvPr id="8" name="Min size text"/>
          <p:cNvSpPr txBox="1"/>
          <p:nvPr/>
        </p:nvSpPr>
        <p:spPr>
          <a:xfrm>
            <a:off x="9438437" y="1554480"/>
            <a:ext cx="2194560" cy="1645920"/>
          </a:xfrm>
          <a:prstGeom prst="rect">
            <a:avLst/>
          </a:prstGeom>
          <a:noFill/>
          <a:ln/>
        </p:spPr>
        <p:txBody>
          <a:bodyPr wrap="square" lIns="635" tIns="635" rIns="635" bIns="635" rtlCol="0" anchor="ctr"/>
          <a:lstStyle/>
          <a:p>
            <a:pPr algn="ctr" indent="0" marL="0">
              <a:buNone/>
            </a:pPr>
            <a:r>
              <a:rPr lang="en-US" sz="1400" b="1" dirty="0">
                <a:solidFill>
                  <a:schemeClr val="tx2"/>
                </a:solidFill>
              </a:rPr>
              <a:t>Smallest window</a:t>
            </a:r>
            <a:endParaRPr lang="en-US" sz="1400" dirty="0"/>
          </a:p>
          <a:p>
            <a:pPr algn="ctr" indent="0" marL="0">
              <a:buNone/>
            </a:pPr>
            <a:r>
              <a:rPr lang="en-US" sz="1400" b="1" dirty="0">
                <a:solidFill>
                  <a:schemeClr val="tx2"/>
                </a:solidFill>
              </a:rPr>
              <a:t>800 x 600</a:t>
            </a:r>
            <a:endParaRPr lang="en-US" sz="1400" dirty="0"/>
          </a:p>
        </p:txBody>
      </p:sp>
      <p:sp>
        <p:nvSpPr>
          <p:cNvPr id="9" name="Size list"/>
          <p:cNvSpPr txBox="1"/>
          <p:nvPr/>
        </p:nvSpPr>
        <p:spPr>
          <a:xfrm>
            <a:off x="548640" y="489204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In a window the game can be 800 x 600 up to 1024 x 768; if dragged outside, it snaps back</a:t>
            </a:r>
            <a:endParaRPr lang="en-US" sz="1600" dirty="0"/>
          </a:p>
          <a:p>
            <a:pPr marL="342900" indent="-342900">
              <a:spcAft>
                <a:spcPts val="800"/>
              </a:spcAft>
              <a:buSzPct val="100000"/>
              <a:buChar char="•"/>
            </a:pPr>
            <a:r>
              <a:rPr lang="en-US" sz="1600" dirty="0">
                <a:solidFill>
                  <a:schemeClr val="tx1"/>
                </a:solidFill>
              </a:rPr>
              <a:t>Pressing Maximize switches to a 1920 x 1080 full screen window; Alt+Enter returns to the 1024 x 768 window</a:t>
            </a:r>
            <a:endParaRPr lang="en-US" sz="1600" dirty="0"/>
          </a:p>
          <a:p>
            <a:pPr marL="342900" indent="-342900">
              <a:spcAft>
                <a:spcPts val="800"/>
              </a:spcAft>
              <a:buSzPct val="100000"/>
              <a:buChar char="•"/>
            </a:pPr>
            <a:r>
              <a:rPr lang="en-US" sz="1600" dirty="0">
                <a:solidFill>
                  <a:schemeClr val="tx1"/>
                </a:solidFill>
              </a:rPr>
              <a:t>Every screen is designed in 16:9, so in a 4:3 window it is letterboxed with dark bars and nothing overlaps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Where the project stands</a:t>
            </a:r>
            <a:endParaRPr lang="en-US" sz="3400" dirty="0"/>
          </a:p>
        </p:txBody>
      </p:sp>
      <p:sp>
        <p:nvSpPr>
          <p:cNvPr id="3" name="Done card"/>
          <p:cNvSpPr/>
          <p:nvPr/>
        </p:nvSpPr>
        <p:spPr>
          <a:xfrm>
            <a:off x="548640" y="1463040"/>
            <a:ext cx="5486400" cy="4114800"/>
          </a:xfrm>
          <a:prstGeom prst="roundRect">
            <a:avLst>
              <a:gd name="adj" fmla="val 3333"/>
            </a:avLst>
          </a:prstGeom>
          <a:solidFill>
            <a:schemeClr val="bg2"/>
          </a:solidFill>
          <a:ln w="12700">
            <a:solidFill>
              <a:schemeClr val="bg2"/>
            </a:solidFill>
            <a:prstDash val="solid"/>
          </a:ln>
        </p:spPr>
      </p:sp>
      <p:sp>
        <p:nvSpPr>
          <p:cNvPr id="4" name="Done circle"/>
          <p:cNvSpPr/>
          <p:nvPr/>
        </p:nvSpPr>
        <p:spPr>
          <a:xfrm>
            <a:off x="822960" y="1691640"/>
            <a:ext cx="640080" cy="640080"/>
          </a:xfrm>
          <a:prstGeom prst="ellipse">
            <a:avLst/>
          </a:prstGeom>
          <a:solidFill>
            <a:schemeClr val="accent2"/>
          </a:solidFill>
          <a:ln w="12700">
            <a:solidFill>
              <a:schemeClr val="accent2"/>
            </a:solidFill>
            <a:prstDash val="solid"/>
          </a:ln>
        </p:spPr>
      </p:sp>
      <p:pic>
        <p:nvPicPr>
          <p:cNvPr id="5" name="Done icon" descr="Done">    </p:cNvPr>
          <p:cNvPicPr>
            <a:picLocks noChangeAspect="1"/>
          </p:cNvPicPr>
          <p:nvPr/>
        </p:nvPicPr>
        <p:blipFill>
          <a:blip r:embed="rId1"/>
          <a:stretch>
            <a:fillRect/>
          </a:stretch>
        </p:blipFill>
        <p:spPr>
          <a:xfrm>
            <a:off x="995782" y="1864462"/>
            <a:ext cx="294437" cy="294437"/>
          </a:xfrm>
          <a:prstGeom prst="rect">
            <a:avLst/>
          </a:prstGeom>
        </p:spPr>
      </p:pic>
      <p:sp>
        <p:nvSpPr>
          <p:cNvPr id="6" name="Done title"/>
          <p:cNvSpPr txBox="1"/>
          <p:nvPr/>
        </p:nvSpPr>
        <p:spPr>
          <a:xfrm>
            <a:off x="1645920" y="1691640"/>
            <a:ext cx="4206240" cy="640080"/>
          </a:xfrm>
          <a:prstGeom prst="rect">
            <a:avLst/>
          </a:prstGeom>
          <a:noFill/>
          <a:ln/>
        </p:spPr>
        <p:txBody>
          <a:bodyPr wrap="square" lIns="0" tIns="0" rIns="0" bIns="0" rtlCol="0" anchor="ctr"/>
          <a:lstStyle/>
          <a:p>
            <a:pPr indent="0" marL="0">
              <a:buNone/>
            </a:pPr>
            <a:r>
              <a:rPr lang="en-US" sz="2200" b="1" dirty="0">
                <a:solidFill>
                  <a:schemeClr val="tx1"/>
                </a:solidFill>
              </a:rPr>
              <a:t>Working today</a:t>
            </a:r>
            <a:endParaRPr lang="en-US" sz="2200" dirty="0"/>
          </a:p>
        </p:txBody>
      </p:sp>
      <p:sp>
        <p:nvSpPr>
          <p:cNvPr id="7" name="Done list"/>
          <p:cNvSpPr txBox="1"/>
          <p:nvPr/>
        </p:nvSpPr>
        <p:spPr>
          <a:xfrm>
            <a:off x="868680" y="251460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Main menu, language hub, gear settings and Profile</a:t>
            </a:r>
            <a:endParaRPr lang="en-US" sz="1600" dirty="0"/>
          </a:p>
          <a:p>
            <a:pPr marL="342900" indent="-342900">
              <a:spcAft>
                <a:spcPts val="800"/>
              </a:spcAft>
              <a:buSzPct val="100000"/>
              <a:buChar char="•"/>
            </a:pPr>
            <a:r>
              <a:rPr lang="en-US" sz="1600" dirty="0">
                <a:solidFill>
                  <a:schemeClr val="tx1"/>
                </a:solidFill>
              </a:rPr>
              <a:t>Wordle, Crossword and Word Search in 3 languages</a:t>
            </a:r>
            <a:endParaRPr lang="en-US" sz="1600" dirty="0"/>
          </a:p>
          <a:p>
            <a:pPr marL="342900" indent="-342900">
              <a:spcAft>
                <a:spcPts val="800"/>
              </a:spcAft>
              <a:buSzPct val="100000"/>
              <a:buChar char="•"/>
            </a:pPr>
            <a:r>
              <a:rPr lang="en-US" sz="1600" dirty="0">
                <a:solidFill>
                  <a:schemeClr val="tx1"/>
                </a:solidFill>
              </a:rPr>
              <a:t>Learn cards, Phrasebook and Sentence builder</a:t>
            </a:r>
            <a:endParaRPr lang="en-US" sz="1600" dirty="0"/>
          </a:p>
          <a:p>
            <a:pPr marL="342900" indent="-342900">
              <a:spcAft>
                <a:spcPts val="800"/>
              </a:spcAft>
              <a:buSzPct val="100000"/>
              <a:buChar char="•"/>
            </a:pPr>
            <a:r>
              <a:rPr lang="en-US" sz="1600" dirty="0">
                <a:solidFill>
                  <a:schemeClr val="tx1"/>
                </a:solidFill>
              </a:rPr>
              <a:t>Library dictionary with search and favorites</a:t>
            </a:r>
            <a:endParaRPr lang="en-US" sz="1600" dirty="0"/>
          </a:p>
          <a:p>
            <a:pPr marL="342900" indent="-342900">
              <a:spcAft>
                <a:spcPts val="800"/>
              </a:spcAft>
              <a:buSzPct val="100000"/>
              <a:buChar char="•"/>
            </a:pPr>
            <a:r>
              <a:rPr lang="en-US" sz="1600" dirty="0">
                <a:solidFill>
                  <a:schemeClr val="tx1"/>
                </a:solidFill>
              </a:rPr>
              <a:t>Music, sound effects and button sounds</a:t>
            </a:r>
            <a:endParaRPr lang="en-US" sz="1600" dirty="0"/>
          </a:p>
          <a:p>
            <a:pPr marL="342900" indent="-342900">
              <a:spcAft>
                <a:spcPts val="800"/>
              </a:spcAft>
              <a:buSzPct val="100000"/>
              <a:buChar char="•"/>
            </a:pPr>
            <a:r>
              <a:rPr lang="en-US" sz="1600" dirty="0">
                <a:solidFill>
                  <a:schemeClr val="tx1"/>
                </a:solidFill>
              </a:rPr>
              <a:t>Window limits and 1920 x 1080 maximize</a:t>
            </a:r>
            <a:endParaRPr lang="en-US" sz="1600" dirty="0"/>
          </a:p>
        </p:txBody>
      </p:sp>
      <p:sp>
        <p:nvSpPr>
          <p:cNvPr id="8" name="Open card"/>
          <p:cNvSpPr/>
          <p:nvPr/>
        </p:nvSpPr>
        <p:spPr>
          <a:xfrm>
            <a:off x="6309360" y="1463040"/>
            <a:ext cx="5303520" cy="4114800"/>
          </a:xfrm>
          <a:prstGeom prst="roundRect">
            <a:avLst>
              <a:gd name="adj" fmla="val 3333"/>
            </a:avLst>
          </a:prstGeom>
          <a:solidFill>
            <a:schemeClr val="bg2"/>
          </a:solidFill>
          <a:ln w="12700">
            <a:solidFill>
              <a:schemeClr val="bg2"/>
            </a:solidFill>
            <a:prstDash val="solid"/>
          </a:ln>
        </p:spPr>
      </p:sp>
      <p:sp>
        <p:nvSpPr>
          <p:cNvPr id="9" name="Open circle"/>
          <p:cNvSpPr/>
          <p:nvPr/>
        </p:nvSpPr>
        <p:spPr>
          <a:xfrm>
            <a:off x="6583680" y="1691640"/>
            <a:ext cx="640080" cy="640080"/>
          </a:xfrm>
          <a:prstGeom prst="ellipse">
            <a:avLst/>
          </a:prstGeom>
          <a:solidFill>
            <a:schemeClr val="accent4"/>
          </a:solidFill>
          <a:ln w="12700">
            <a:solidFill>
              <a:schemeClr val="accent4"/>
            </a:solidFill>
            <a:prstDash val="solid"/>
          </a:ln>
        </p:spPr>
      </p:sp>
      <p:pic>
        <p:nvPicPr>
          <p:cNvPr id="10" name="Open icon" descr="Open">    </p:cNvPr>
          <p:cNvPicPr>
            <a:picLocks noChangeAspect="1"/>
          </p:cNvPicPr>
          <p:nvPr/>
        </p:nvPicPr>
        <p:blipFill>
          <a:blip r:embed="rId2"/>
          <a:stretch>
            <a:fillRect/>
          </a:stretch>
        </p:blipFill>
        <p:spPr>
          <a:xfrm>
            <a:off x="6756502" y="1864462"/>
            <a:ext cx="294437" cy="294437"/>
          </a:xfrm>
          <a:prstGeom prst="rect">
            <a:avLst/>
          </a:prstGeom>
        </p:spPr>
      </p:pic>
      <p:sp>
        <p:nvSpPr>
          <p:cNvPr id="11" name="Open title"/>
          <p:cNvSpPr txBox="1"/>
          <p:nvPr/>
        </p:nvSpPr>
        <p:spPr>
          <a:xfrm>
            <a:off x="7406640" y="1691640"/>
            <a:ext cx="4023360" cy="640080"/>
          </a:xfrm>
          <a:prstGeom prst="rect">
            <a:avLst/>
          </a:prstGeom>
          <a:noFill/>
          <a:ln/>
        </p:spPr>
        <p:txBody>
          <a:bodyPr wrap="square" lIns="0" tIns="0" rIns="0" bIns="0" rtlCol="0" anchor="ctr"/>
          <a:lstStyle/>
          <a:p>
            <a:pPr indent="0" marL="0">
              <a:buNone/>
            </a:pPr>
            <a:r>
              <a:rPr lang="en-US" sz="2200" b="1" dirty="0">
                <a:solidFill>
                  <a:schemeClr val="tx1"/>
                </a:solidFill>
              </a:rPr>
              <a:t>Still open</a:t>
            </a:r>
            <a:endParaRPr lang="en-US" sz="2200" dirty="0"/>
          </a:p>
        </p:txBody>
      </p:sp>
      <p:sp>
        <p:nvSpPr>
          <p:cNvPr id="12" name="Open list"/>
          <p:cNvSpPr txBox="1"/>
          <p:nvPr/>
        </p:nvSpPr>
        <p:spPr>
          <a:xfrm>
            <a:off x="6629400" y="2514600"/>
            <a:ext cx="475488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Native-speaker review of words and phrases</a:t>
            </a:r>
            <a:endParaRPr lang="en-US" sz="1600" dirty="0"/>
          </a:p>
          <a:p>
            <a:pPr marL="342900" indent="-342900">
              <a:spcAft>
                <a:spcPts val="800"/>
              </a:spcAft>
              <a:buSzPct val="100000"/>
              <a:buChar char="•"/>
            </a:pPr>
            <a:r>
              <a:rPr lang="en-US" sz="1600" dirty="0">
                <a:solidFill>
                  <a:schemeClr val="tx1"/>
                </a:solidFill>
              </a:rPr>
              <a:t>Voice recordings for Tap to hear (551 words)</a:t>
            </a:r>
            <a:endParaRPr lang="en-US" sz="1600" dirty="0"/>
          </a:p>
          <a:p>
            <a:pPr marL="342900" indent="-342900">
              <a:spcAft>
                <a:spcPts val="800"/>
              </a:spcAft>
              <a:buSzPct val="100000"/>
              <a:buChar char="•"/>
            </a:pPr>
            <a:r>
              <a:rPr lang="en-US" sz="1600" dirty="0">
                <a:solidFill>
                  <a:schemeClr val="tx1"/>
                </a:solidFill>
              </a:rPr>
              <a:t>Test the maximize behaviour in a built .exe</a:t>
            </a:r>
            <a:endParaRPr lang="en-US" sz="1600" dirty="0"/>
          </a:p>
          <a:p>
            <a:pPr marL="342900" indent="-342900">
              <a:spcAft>
                <a:spcPts val="800"/>
              </a:spcAft>
              <a:buSzPct val="100000"/>
              <a:buChar char="•"/>
            </a:pPr>
            <a:r>
              <a:rPr lang="en-US" sz="1600" dirty="0">
                <a:solidFill>
                  <a:schemeClr val="tx1"/>
                </a:solidFill>
              </a:rPr>
              <a:t>Sound effects for game events (win, wrong letter)</a:t>
            </a:r>
            <a:endParaRPr lang="en-US" sz="1600" dirty="0"/>
          </a:p>
          <a:p>
            <a:pPr marL="342900" indent="-342900">
              <a:spcAft>
                <a:spcPts val="800"/>
              </a:spcAft>
              <a:buSzPct val="100000"/>
              <a:buChar char="•"/>
            </a:pPr>
            <a:r>
              <a:rPr lang="en-US" sz="1600" dirty="0">
                <a:solidFill>
                  <a:schemeClr val="tx1"/>
                </a:solidFill>
              </a:rPr>
              <a:t>More levels and difficulty per language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Roadmap: next steps</a:t>
            </a:r>
            <a:endParaRPr lang="en-US" sz="3400" dirty="0"/>
          </a:p>
        </p:txBody>
      </p:sp>
      <p:sp>
        <p:nvSpPr>
          <p:cNvPr id="3" name="Road tile 1"/>
          <p:cNvSpPr/>
          <p:nvPr/>
        </p:nvSpPr>
        <p:spPr>
          <a:xfrm>
            <a:off x="731520" y="1783080"/>
            <a:ext cx="914400" cy="914400"/>
          </a:xfrm>
          <a:prstGeom prst="roundRect">
            <a:avLst>
              <a:gd name="adj" fmla="val 12000"/>
            </a:avLst>
          </a:prstGeom>
          <a:solidFill>
            <a:schemeClr val="accent4"/>
          </a:solidFill>
          <a:ln w="12700">
            <a:solidFill>
              <a:schemeClr val="accent4"/>
            </a:solidFill>
            <a:prstDash val="solid"/>
          </a:ln>
        </p:spPr>
      </p:sp>
      <p:sp>
        <p:nvSpPr>
          <p:cNvPr id="4" name="Road tile 1 letter"/>
          <p:cNvSpPr txBox="1"/>
          <p:nvPr/>
        </p:nvSpPr>
        <p:spPr>
          <a:xfrm>
            <a:off x="731520" y="17830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1</a:t>
            </a:r>
            <a:endParaRPr lang="en-US" sz="4600" dirty="0"/>
          </a:p>
        </p:txBody>
      </p:sp>
      <p:sp>
        <p:nvSpPr>
          <p:cNvPr id="5" name="Road when 1"/>
          <p:cNvSpPr txBox="1"/>
          <p:nvPr/>
        </p:nvSpPr>
        <p:spPr>
          <a:xfrm>
            <a:off x="1783080" y="1874520"/>
            <a:ext cx="1280160" cy="73152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Now</a:t>
            </a:r>
            <a:endParaRPr lang="en-US" sz="2000" dirty="0"/>
          </a:p>
        </p:txBody>
      </p:sp>
      <p:sp>
        <p:nvSpPr>
          <p:cNvPr id="6" name="Road card 1"/>
          <p:cNvSpPr/>
          <p:nvPr/>
        </p:nvSpPr>
        <p:spPr>
          <a:xfrm>
            <a:off x="548640" y="3017520"/>
            <a:ext cx="2651760" cy="2377440"/>
          </a:xfrm>
          <a:prstGeom prst="roundRect">
            <a:avLst>
              <a:gd name="adj" fmla="val 5769"/>
            </a:avLst>
          </a:prstGeom>
          <a:solidFill>
            <a:schemeClr val="bg2"/>
          </a:solidFill>
          <a:ln w="12700">
            <a:solidFill>
              <a:schemeClr val="bg2"/>
            </a:solidFill>
            <a:prstDash val="solid"/>
          </a:ln>
        </p:spPr>
      </p:sp>
      <p:sp>
        <p:nvSpPr>
          <p:cNvPr id="7" name="Road title 1"/>
          <p:cNvSpPr txBox="1"/>
          <p:nvPr/>
        </p:nvSpPr>
        <p:spPr>
          <a:xfrm>
            <a:off x="777240" y="3200400"/>
            <a:ext cx="2194560" cy="457200"/>
          </a:xfrm>
          <a:prstGeom prst="rect">
            <a:avLst/>
          </a:prstGeom>
          <a:noFill/>
          <a:ln/>
        </p:spPr>
        <p:txBody>
          <a:bodyPr wrap="square" lIns="0" tIns="0" rIns="0" bIns="0" rtlCol="0" anchor="t"/>
          <a:lstStyle/>
          <a:p>
            <a:pPr indent="0" marL="0">
              <a:buNone/>
            </a:pPr>
            <a:r>
              <a:rPr lang="en-US" sz="1900" b="1" dirty="0">
                <a:solidFill>
                  <a:schemeClr val="tx1"/>
                </a:solidFill>
              </a:rPr>
              <a:t>Review and fix</a:t>
            </a:r>
            <a:endParaRPr lang="en-US" sz="1900" dirty="0"/>
          </a:p>
        </p:txBody>
      </p:sp>
      <p:sp>
        <p:nvSpPr>
          <p:cNvPr id="8" name="Road text 1"/>
          <p:cNvSpPr txBox="1"/>
          <p:nvPr/>
        </p:nvSpPr>
        <p:spPr>
          <a:xfrm>
            <a:off x="777240" y="3749040"/>
            <a:ext cx="2194560" cy="1828800"/>
          </a:xfrm>
          <a:prstGeom prst="rect">
            <a:avLst/>
          </a:prstGeom>
          <a:noFill/>
          <a:ln/>
        </p:spPr>
        <p:txBody>
          <a:bodyPr wrap="square" lIns="0" tIns="0" rIns="0" bIns="0" rtlCol="0" anchor="t"/>
          <a:lstStyle/>
          <a:p>
            <a:pPr indent="0" marL="0">
              <a:buNone/>
            </a:pPr>
            <a:r>
              <a:rPr lang="en-US" sz="1500" dirty="0">
                <a:solidFill>
                  <a:schemeClr val="tx1"/>
                </a:solidFill>
              </a:rPr>
              <a:t>Native speakers check the 133 words and 53 phrases per language; test a Windows build</a:t>
            </a:r>
            <a:endParaRPr lang="en-US" sz="1500" dirty="0"/>
          </a:p>
        </p:txBody>
      </p:sp>
      <p:sp>
        <p:nvSpPr>
          <p:cNvPr id="9" name="Road tile 2"/>
          <p:cNvSpPr/>
          <p:nvPr/>
        </p:nvSpPr>
        <p:spPr>
          <a:xfrm>
            <a:off x="3566160" y="1783080"/>
            <a:ext cx="914400" cy="914400"/>
          </a:xfrm>
          <a:prstGeom prst="roundRect">
            <a:avLst>
              <a:gd name="adj" fmla="val 12000"/>
            </a:avLst>
          </a:prstGeom>
          <a:solidFill>
            <a:schemeClr val="accent3"/>
          </a:solidFill>
          <a:ln w="12700">
            <a:solidFill>
              <a:schemeClr val="accent3"/>
            </a:solidFill>
            <a:prstDash val="solid"/>
          </a:ln>
        </p:spPr>
      </p:sp>
      <p:sp>
        <p:nvSpPr>
          <p:cNvPr id="10" name="Road tile 2 letter"/>
          <p:cNvSpPr txBox="1"/>
          <p:nvPr/>
        </p:nvSpPr>
        <p:spPr>
          <a:xfrm>
            <a:off x="3566160" y="17830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2</a:t>
            </a:r>
            <a:endParaRPr lang="en-US" sz="4600" dirty="0"/>
          </a:p>
        </p:txBody>
      </p:sp>
      <p:sp>
        <p:nvSpPr>
          <p:cNvPr id="11" name="Road when 2"/>
          <p:cNvSpPr txBox="1"/>
          <p:nvPr/>
        </p:nvSpPr>
        <p:spPr>
          <a:xfrm>
            <a:off x="4617720" y="1874520"/>
            <a:ext cx="1280160" cy="731520"/>
          </a:xfrm>
          <a:prstGeom prst="rect">
            <a:avLst/>
          </a:prstGeom>
          <a:noFill/>
          <a:ln/>
        </p:spPr>
        <p:txBody>
          <a:bodyPr wrap="square" lIns="0" tIns="0" rIns="0" bIns="0" rtlCol="0" anchor="ctr"/>
          <a:lstStyle/>
          <a:p>
            <a:pPr indent="0" marL="0">
              <a:buNone/>
            </a:pPr>
            <a:r>
              <a:rPr lang="en-US" sz="2000" b="1" dirty="0">
                <a:solidFill>
                  <a:schemeClr val="accent3"/>
                </a:solidFill>
                <a:latin typeface="Cambria" pitchFamily="34" charset="0"/>
                <a:ea typeface="Cambria" pitchFamily="34" charset="-122"/>
                <a:cs typeface="Cambria" pitchFamily="34" charset="-120"/>
              </a:rPr>
              <a:t>Next</a:t>
            </a:r>
            <a:endParaRPr lang="en-US" sz="2000" dirty="0"/>
          </a:p>
        </p:txBody>
      </p:sp>
      <p:sp>
        <p:nvSpPr>
          <p:cNvPr id="12" name="Road card 2"/>
          <p:cNvSpPr/>
          <p:nvPr/>
        </p:nvSpPr>
        <p:spPr>
          <a:xfrm>
            <a:off x="3383280" y="3017520"/>
            <a:ext cx="2651760" cy="2377440"/>
          </a:xfrm>
          <a:prstGeom prst="roundRect">
            <a:avLst>
              <a:gd name="adj" fmla="val 5769"/>
            </a:avLst>
          </a:prstGeom>
          <a:solidFill>
            <a:schemeClr val="bg2"/>
          </a:solidFill>
          <a:ln w="12700">
            <a:solidFill>
              <a:schemeClr val="bg2"/>
            </a:solidFill>
            <a:prstDash val="solid"/>
          </a:ln>
        </p:spPr>
      </p:sp>
      <p:sp>
        <p:nvSpPr>
          <p:cNvPr id="13" name="Road title 2"/>
          <p:cNvSpPr txBox="1"/>
          <p:nvPr/>
        </p:nvSpPr>
        <p:spPr>
          <a:xfrm>
            <a:off x="3611880" y="3200400"/>
            <a:ext cx="2194560" cy="457200"/>
          </a:xfrm>
          <a:prstGeom prst="rect">
            <a:avLst/>
          </a:prstGeom>
          <a:noFill/>
          <a:ln/>
        </p:spPr>
        <p:txBody>
          <a:bodyPr wrap="square" lIns="0" tIns="0" rIns="0" bIns="0" rtlCol="0" anchor="t"/>
          <a:lstStyle/>
          <a:p>
            <a:pPr indent="0" marL="0">
              <a:buNone/>
            </a:pPr>
            <a:r>
              <a:rPr lang="en-US" sz="1900" b="1" dirty="0">
                <a:solidFill>
                  <a:schemeClr val="tx1"/>
                </a:solidFill>
              </a:rPr>
              <a:t>Make it speak</a:t>
            </a:r>
            <a:endParaRPr lang="en-US" sz="1900" dirty="0"/>
          </a:p>
        </p:txBody>
      </p:sp>
      <p:sp>
        <p:nvSpPr>
          <p:cNvPr id="14" name="Road text 2"/>
          <p:cNvSpPr txBox="1"/>
          <p:nvPr/>
        </p:nvSpPr>
        <p:spPr>
          <a:xfrm>
            <a:off x="3611880" y="3749040"/>
            <a:ext cx="2194560" cy="1828800"/>
          </a:xfrm>
          <a:prstGeom prst="rect">
            <a:avLst/>
          </a:prstGeom>
          <a:noFill/>
          <a:ln/>
        </p:spPr>
        <p:txBody>
          <a:bodyPr wrap="square" lIns="0" tIns="0" rIns="0" bIns="0" rtlCol="0" anchor="t"/>
          <a:lstStyle/>
          <a:p>
            <a:pPr indent="0" marL="0">
              <a:buNone/>
            </a:pPr>
            <a:r>
              <a:rPr lang="en-US" sz="1500" dirty="0">
                <a:solidFill>
                  <a:schemeClr val="tx1"/>
                </a:solidFill>
              </a:rPr>
              <a:t>Record or generate audio for the word list and switch Tap to hear on</a:t>
            </a:r>
            <a:endParaRPr lang="en-US" sz="1500" dirty="0"/>
          </a:p>
        </p:txBody>
      </p:sp>
      <p:sp>
        <p:nvSpPr>
          <p:cNvPr id="15" name="Road tile 3"/>
          <p:cNvSpPr/>
          <p:nvPr/>
        </p:nvSpPr>
        <p:spPr>
          <a:xfrm>
            <a:off x="6400800" y="1783080"/>
            <a:ext cx="914400" cy="914400"/>
          </a:xfrm>
          <a:prstGeom prst="roundRect">
            <a:avLst>
              <a:gd name="adj" fmla="val 12000"/>
            </a:avLst>
          </a:prstGeom>
          <a:solidFill>
            <a:schemeClr val="accent2"/>
          </a:solidFill>
          <a:ln w="12700">
            <a:solidFill>
              <a:schemeClr val="accent2"/>
            </a:solidFill>
            <a:prstDash val="solid"/>
          </a:ln>
        </p:spPr>
      </p:sp>
      <p:sp>
        <p:nvSpPr>
          <p:cNvPr id="16" name="Road tile 3 letter"/>
          <p:cNvSpPr txBox="1"/>
          <p:nvPr/>
        </p:nvSpPr>
        <p:spPr>
          <a:xfrm>
            <a:off x="6400800" y="17830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3</a:t>
            </a:r>
            <a:endParaRPr lang="en-US" sz="4600" dirty="0"/>
          </a:p>
        </p:txBody>
      </p:sp>
      <p:sp>
        <p:nvSpPr>
          <p:cNvPr id="17" name="Road when 3"/>
          <p:cNvSpPr txBox="1"/>
          <p:nvPr/>
        </p:nvSpPr>
        <p:spPr>
          <a:xfrm>
            <a:off x="7452360" y="1874520"/>
            <a:ext cx="1280160" cy="73152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Then</a:t>
            </a:r>
            <a:endParaRPr lang="en-US" sz="2000" dirty="0"/>
          </a:p>
        </p:txBody>
      </p:sp>
      <p:sp>
        <p:nvSpPr>
          <p:cNvPr id="18" name="Road card 3"/>
          <p:cNvSpPr/>
          <p:nvPr/>
        </p:nvSpPr>
        <p:spPr>
          <a:xfrm>
            <a:off x="6217920" y="3017520"/>
            <a:ext cx="2651760" cy="2377440"/>
          </a:xfrm>
          <a:prstGeom prst="roundRect">
            <a:avLst>
              <a:gd name="adj" fmla="val 5769"/>
            </a:avLst>
          </a:prstGeom>
          <a:solidFill>
            <a:schemeClr val="bg2"/>
          </a:solidFill>
          <a:ln w="12700">
            <a:solidFill>
              <a:schemeClr val="bg2"/>
            </a:solidFill>
            <a:prstDash val="solid"/>
          </a:ln>
        </p:spPr>
      </p:sp>
      <p:sp>
        <p:nvSpPr>
          <p:cNvPr id="19" name="Road title 3"/>
          <p:cNvSpPr txBox="1"/>
          <p:nvPr/>
        </p:nvSpPr>
        <p:spPr>
          <a:xfrm>
            <a:off x="6446520" y="3200400"/>
            <a:ext cx="2194560" cy="457200"/>
          </a:xfrm>
          <a:prstGeom prst="rect">
            <a:avLst/>
          </a:prstGeom>
          <a:noFill/>
          <a:ln/>
        </p:spPr>
        <p:txBody>
          <a:bodyPr wrap="square" lIns="0" tIns="0" rIns="0" bIns="0" rtlCol="0" anchor="t"/>
          <a:lstStyle/>
          <a:p>
            <a:pPr indent="0" marL="0">
              <a:buNone/>
            </a:pPr>
            <a:r>
              <a:rPr lang="en-US" sz="1900" b="1" dirty="0">
                <a:solidFill>
                  <a:schemeClr val="tx1"/>
                </a:solidFill>
              </a:rPr>
              <a:t>Make it grow</a:t>
            </a:r>
            <a:endParaRPr lang="en-US" sz="1900" dirty="0"/>
          </a:p>
        </p:txBody>
      </p:sp>
      <p:sp>
        <p:nvSpPr>
          <p:cNvPr id="20" name="Road text 3"/>
          <p:cNvSpPr txBox="1"/>
          <p:nvPr/>
        </p:nvSpPr>
        <p:spPr>
          <a:xfrm>
            <a:off x="6446520" y="3749040"/>
            <a:ext cx="2194560" cy="1828800"/>
          </a:xfrm>
          <a:prstGeom prst="rect">
            <a:avLst/>
          </a:prstGeom>
          <a:noFill/>
          <a:ln/>
        </p:spPr>
        <p:txBody>
          <a:bodyPr wrap="square" lIns="0" tIns="0" rIns="0" bIns="0" rtlCol="0" anchor="t"/>
          <a:lstStyle/>
          <a:p>
            <a:pPr indent="0" marL="0">
              <a:buNone/>
            </a:pPr>
            <a:r>
              <a:rPr lang="en-US" sz="1500" dirty="0">
                <a:solidFill>
                  <a:schemeClr val="tx1"/>
                </a:solidFill>
              </a:rPr>
              <a:t>More levels and topics, review of missed words, event sound effects</a:t>
            </a:r>
            <a:endParaRPr lang="en-US" sz="1500" dirty="0"/>
          </a:p>
        </p:txBody>
      </p:sp>
      <p:sp>
        <p:nvSpPr>
          <p:cNvPr id="21" name="Road tile 4"/>
          <p:cNvSpPr/>
          <p:nvPr/>
        </p:nvSpPr>
        <p:spPr>
          <a:xfrm>
            <a:off x="9235440" y="1783080"/>
            <a:ext cx="914400" cy="914400"/>
          </a:xfrm>
          <a:prstGeom prst="roundRect">
            <a:avLst>
              <a:gd name="adj" fmla="val 12000"/>
            </a:avLst>
          </a:prstGeom>
          <a:solidFill>
            <a:schemeClr val="accent5"/>
          </a:solidFill>
          <a:ln w="12700">
            <a:solidFill>
              <a:schemeClr val="accent5"/>
            </a:solidFill>
            <a:prstDash val="solid"/>
          </a:ln>
        </p:spPr>
      </p:sp>
      <p:sp>
        <p:nvSpPr>
          <p:cNvPr id="22" name="Road tile 4 letter"/>
          <p:cNvSpPr txBox="1"/>
          <p:nvPr/>
        </p:nvSpPr>
        <p:spPr>
          <a:xfrm>
            <a:off x="9235440" y="1783080"/>
            <a:ext cx="914400" cy="914400"/>
          </a:xfrm>
          <a:prstGeom prst="rect">
            <a:avLst/>
          </a:prstGeom>
          <a:noFill/>
          <a:ln/>
        </p:spPr>
        <p:txBody>
          <a:bodyPr wrap="square" lIns="0" tIns="0" rIns="0" bIns="0" rtlCol="0" anchor="ctr"/>
          <a:lstStyle/>
          <a:p>
            <a:pPr algn="ctr" indent="0" marL="0">
              <a:buNone/>
            </a:pPr>
            <a:r>
              <a:rPr lang="en-US" sz="4600" b="1" dirty="0">
                <a:solidFill>
                  <a:schemeClr val="bg1"/>
                </a:solidFill>
              </a:rPr>
              <a:t>4</a:t>
            </a:r>
            <a:endParaRPr lang="en-US" sz="4600" dirty="0"/>
          </a:p>
        </p:txBody>
      </p:sp>
      <p:sp>
        <p:nvSpPr>
          <p:cNvPr id="23" name="Road when 4"/>
          <p:cNvSpPr txBox="1"/>
          <p:nvPr/>
        </p:nvSpPr>
        <p:spPr>
          <a:xfrm>
            <a:off x="10287000" y="1874520"/>
            <a:ext cx="1280160" cy="731520"/>
          </a:xfrm>
          <a:prstGeom prst="rect">
            <a:avLst/>
          </a:prstGeom>
          <a:noFill/>
          <a:ln/>
        </p:spPr>
        <p:txBody>
          <a:bodyPr wrap="square" lIns="0" tIns="0" rIns="0" bIns="0" rtlCol="0" anchor="ctr"/>
          <a:lstStyle/>
          <a:p>
            <a:pPr indent="0" marL="0">
              <a:buNone/>
            </a:pPr>
            <a:r>
              <a:rPr lang="en-US" sz="2000" b="1" dirty="0">
                <a:solidFill>
                  <a:schemeClr val="accent5"/>
                </a:solidFill>
                <a:latin typeface="Cambria" pitchFamily="34" charset="0"/>
                <a:ea typeface="Cambria" pitchFamily="34" charset="-122"/>
                <a:cs typeface="Cambria" pitchFamily="34" charset="-120"/>
              </a:rPr>
              <a:t>Later</a:t>
            </a:r>
            <a:endParaRPr lang="en-US" sz="2000" dirty="0"/>
          </a:p>
        </p:txBody>
      </p:sp>
      <p:sp>
        <p:nvSpPr>
          <p:cNvPr id="24" name="Road card 4"/>
          <p:cNvSpPr/>
          <p:nvPr/>
        </p:nvSpPr>
        <p:spPr>
          <a:xfrm>
            <a:off x="9052560" y="3017520"/>
            <a:ext cx="2651760" cy="2377440"/>
          </a:xfrm>
          <a:prstGeom prst="roundRect">
            <a:avLst>
              <a:gd name="adj" fmla="val 5769"/>
            </a:avLst>
          </a:prstGeom>
          <a:solidFill>
            <a:schemeClr val="bg2"/>
          </a:solidFill>
          <a:ln w="12700">
            <a:solidFill>
              <a:schemeClr val="bg2"/>
            </a:solidFill>
            <a:prstDash val="solid"/>
          </a:ln>
        </p:spPr>
      </p:sp>
      <p:sp>
        <p:nvSpPr>
          <p:cNvPr id="25" name="Road title 4"/>
          <p:cNvSpPr txBox="1"/>
          <p:nvPr/>
        </p:nvSpPr>
        <p:spPr>
          <a:xfrm>
            <a:off x="9281160" y="3200400"/>
            <a:ext cx="2194560" cy="457200"/>
          </a:xfrm>
          <a:prstGeom prst="rect">
            <a:avLst/>
          </a:prstGeom>
          <a:noFill/>
          <a:ln/>
        </p:spPr>
        <p:txBody>
          <a:bodyPr wrap="square" lIns="0" tIns="0" rIns="0" bIns="0" rtlCol="0" anchor="t"/>
          <a:lstStyle/>
          <a:p>
            <a:pPr indent="0" marL="0">
              <a:buNone/>
            </a:pPr>
            <a:r>
              <a:rPr lang="en-US" sz="1900" b="1" dirty="0">
                <a:solidFill>
                  <a:schemeClr val="tx1"/>
                </a:solidFill>
              </a:rPr>
              <a:t>Share it</a:t>
            </a:r>
            <a:endParaRPr lang="en-US" sz="1900" dirty="0"/>
          </a:p>
        </p:txBody>
      </p:sp>
      <p:sp>
        <p:nvSpPr>
          <p:cNvPr id="26" name="Road text 4"/>
          <p:cNvSpPr txBox="1"/>
          <p:nvPr/>
        </p:nvSpPr>
        <p:spPr>
          <a:xfrm>
            <a:off x="9281160" y="3749040"/>
            <a:ext cx="2194560" cy="1828800"/>
          </a:xfrm>
          <a:prstGeom prst="rect">
            <a:avLst/>
          </a:prstGeom>
          <a:noFill/>
          <a:ln/>
        </p:spPr>
        <p:txBody>
          <a:bodyPr wrap="square" lIns="0" tIns="0" rIns="0" bIns="0" rtlCol="0" anchor="t"/>
          <a:lstStyle/>
          <a:p>
            <a:pPr indent="0" marL="0">
              <a:buNone/>
            </a:pPr>
            <a:r>
              <a:rPr lang="en-US" sz="1500" dirty="0">
                <a:solidFill>
                  <a:schemeClr val="tx1"/>
                </a:solidFill>
              </a:rPr>
              <a:t>Playtest with real learners, polish, and publish the build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losing tile S0"/>
          <p:cNvSpPr/>
          <p:nvPr/>
        </p:nvSpPr>
        <p:spPr>
          <a:xfrm>
            <a:off x="1097280" y="1463040"/>
            <a:ext cx="868680" cy="868680"/>
          </a:xfrm>
          <a:prstGeom prst="roundRect">
            <a:avLst>
              <a:gd name="adj" fmla="val 12632"/>
            </a:avLst>
          </a:prstGeom>
          <a:solidFill>
            <a:schemeClr val="accent2"/>
          </a:solidFill>
          <a:ln w="12700">
            <a:solidFill>
              <a:schemeClr val="accent2"/>
            </a:solidFill>
            <a:prstDash val="solid"/>
          </a:ln>
        </p:spPr>
      </p:sp>
      <p:sp>
        <p:nvSpPr>
          <p:cNvPr id="3" name="Closing tile S0 letter"/>
          <p:cNvSpPr txBox="1"/>
          <p:nvPr/>
        </p:nvSpPr>
        <p:spPr>
          <a:xfrm>
            <a:off x="1097280" y="1463040"/>
            <a:ext cx="868680" cy="868680"/>
          </a:xfrm>
          <a:prstGeom prst="rect">
            <a:avLst/>
          </a:prstGeom>
          <a:noFill/>
          <a:ln/>
        </p:spPr>
        <p:txBody>
          <a:bodyPr wrap="square" lIns="0" tIns="0" rIns="0" bIns="0" rtlCol="0" anchor="ctr"/>
          <a:lstStyle/>
          <a:p>
            <a:pPr algn="ctr" indent="0" marL="0">
              <a:buNone/>
            </a:pPr>
            <a:r>
              <a:rPr lang="en-US" sz="4400" b="1" dirty="0">
                <a:solidFill>
                  <a:schemeClr val="bg1"/>
                </a:solidFill>
              </a:rPr>
              <a:t>S</a:t>
            </a:r>
            <a:endParaRPr lang="en-US" sz="4400" dirty="0"/>
          </a:p>
        </p:txBody>
      </p:sp>
      <p:sp>
        <p:nvSpPr>
          <p:cNvPr id="4" name="Closing tile A1"/>
          <p:cNvSpPr/>
          <p:nvPr/>
        </p:nvSpPr>
        <p:spPr>
          <a:xfrm>
            <a:off x="2103120" y="1463040"/>
            <a:ext cx="868680" cy="868680"/>
          </a:xfrm>
          <a:prstGeom prst="roundRect">
            <a:avLst>
              <a:gd name="adj" fmla="val 12632"/>
            </a:avLst>
          </a:prstGeom>
          <a:solidFill>
            <a:schemeClr val="accent1"/>
          </a:solidFill>
          <a:ln w="12700">
            <a:solidFill>
              <a:schemeClr val="accent1"/>
            </a:solidFill>
            <a:prstDash val="solid"/>
          </a:ln>
        </p:spPr>
      </p:sp>
      <p:sp>
        <p:nvSpPr>
          <p:cNvPr id="5" name="Closing tile A1 letter"/>
          <p:cNvSpPr txBox="1"/>
          <p:nvPr/>
        </p:nvSpPr>
        <p:spPr>
          <a:xfrm>
            <a:off x="2103120" y="1463040"/>
            <a:ext cx="868680" cy="868680"/>
          </a:xfrm>
          <a:prstGeom prst="rect">
            <a:avLst/>
          </a:prstGeom>
          <a:noFill/>
          <a:ln/>
        </p:spPr>
        <p:txBody>
          <a:bodyPr wrap="square" lIns="0" tIns="0" rIns="0" bIns="0" rtlCol="0" anchor="ctr"/>
          <a:lstStyle/>
          <a:p>
            <a:pPr algn="ctr" indent="0" marL="0">
              <a:buNone/>
            </a:pPr>
            <a:r>
              <a:rPr lang="en-US" sz="4400" b="1" dirty="0">
                <a:solidFill>
                  <a:schemeClr val="tx2"/>
                </a:solidFill>
              </a:rPr>
              <a:t>A</a:t>
            </a:r>
            <a:endParaRPr lang="en-US" sz="4400" dirty="0"/>
          </a:p>
        </p:txBody>
      </p:sp>
      <p:sp>
        <p:nvSpPr>
          <p:cNvPr id="6" name="Closing tile L2"/>
          <p:cNvSpPr/>
          <p:nvPr/>
        </p:nvSpPr>
        <p:spPr>
          <a:xfrm>
            <a:off x="3108960" y="1463040"/>
            <a:ext cx="868680" cy="868680"/>
          </a:xfrm>
          <a:prstGeom prst="roundRect">
            <a:avLst>
              <a:gd name="adj" fmla="val 12632"/>
            </a:avLst>
          </a:prstGeom>
          <a:solidFill>
            <a:schemeClr val="accent2"/>
          </a:solidFill>
          <a:ln w="12700">
            <a:solidFill>
              <a:schemeClr val="accent2"/>
            </a:solidFill>
            <a:prstDash val="solid"/>
          </a:ln>
        </p:spPr>
      </p:sp>
      <p:sp>
        <p:nvSpPr>
          <p:cNvPr id="7" name="Closing tile L2 letter"/>
          <p:cNvSpPr txBox="1"/>
          <p:nvPr/>
        </p:nvSpPr>
        <p:spPr>
          <a:xfrm>
            <a:off x="3108960" y="1463040"/>
            <a:ext cx="868680" cy="868680"/>
          </a:xfrm>
          <a:prstGeom prst="rect">
            <a:avLst/>
          </a:prstGeom>
          <a:noFill/>
          <a:ln/>
        </p:spPr>
        <p:txBody>
          <a:bodyPr wrap="square" lIns="0" tIns="0" rIns="0" bIns="0" rtlCol="0" anchor="ctr"/>
          <a:lstStyle/>
          <a:p>
            <a:pPr algn="ctr" indent="0" marL="0">
              <a:buNone/>
            </a:pPr>
            <a:r>
              <a:rPr lang="en-US" sz="4400" b="1" dirty="0">
                <a:solidFill>
                  <a:schemeClr val="bg1"/>
                </a:solidFill>
              </a:rPr>
              <a:t>L</a:t>
            </a:r>
            <a:endParaRPr lang="en-US" sz="4400" dirty="0"/>
          </a:p>
        </p:txBody>
      </p:sp>
      <p:sp>
        <p:nvSpPr>
          <p:cNvPr id="8" name="Closing tile A3"/>
          <p:cNvSpPr/>
          <p:nvPr/>
        </p:nvSpPr>
        <p:spPr>
          <a:xfrm>
            <a:off x="4114800" y="1463040"/>
            <a:ext cx="868680" cy="868680"/>
          </a:xfrm>
          <a:prstGeom prst="roundRect">
            <a:avLst>
              <a:gd name="adj" fmla="val 12632"/>
            </a:avLst>
          </a:prstGeom>
          <a:solidFill>
            <a:schemeClr val="accent1"/>
          </a:solidFill>
          <a:ln w="12700">
            <a:solidFill>
              <a:schemeClr val="accent1"/>
            </a:solidFill>
            <a:prstDash val="solid"/>
          </a:ln>
        </p:spPr>
      </p:sp>
      <p:sp>
        <p:nvSpPr>
          <p:cNvPr id="9" name="Closing tile A3 letter"/>
          <p:cNvSpPr txBox="1"/>
          <p:nvPr/>
        </p:nvSpPr>
        <p:spPr>
          <a:xfrm>
            <a:off x="4114800" y="1463040"/>
            <a:ext cx="868680" cy="868680"/>
          </a:xfrm>
          <a:prstGeom prst="rect">
            <a:avLst/>
          </a:prstGeom>
          <a:noFill/>
          <a:ln/>
        </p:spPr>
        <p:txBody>
          <a:bodyPr wrap="square" lIns="0" tIns="0" rIns="0" bIns="0" rtlCol="0" anchor="ctr"/>
          <a:lstStyle/>
          <a:p>
            <a:pPr algn="ctr" indent="0" marL="0">
              <a:buNone/>
            </a:pPr>
            <a:r>
              <a:rPr lang="en-US" sz="4400" b="1" dirty="0">
                <a:solidFill>
                  <a:schemeClr val="tx2"/>
                </a:solidFill>
              </a:rPr>
              <a:t>A</a:t>
            </a:r>
            <a:endParaRPr lang="en-US" sz="4400" dirty="0"/>
          </a:p>
        </p:txBody>
      </p:sp>
      <p:sp>
        <p:nvSpPr>
          <p:cNvPr id="10" name="Closing tile M4"/>
          <p:cNvSpPr/>
          <p:nvPr/>
        </p:nvSpPr>
        <p:spPr>
          <a:xfrm>
            <a:off x="5120640" y="1463040"/>
            <a:ext cx="868680" cy="868680"/>
          </a:xfrm>
          <a:prstGeom prst="roundRect">
            <a:avLst>
              <a:gd name="adj" fmla="val 12632"/>
            </a:avLst>
          </a:prstGeom>
          <a:solidFill>
            <a:schemeClr val="accent2"/>
          </a:solidFill>
          <a:ln w="12700">
            <a:solidFill>
              <a:schemeClr val="accent2"/>
            </a:solidFill>
            <a:prstDash val="solid"/>
          </a:ln>
        </p:spPr>
      </p:sp>
      <p:sp>
        <p:nvSpPr>
          <p:cNvPr id="11" name="Closing tile M4 letter"/>
          <p:cNvSpPr txBox="1"/>
          <p:nvPr/>
        </p:nvSpPr>
        <p:spPr>
          <a:xfrm>
            <a:off x="5120640" y="1463040"/>
            <a:ext cx="868680" cy="868680"/>
          </a:xfrm>
          <a:prstGeom prst="rect">
            <a:avLst/>
          </a:prstGeom>
          <a:noFill/>
          <a:ln/>
        </p:spPr>
        <p:txBody>
          <a:bodyPr wrap="square" lIns="0" tIns="0" rIns="0" bIns="0" rtlCol="0" anchor="ctr"/>
          <a:lstStyle/>
          <a:p>
            <a:pPr algn="ctr" indent="0" marL="0">
              <a:buNone/>
            </a:pPr>
            <a:r>
              <a:rPr lang="en-US" sz="4400" b="1" dirty="0">
                <a:solidFill>
                  <a:schemeClr val="bg1"/>
                </a:solidFill>
              </a:rPr>
              <a:t>M</a:t>
            </a:r>
            <a:endParaRPr lang="en-US" sz="4400" dirty="0"/>
          </a:p>
        </p:txBody>
      </p:sp>
      <p:sp>
        <p:nvSpPr>
          <p:cNvPr id="12" name="Closing tile A5"/>
          <p:cNvSpPr/>
          <p:nvPr/>
        </p:nvSpPr>
        <p:spPr>
          <a:xfrm>
            <a:off x="6126480" y="1463040"/>
            <a:ext cx="868680" cy="868680"/>
          </a:xfrm>
          <a:prstGeom prst="roundRect">
            <a:avLst>
              <a:gd name="adj" fmla="val 12632"/>
            </a:avLst>
          </a:prstGeom>
          <a:solidFill>
            <a:schemeClr val="accent1"/>
          </a:solidFill>
          <a:ln w="12700">
            <a:solidFill>
              <a:schemeClr val="accent1"/>
            </a:solidFill>
            <a:prstDash val="solid"/>
          </a:ln>
        </p:spPr>
      </p:sp>
      <p:sp>
        <p:nvSpPr>
          <p:cNvPr id="13" name="Closing tile A5 letter"/>
          <p:cNvSpPr txBox="1"/>
          <p:nvPr/>
        </p:nvSpPr>
        <p:spPr>
          <a:xfrm>
            <a:off x="6126480" y="1463040"/>
            <a:ext cx="868680" cy="868680"/>
          </a:xfrm>
          <a:prstGeom prst="rect">
            <a:avLst/>
          </a:prstGeom>
          <a:noFill/>
          <a:ln/>
        </p:spPr>
        <p:txBody>
          <a:bodyPr wrap="square" lIns="0" tIns="0" rIns="0" bIns="0" rtlCol="0" anchor="ctr"/>
          <a:lstStyle/>
          <a:p>
            <a:pPr algn="ctr" indent="0" marL="0">
              <a:buNone/>
            </a:pPr>
            <a:r>
              <a:rPr lang="en-US" sz="4400" b="1" dirty="0">
                <a:solidFill>
                  <a:schemeClr val="tx2"/>
                </a:solidFill>
              </a:rPr>
              <a:t>A</a:t>
            </a:r>
            <a:endParaRPr lang="en-US" sz="4400" dirty="0"/>
          </a:p>
        </p:txBody>
      </p:sp>
      <p:sp>
        <p:nvSpPr>
          <p:cNvPr id="14" name="Closing tile T6"/>
          <p:cNvSpPr/>
          <p:nvPr/>
        </p:nvSpPr>
        <p:spPr>
          <a:xfrm>
            <a:off x="7132320" y="1463040"/>
            <a:ext cx="868680" cy="868680"/>
          </a:xfrm>
          <a:prstGeom prst="roundRect">
            <a:avLst>
              <a:gd name="adj" fmla="val 12632"/>
            </a:avLst>
          </a:prstGeom>
          <a:solidFill>
            <a:schemeClr val="accent2"/>
          </a:solidFill>
          <a:ln w="12700">
            <a:solidFill>
              <a:schemeClr val="accent2"/>
            </a:solidFill>
            <a:prstDash val="solid"/>
          </a:ln>
        </p:spPr>
      </p:sp>
      <p:sp>
        <p:nvSpPr>
          <p:cNvPr id="15" name="Closing tile T6 letter"/>
          <p:cNvSpPr txBox="1"/>
          <p:nvPr/>
        </p:nvSpPr>
        <p:spPr>
          <a:xfrm>
            <a:off x="7132320" y="1463040"/>
            <a:ext cx="868680" cy="868680"/>
          </a:xfrm>
          <a:prstGeom prst="rect">
            <a:avLst/>
          </a:prstGeom>
          <a:noFill/>
          <a:ln/>
        </p:spPr>
        <p:txBody>
          <a:bodyPr wrap="square" lIns="0" tIns="0" rIns="0" bIns="0" rtlCol="0" anchor="ctr"/>
          <a:lstStyle/>
          <a:p>
            <a:pPr algn="ctr" indent="0" marL="0">
              <a:buNone/>
            </a:pPr>
            <a:r>
              <a:rPr lang="en-US" sz="4400" b="1" dirty="0">
                <a:solidFill>
                  <a:schemeClr val="bg1"/>
                </a:solidFill>
              </a:rPr>
              <a:t>T</a:t>
            </a:r>
            <a:endParaRPr lang="en-US" sz="4400" dirty="0"/>
          </a:p>
        </p:txBody>
      </p:sp>
      <p:sp>
        <p:nvSpPr>
          <p:cNvPr id="16" name="Closing title"/>
          <p:cNvSpPr txBox="1"/>
          <p:nvPr/>
        </p:nvSpPr>
        <p:spPr>
          <a:xfrm>
            <a:off x="1097280" y="2834640"/>
            <a:ext cx="1005840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17" name="Closing sub"/>
          <p:cNvSpPr txBox="1"/>
          <p:nvPr/>
        </p:nvSpPr>
        <p:spPr>
          <a:xfrm>
            <a:off x="1097280" y="4023360"/>
            <a:ext cx="10058400" cy="548640"/>
          </a:xfrm>
          <a:prstGeom prst="rect">
            <a:avLst/>
          </a:prstGeom>
          <a:noFill/>
          <a:ln/>
        </p:spPr>
        <p:txBody>
          <a:bodyPr wrap="square" lIns="0" tIns="0" rIns="0" bIns="0" rtlCol="0" anchor="t"/>
          <a:lstStyle/>
          <a:p>
            <a:pPr indent="0" marL="0">
              <a:buNone/>
            </a:pPr>
            <a:r>
              <a:rPr lang="en-US" sz="2400" dirty="0">
                <a:solidFill>
                  <a:schemeClr val="bg2"/>
                </a:solidFill>
              </a:rPr>
              <a:t>Questions and feedback welcome</a:t>
            </a:r>
            <a:endParaRPr lang="en-US" sz="2400" dirty="0"/>
          </a:p>
        </p:txBody>
      </p:sp>
      <p:sp>
        <p:nvSpPr>
          <p:cNvPr id="18" name="Closing repo"/>
          <p:cNvSpPr txBox="1"/>
          <p:nvPr/>
        </p:nvSpPr>
        <p:spPr>
          <a:xfrm>
            <a:off x="1097280" y="5943600"/>
            <a:ext cx="10058400" cy="365760"/>
          </a:xfrm>
          <a:prstGeom prst="rect">
            <a:avLst/>
          </a:prstGeom>
          <a:noFill/>
          <a:ln/>
        </p:spPr>
        <p:txBody>
          <a:bodyPr wrap="square" lIns="0" tIns="0" rIns="0" bIns="0" rtlCol="0" anchor="t"/>
          <a:lstStyle/>
          <a:p>
            <a:pPr indent="0" marL="0">
              <a:buNone/>
            </a:pPr>
            <a:r>
              <a:rPr lang="en-US" sz="1300" dirty="0">
                <a:solidFill>
                  <a:schemeClr val="accent1"/>
                </a:solidFill>
              </a:rPr>
              <a:t>github.com/cabaldanjehoshaphat/LAKBAY-SALITA---PHILIPPINE-LANGUAGE-2D-LEARNING-GAME-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1"/>
                </a:solidFill>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Lakbay Salita">
  <a:themeElements>
    <a:clrScheme name="Lakbay Salita">
      <a:dk1>
        <a:srgbClr val="22304A"/>
      </a:dk1>
      <a:lt1>
        <a:srgbClr val="FFFFFF"/>
      </a:lt1>
      <a:dk2>
        <a:srgbClr val="14213D"/>
      </a:dk2>
      <a:lt2>
        <a:srgbClr val="EDF3FA"/>
      </a:lt2>
      <a:accent1>
        <a:srgbClr val="F5A623"/>
      </a:accent1>
      <a:accent2>
        <a:srgbClr val="5FA02A"/>
      </a:accent2>
      <a:accent3>
        <a:srgbClr val="3A8EDB"/>
      </a:accent3>
      <a:accent4>
        <a:srgbClr val="E0603F"/>
      </a:accent4>
      <a:accent5>
        <a:srgbClr val="8A44C8"/>
      </a:accent5>
      <a:accent6>
        <a:srgbClr val="8A6B47"/>
      </a:accent6>
      <a:hlink>
        <a:srgbClr val="3A8EDB"/>
      </a:hlink>
      <a:folHlink>
        <a:srgbClr val="8A44C8"/>
      </a:folHlink>
    </a:clrScheme>
    <a:fontScheme name="Lakbay Sali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Lakbay Salita - project presentation</dc:title>
  <dc:subject>PptxGenJS Presentation</dc:subject>
  <dc:creator>Lakbay Salita team</dc:creator>
  <cp:lastModifiedBy>Lakbay Salita team</cp:lastModifiedBy>
  <cp:revision>1</cp:revision>
  <dcterms:created xsi:type="dcterms:W3CDTF">2026-10-15T13:42:31Z</dcterms:created>
  <dcterms:modified xsi:type="dcterms:W3CDTF">2026-10-15T13:42:31Z</dcterms:modified>
</cp:coreProperties>
</file>